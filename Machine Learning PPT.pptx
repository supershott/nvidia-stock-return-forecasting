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2192000" cy="6858000"/>
  <p:notesSz cx="6858000" cy="9144000"/>
  <p:embeddedFontLst>
    <p:embeddedFont>
      <p:font typeface="Aptos" charset="1" panose="020B0004020202020204"/>
      <p:regular r:id="rId34"/>
    </p:embeddedFont>
    <p:embeddedFont>
      <p:font typeface="Calibri (MS)" charset="1" panose="020F0502020204030204"/>
      <p:regular r:id="rId35"/>
    </p:embeddedFont>
    <p:embeddedFont>
      <p:font typeface="Aptos Bold" charset="1" panose="020B0004020202020204"/>
      <p:regular r:id="rId36"/>
    </p:embeddedFont>
    <p:embeddedFont>
      <p:font typeface="Canva Sans" charset="1" panose="020B0503030501040103"/>
      <p:regular r:id="rId37"/>
    </p:embeddedFont>
    <p:embeddedFont>
      <p:font typeface="Arimo" charset="1" panose="020B0604020202020204"/>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7.svg" Type="http://schemas.openxmlformats.org/officeDocument/2006/relationships/image"/><Relationship Id="rId4" Target="../media/image5.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7.svg" Type="http://schemas.openxmlformats.org/officeDocument/2006/relationships/image"/><Relationship Id="rId4" Target="../media/image5.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7.svg" Type="http://schemas.openxmlformats.org/officeDocument/2006/relationships/image"/><Relationship Id="rId4" Target="../media/image5.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7.svg" Type="http://schemas.openxmlformats.org/officeDocument/2006/relationships/image"/><Relationship Id="rId4" Target="../media/image5.png" Type="http://schemas.openxmlformats.org/officeDocument/2006/relationships/image"/><Relationship Id="rId5" Target="../media/image8.svg" Type="http://schemas.openxmlformats.org/officeDocument/2006/relationships/image"/><Relationship Id="rId6"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7.svg" Type="http://schemas.openxmlformats.org/officeDocument/2006/relationships/image"/><Relationship Id="rId4" Target="../media/image5.png" Type="http://schemas.openxmlformats.org/officeDocument/2006/relationships/image"/><Relationship Id="rId5" Target="../media/image8.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media/image5.png" Type="http://schemas.openxmlformats.org/officeDocument/2006/relationships/image"/><Relationship Id="rId3" Target="../media/image8.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svg" Type="http://schemas.openxmlformats.org/officeDocument/2006/relationships/image"/><Relationship Id="rId7" Target="../media/image3.png" Type="http://schemas.openxmlformats.org/officeDocument/2006/relationships/image"/><Relationship Id="rId8" Target="../media/image7.svg" Type="http://schemas.openxmlformats.org/officeDocument/2006/relationships/image"/><Relationship Id="rId9" Target="../media/image1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7.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svg" Type="http://schemas.openxmlformats.org/officeDocument/2006/relationships/image"/><Relationship Id="rId9" Target="../media/image2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12" Target="../media/image30.png" Type="http://schemas.openxmlformats.org/officeDocument/2006/relationships/image"/><Relationship Id="rId13" Target="../media/image31.svg" Type="http://schemas.openxmlformats.org/officeDocument/2006/relationships/image"/><Relationship Id="rId14" Target="../media/image32.svg" Type="http://schemas.openxmlformats.org/officeDocument/2006/relationships/image"/><Relationship Id="rId2" Target="../media/image5.png" Type="http://schemas.openxmlformats.org/officeDocument/2006/relationships/image"/><Relationship Id="rId3" Target="../media/image8.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svg" Type="http://schemas.openxmlformats.org/officeDocument/2006/relationships/image"/><Relationship Id="rId7" Target="../media/image27.svg" Type="http://schemas.openxmlformats.org/officeDocument/2006/relationships/image"/><Relationship Id="rId8" Target="../media/image3.png" Type="http://schemas.openxmlformats.org/officeDocument/2006/relationships/image"/><Relationship Id="rId9" Target="../media/image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7.svg" Type="http://schemas.openxmlformats.org/officeDocument/2006/relationships/image"/><Relationship Id="rId12" Target="../media/image39.png" Type="http://schemas.openxmlformats.org/officeDocument/2006/relationships/image"/><Relationship Id="rId13" Target="../media/image40.svg" Type="http://schemas.openxmlformats.org/officeDocument/2006/relationships/image"/><Relationship Id="rId2" Target="../media/image5.png" Type="http://schemas.openxmlformats.org/officeDocument/2006/relationships/image"/><Relationship Id="rId3" Target="../media/image8.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37.svg" Type="http://schemas.openxmlformats.org/officeDocument/2006/relationships/image"/><Relationship Id="rId9" Target="../media/image3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11" Target="../media/image46.png" Type="http://schemas.openxmlformats.org/officeDocument/2006/relationships/image"/><Relationship Id="rId12" Target="../media/image47.svg" Type="http://schemas.openxmlformats.org/officeDocument/2006/relationships/image"/><Relationship Id="rId2" Target="../media/image5.png" Type="http://schemas.openxmlformats.org/officeDocument/2006/relationships/image"/><Relationship Id="rId3" Target="../media/image8.svg" Type="http://schemas.openxmlformats.org/officeDocument/2006/relationships/image"/><Relationship Id="rId4" Target="../media/image41.png" Type="http://schemas.openxmlformats.org/officeDocument/2006/relationships/image"/><Relationship Id="rId5" Target="../media/image42.sv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 Id="rId8" Target="../media/image45.svg" Type="http://schemas.openxmlformats.org/officeDocument/2006/relationships/image"/><Relationship Id="rId9" Target="../media/image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2.svg" Type="http://schemas.openxmlformats.org/officeDocument/2006/relationships/image"/><Relationship Id="rId11" Target="../media/image53.png" Type="http://schemas.openxmlformats.org/officeDocument/2006/relationships/image"/><Relationship Id="rId12" Target="../media/image54.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8.svg" Type="http://schemas.openxmlformats.org/officeDocument/2006/relationships/image"/><Relationship Id="rId6" Target="../media/image48.png" Type="http://schemas.openxmlformats.org/officeDocument/2006/relationships/image"/><Relationship Id="rId7" Target="../media/image49.svg" Type="http://schemas.openxmlformats.org/officeDocument/2006/relationships/image"/><Relationship Id="rId8" Target="../media/image50.png" Type="http://schemas.openxmlformats.org/officeDocument/2006/relationships/image"/><Relationship Id="rId9" Target="../media/image51.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8.svg" Type="http://schemas.openxmlformats.org/officeDocument/2006/relationships/image"/><Relationship Id="rId4" Target="../media/image55.png" Type="http://schemas.openxmlformats.org/officeDocument/2006/relationships/image"/><Relationship Id="rId5" Target="../media/image56.svg" Type="http://schemas.openxmlformats.org/officeDocument/2006/relationships/image"/><Relationship Id="rId6" Target="../media/image3.png" Type="http://schemas.openxmlformats.org/officeDocument/2006/relationships/image"/><Relationship Id="rId7" Target="../media/image7.svg" Type="http://schemas.openxmlformats.org/officeDocument/2006/relationships/image"/><Relationship Id="rId8" Target="../media/image57.png" Type="http://schemas.openxmlformats.org/officeDocument/2006/relationships/image"/><Relationship Id="rId9" Target="../media/image5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3.svg" Type="http://schemas.openxmlformats.org/officeDocument/2006/relationships/image"/><Relationship Id="rId11" Target="../media/image64.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8.svg" Type="http://schemas.openxmlformats.org/officeDocument/2006/relationships/image"/><Relationship Id="rId6" Target="../media/image59.png" Type="http://schemas.openxmlformats.org/officeDocument/2006/relationships/image"/><Relationship Id="rId7" Target="../media/image60.svg" Type="http://schemas.openxmlformats.org/officeDocument/2006/relationships/image"/><Relationship Id="rId8" Target="../media/image61.png" Type="http://schemas.openxmlformats.org/officeDocument/2006/relationships/image"/><Relationship Id="rId9" Target="../media/image6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8.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8.svg" Type="http://schemas.openxmlformats.org/officeDocument/2006/relationships/image"/><Relationship Id="rId2" Target="../media/image65.png" Type="http://schemas.openxmlformats.org/officeDocument/2006/relationships/image"/><Relationship Id="rId3" Target="../media/image66.svg" Type="http://schemas.openxmlformats.org/officeDocument/2006/relationships/image"/><Relationship Id="rId4" Target="../media/image67.png" Type="http://schemas.openxmlformats.org/officeDocument/2006/relationships/image"/><Relationship Id="rId5" Target="../media/image68.svg" Type="http://schemas.openxmlformats.org/officeDocument/2006/relationships/image"/><Relationship Id="rId6" Target="../media/image69.png" Type="http://schemas.openxmlformats.org/officeDocument/2006/relationships/image"/><Relationship Id="rId7" Target="../media/image70.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5.svg" Type="http://schemas.openxmlformats.org/officeDocument/2006/relationships/image"/><Relationship Id="rId11" Target="../media/image76.png" Type="http://schemas.openxmlformats.org/officeDocument/2006/relationships/image"/><Relationship Id="rId12" Target="../media/image77.svg" Type="http://schemas.openxmlformats.org/officeDocument/2006/relationships/image"/><Relationship Id="rId2" Target="../media/image71.png" Type="http://schemas.openxmlformats.org/officeDocument/2006/relationships/image"/><Relationship Id="rId3" Target="../media/image72.svg" Type="http://schemas.openxmlformats.org/officeDocument/2006/relationships/image"/><Relationship Id="rId4" Target="../media/image5.png" Type="http://schemas.openxmlformats.org/officeDocument/2006/relationships/image"/><Relationship Id="rId5" Target="../media/image8.svg" Type="http://schemas.openxmlformats.org/officeDocument/2006/relationships/image"/><Relationship Id="rId6" Target="../media/image73.jpeg" Type="http://schemas.openxmlformats.org/officeDocument/2006/relationships/image"/><Relationship Id="rId7" Target="../media/image3.png" Type="http://schemas.openxmlformats.org/officeDocument/2006/relationships/image"/><Relationship Id="rId8" Target="../media/image7.svg" Type="http://schemas.openxmlformats.org/officeDocument/2006/relationships/image"/><Relationship Id="rId9" Target="../media/image7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5.svg" Type="http://schemas.openxmlformats.org/officeDocument/2006/relationships/image"/><Relationship Id="rId11" Target="../media/image76.png" Type="http://schemas.openxmlformats.org/officeDocument/2006/relationships/image"/><Relationship Id="rId12" Target="../media/image77.svg" Type="http://schemas.openxmlformats.org/officeDocument/2006/relationships/image"/><Relationship Id="rId2" Target="../media/image71.png" Type="http://schemas.openxmlformats.org/officeDocument/2006/relationships/image"/><Relationship Id="rId3" Target="../media/image72.svg" Type="http://schemas.openxmlformats.org/officeDocument/2006/relationships/image"/><Relationship Id="rId4" Target="../media/image5.png" Type="http://schemas.openxmlformats.org/officeDocument/2006/relationships/image"/><Relationship Id="rId5" Target="../media/image8.svg" Type="http://schemas.openxmlformats.org/officeDocument/2006/relationships/image"/><Relationship Id="rId6" Target="../media/image78.jpeg" Type="http://schemas.openxmlformats.org/officeDocument/2006/relationships/image"/><Relationship Id="rId7" Target="../media/image3.png" Type="http://schemas.openxmlformats.org/officeDocument/2006/relationships/image"/><Relationship Id="rId8" Target="../media/image7.svg" Type="http://schemas.openxmlformats.org/officeDocument/2006/relationships/image"/><Relationship Id="rId9" Target="../media/image7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5.svg" Type="http://schemas.openxmlformats.org/officeDocument/2006/relationships/image"/><Relationship Id="rId11" Target="../media/image76.png" Type="http://schemas.openxmlformats.org/officeDocument/2006/relationships/image"/><Relationship Id="rId12" Target="../media/image77.svg" Type="http://schemas.openxmlformats.org/officeDocument/2006/relationships/image"/><Relationship Id="rId2" Target="../media/image71.png" Type="http://schemas.openxmlformats.org/officeDocument/2006/relationships/image"/><Relationship Id="rId3" Target="../media/image72.svg" Type="http://schemas.openxmlformats.org/officeDocument/2006/relationships/image"/><Relationship Id="rId4" Target="../media/image5.png" Type="http://schemas.openxmlformats.org/officeDocument/2006/relationships/image"/><Relationship Id="rId5" Target="../media/image8.svg" Type="http://schemas.openxmlformats.org/officeDocument/2006/relationships/image"/><Relationship Id="rId6" Target="../media/image79.jpeg" Type="http://schemas.openxmlformats.org/officeDocument/2006/relationships/image"/><Relationship Id="rId7" Target="../media/image3.png" Type="http://schemas.openxmlformats.org/officeDocument/2006/relationships/image"/><Relationship Id="rId8" Target="../media/image7.svg" Type="http://schemas.openxmlformats.org/officeDocument/2006/relationships/image"/><Relationship Id="rId9" Target="../media/image7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5.svg" Type="http://schemas.openxmlformats.org/officeDocument/2006/relationships/image"/><Relationship Id="rId11" Target="../media/image76.png" Type="http://schemas.openxmlformats.org/officeDocument/2006/relationships/image"/><Relationship Id="rId12" Target="../media/image77.svg" Type="http://schemas.openxmlformats.org/officeDocument/2006/relationships/image"/><Relationship Id="rId2" Target="../media/image71.png" Type="http://schemas.openxmlformats.org/officeDocument/2006/relationships/image"/><Relationship Id="rId3" Target="../media/image72.svg" Type="http://schemas.openxmlformats.org/officeDocument/2006/relationships/image"/><Relationship Id="rId4" Target="../media/image5.png" Type="http://schemas.openxmlformats.org/officeDocument/2006/relationships/image"/><Relationship Id="rId5" Target="../media/image8.svg" Type="http://schemas.openxmlformats.org/officeDocument/2006/relationships/image"/><Relationship Id="rId6" Target="../media/image80.jpeg" Type="http://schemas.openxmlformats.org/officeDocument/2006/relationships/image"/><Relationship Id="rId7" Target="../media/image3.png" Type="http://schemas.openxmlformats.org/officeDocument/2006/relationships/image"/><Relationship Id="rId8" Target="../media/image7.svg" Type="http://schemas.openxmlformats.org/officeDocument/2006/relationships/image"/><Relationship Id="rId9" Target="../media/image7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5.svg" Type="http://schemas.openxmlformats.org/officeDocument/2006/relationships/image"/><Relationship Id="rId11" Target="../media/image76.png" Type="http://schemas.openxmlformats.org/officeDocument/2006/relationships/image"/><Relationship Id="rId12" Target="../media/image77.svg" Type="http://schemas.openxmlformats.org/officeDocument/2006/relationships/image"/><Relationship Id="rId2" Target="../media/image71.png" Type="http://schemas.openxmlformats.org/officeDocument/2006/relationships/image"/><Relationship Id="rId3" Target="../media/image72.svg" Type="http://schemas.openxmlformats.org/officeDocument/2006/relationships/image"/><Relationship Id="rId4" Target="../media/image5.png" Type="http://schemas.openxmlformats.org/officeDocument/2006/relationships/image"/><Relationship Id="rId5" Target="../media/image8.svg" Type="http://schemas.openxmlformats.org/officeDocument/2006/relationships/image"/><Relationship Id="rId6" Target="../media/image81.jpeg" Type="http://schemas.openxmlformats.org/officeDocument/2006/relationships/image"/><Relationship Id="rId7" Target="../media/image3.png" Type="http://schemas.openxmlformats.org/officeDocument/2006/relationships/image"/><Relationship Id="rId8" Target="../media/image7.svg" Type="http://schemas.openxmlformats.org/officeDocument/2006/relationships/image"/><Relationship Id="rId9" Target="../media/image7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5.svg" Type="http://schemas.openxmlformats.org/officeDocument/2006/relationships/image"/><Relationship Id="rId11" Target="../media/image76.png" Type="http://schemas.openxmlformats.org/officeDocument/2006/relationships/image"/><Relationship Id="rId12" Target="../media/image77.svg" Type="http://schemas.openxmlformats.org/officeDocument/2006/relationships/image"/><Relationship Id="rId2" Target="../media/image71.png" Type="http://schemas.openxmlformats.org/officeDocument/2006/relationships/image"/><Relationship Id="rId3" Target="../media/image72.svg" Type="http://schemas.openxmlformats.org/officeDocument/2006/relationships/image"/><Relationship Id="rId4" Target="../media/image5.png" Type="http://schemas.openxmlformats.org/officeDocument/2006/relationships/image"/><Relationship Id="rId5" Target="../media/image8.svg" Type="http://schemas.openxmlformats.org/officeDocument/2006/relationships/image"/><Relationship Id="rId6" Target="../media/image82.jpeg" Type="http://schemas.openxmlformats.org/officeDocument/2006/relationships/image"/><Relationship Id="rId7" Target="../media/image3.png" Type="http://schemas.openxmlformats.org/officeDocument/2006/relationships/image"/><Relationship Id="rId8" Target="../media/image7.svg" Type="http://schemas.openxmlformats.org/officeDocument/2006/relationships/image"/><Relationship Id="rId9" Target="../media/image74.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5.svg" Type="http://schemas.openxmlformats.org/officeDocument/2006/relationships/image"/><Relationship Id="rId11" Target="../media/image76.png" Type="http://schemas.openxmlformats.org/officeDocument/2006/relationships/image"/><Relationship Id="rId12" Target="../media/image77.svg" Type="http://schemas.openxmlformats.org/officeDocument/2006/relationships/image"/><Relationship Id="rId2" Target="../media/image71.png" Type="http://schemas.openxmlformats.org/officeDocument/2006/relationships/image"/><Relationship Id="rId3" Target="../media/image72.svg" Type="http://schemas.openxmlformats.org/officeDocument/2006/relationships/image"/><Relationship Id="rId4" Target="../media/image5.png" Type="http://schemas.openxmlformats.org/officeDocument/2006/relationships/image"/><Relationship Id="rId5" Target="../media/image8.svg" Type="http://schemas.openxmlformats.org/officeDocument/2006/relationships/image"/><Relationship Id="rId6" Target="../media/image83.jpeg" Type="http://schemas.openxmlformats.org/officeDocument/2006/relationships/image"/><Relationship Id="rId7" Target="../media/image3.png" Type="http://schemas.openxmlformats.org/officeDocument/2006/relationships/image"/><Relationship Id="rId8" Target="../media/image7.svg" Type="http://schemas.openxmlformats.org/officeDocument/2006/relationships/image"/><Relationship Id="rId9" Target="../media/image74.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8.jpeg" Type="http://schemas.openxmlformats.org/officeDocument/2006/relationships/image"/><Relationship Id="rId2" Target="../media/image5.png" Type="http://schemas.openxmlformats.org/officeDocument/2006/relationships/image"/><Relationship Id="rId3" Target="../media/image8.svg" Type="http://schemas.openxmlformats.org/officeDocument/2006/relationships/image"/><Relationship Id="rId4" Target="../media/image84.png" Type="http://schemas.openxmlformats.org/officeDocument/2006/relationships/image"/><Relationship Id="rId5" Target="../media/image85.svg" Type="http://schemas.openxmlformats.org/officeDocument/2006/relationships/image"/><Relationship Id="rId6" Target="../media/image3.png" Type="http://schemas.openxmlformats.org/officeDocument/2006/relationships/image"/><Relationship Id="rId7" Target="../media/image7.svg" Type="http://schemas.openxmlformats.org/officeDocument/2006/relationships/image"/><Relationship Id="rId8" Target="../media/image86.png" Type="http://schemas.openxmlformats.org/officeDocument/2006/relationships/image"/><Relationship Id="rId9" Target="../media/image87.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3.jpeg" Type="http://schemas.openxmlformats.org/officeDocument/2006/relationships/image"/><Relationship Id="rId2" Target="../media/image5.png" Type="http://schemas.openxmlformats.org/officeDocument/2006/relationships/image"/><Relationship Id="rId3" Target="../media/image8.svg" Type="http://schemas.openxmlformats.org/officeDocument/2006/relationships/image"/><Relationship Id="rId4" Target="../media/image89.png" Type="http://schemas.openxmlformats.org/officeDocument/2006/relationships/image"/><Relationship Id="rId5" Target="../media/image90.svg" Type="http://schemas.openxmlformats.org/officeDocument/2006/relationships/image"/><Relationship Id="rId6" Target="../media/image3.png" Type="http://schemas.openxmlformats.org/officeDocument/2006/relationships/image"/><Relationship Id="rId7" Target="../media/image7.svg" Type="http://schemas.openxmlformats.org/officeDocument/2006/relationships/image"/><Relationship Id="rId8" Target="../media/image91.png" Type="http://schemas.openxmlformats.org/officeDocument/2006/relationships/image"/><Relationship Id="rId9" Target="../media/image92.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7.svg" Type="http://schemas.openxmlformats.org/officeDocument/2006/relationships/image"/><Relationship Id="rId12" Target="../media/image100.png" Type="http://schemas.openxmlformats.org/officeDocument/2006/relationships/image"/><Relationship Id="rId13" Target="../media/image101.svg" Type="http://schemas.openxmlformats.org/officeDocument/2006/relationships/image"/><Relationship Id="rId2" Target="../media/image5.png" Type="http://schemas.openxmlformats.org/officeDocument/2006/relationships/image"/><Relationship Id="rId3" Target="../media/image8.svg" Type="http://schemas.openxmlformats.org/officeDocument/2006/relationships/image"/><Relationship Id="rId4" Target="../media/image94.png" Type="http://schemas.openxmlformats.org/officeDocument/2006/relationships/image"/><Relationship Id="rId5" Target="../media/image95.svg" Type="http://schemas.openxmlformats.org/officeDocument/2006/relationships/image"/><Relationship Id="rId6" Target="../media/image96.png" Type="http://schemas.openxmlformats.org/officeDocument/2006/relationships/image"/><Relationship Id="rId7" Target="../media/image97.svg" Type="http://schemas.openxmlformats.org/officeDocument/2006/relationships/image"/><Relationship Id="rId8" Target="../media/image98.png" Type="http://schemas.openxmlformats.org/officeDocument/2006/relationships/image"/><Relationship Id="rId9" Target="../media/image9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0" y="-1"/>
            <a:ext cx="171450" cy="6858000"/>
          </a:xfrm>
          <a:custGeom>
            <a:avLst/>
            <a:gdLst/>
            <a:ahLst/>
            <a:cxnLst/>
            <a:rect r="r" b="b" t="t" l="l"/>
            <a:pathLst>
              <a:path h="6858000" w="171450">
                <a:moveTo>
                  <a:pt x="0" y="0"/>
                </a:moveTo>
                <a:lnTo>
                  <a:pt x="171450" y="0"/>
                </a:lnTo>
                <a:lnTo>
                  <a:pt x="17145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33400" y="6096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838200" y="539896"/>
            <a:ext cx="1440771" cy="156801"/>
          </a:xfrm>
          <a:prstGeom prst="rect">
            <a:avLst/>
          </a:prstGeom>
        </p:spPr>
        <p:txBody>
          <a:bodyPr anchor="t" rtlCol="false" tIns="0" lIns="0" bIns="0" rIns="0">
            <a:spAutoFit/>
          </a:bodyPr>
          <a:lstStyle/>
          <a:p>
            <a:pPr algn="l">
              <a:lnSpc>
                <a:spcPts val="1260"/>
              </a:lnSpc>
            </a:pPr>
            <a:r>
              <a:rPr lang="en-US" sz="900">
                <a:solidFill>
                  <a:srgbClr val="0E7490"/>
                </a:solidFill>
                <a:latin typeface="Aptos"/>
                <a:ea typeface="Aptos"/>
                <a:cs typeface="Aptos"/>
                <a:sym typeface="Aptos"/>
              </a:rPr>
              <a:t>MACHINE LEARNING FINAL</a:t>
            </a:r>
          </a:p>
        </p:txBody>
      </p:sp>
      <p:sp>
        <p:nvSpPr>
          <p:cNvPr name="TextBox 6" id="6"/>
          <p:cNvSpPr txBox="true"/>
          <p:nvPr/>
        </p:nvSpPr>
        <p:spPr>
          <a:xfrm rot="0">
            <a:off x="533400" y="1121397"/>
            <a:ext cx="9299019" cy="1008012"/>
          </a:xfrm>
          <a:prstGeom prst="rect">
            <a:avLst/>
          </a:prstGeom>
        </p:spPr>
        <p:txBody>
          <a:bodyPr anchor="t" rtlCol="false" tIns="0" lIns="0" bIns="0" rIns="0">
            <a:spAutoFit/>
          </a:bodyPr>
          <a:lstStyle/>
          <a:p>
            <a:pPr algn="l">
              <a:lnSpc>
                <a:spcPts val="3960"/>
              </a:lnSpc>
            </a:pPr>
            <a:r>
              <a:rPr lang="en-US" sz="3300">
                <a:solidFill>
                  <a:srgbClr val="0F172A"/>
                </a:solidFill>
                <a:latin typeface="Aptos"/>
                <a:ea typeface="Aptos"/>
                <a:cs typeface="Aptos"/>
                <a:sym typeface="Aptos"/>
              </a:rPr>
              <a:t>Predicting NVIDIA Stock Return Percentage Using a Machine Learning Approach</a:t>
            </a:r>
          </a:p>
        </p:txBody>
      </p:sp>
      <p:sp>
        <p:nvSpPr>
          <p:cNvPr name="TextBox 7" id="7"/>
          <p:cNvSpPr txBox="true"/>
          <p:nvPr/>
        </p:nvSpPr>
        <p:spPr>
          <a:xfrm rot="0">
            <a:off x="533400" y="3678431"/>
            <a:ext cx="2528193" cy="344744"/>
          </a:xfrm>
          <a:prstGeom prst="rect">
            <a:avLst/>
          </a:prstGeom>
        </p:spPr>
        <p:txBody>
          <a:bodyPr anchor="t" rtlCol="false" tIns="0" lIns="0" bIns="0" rIns="0">
            <a:spAutoFit/>
          </a:bodyPr>
          <a:lstStyle/>
          <a:p>
            <a:pPr algn="l">
              <a:lnSpc>
                <a:spcPts val="2523"/>
              </a:lnSpc>
            </a:pPr>
            <a:r>
              <a:rPr lang="en-US" sz="1802">
                <a:solidFill>
                  <a:srgbClr val="000000"/>
                </a:solidFill>
                <a:latin typeface="Calibri (MS)"/>
                <a:ea typeface="Calibri (MS)"/>
                <a:cs typeface="Calibri (MS)"/>
                <a:sym typeface="Calibri (MS)"/>
              </a:rPr>
              <a:t>Justin Yuslih -00000120765</a:t>
            </a:r>
          </a:p>
        </p:txBody>
      </p:sp>
      <p:sp>
        <p:nvSpPr>
          <p:cNvPr name="TextBox 8" id="8"/>
          <p:cNvSpPr txBox="true"/>
          <p:nvPr/>
        </p:nvSpPr>
        <p:spPr>
          <a:xfrm rot="0">
            <a:off x="1299210" y="3953380"/>
            <a:ext cx="52692" cy="339090"/>
          </a:xfrm>
          <a:prstGeom prst="rect">
            <a:avLst/>
          </a:prstGeom>
        </p:spPr>
        <p:txBody>
          <a:bodyPr anchor="t" rtlCol="false" tIns="0" lIns="0" bIns="0" rIns="0">
            <a:spAutoFit/>
          </a:bodyPr>
          <a:lstStyle/>
          <a:p>
            <a:pPr algn="l">
              <a:lnSpc>
                <a:spcPts val="2520"/>
              </a:lnSpc>
            </a:pPr>
            <a:r>
              <a:rPr lang="en-US" sz="1800">
                <a:solidFill>
                  <a:srgbClr val="000000"/>
                </a:solidFill>
                <a:latin typeface="Calibri (MS)"/>
                <a:ea typeface="Calibri (MS)"/>
                <a:cs typeface="Calibri (MS)"/>
                <a:sym typeface="Calibri (MS)"/>
              </a:rPr>
              <a:t> </a:t>
            </a:r>
          </a:p>
        </p:txBody>
      </p:sp>
      <p:sp>
        <p:nvSpPr>
          <p:cNvPr name="TextBox 9" id="9"/>
          <p:cNvSpPr txBox="true"/>
          <p:nvPr/>
        </p:nvSpPr>
        <p:spPr>
          <a:xfrm rot="0">
            <a:off x="533400" y="3953380"/>
            <a:ext cx="3412431" cy="344805"/>
          </a:xfrm>
          <a:prstGeom prst="rect">
            <a:avLst/>
          </a:prstGeom>
        </p:spPr>
        <p:txBody>
          <a:bodyPr anchor="t" rtlCol="false" tIns="0" lIns="0" bIns="0" rIns="0">
            <a:spAutoFit/>
          </a:bodyPr>
          <a:lstStyle/>
          <a:p>
            <a:pPr algn="l">
              <a:lnSpc>
                <a:spcPts val="2520"/>
              </a:lnSpc>
            </a:pPr>
            <a:r>
              <a:rPr lang="en-US" sz="1800">
                <a:solidFill>
                  <a:srgbClr val="000000"/>
                </a:solidFill>
                <a:latin typeface="Calibri (MS)"/>
                <a:ea typeface="Calibri (MS)"/>
                <a:cs typeface="Calibri (MS)"/>
                <a:sym typeface="Calibri (MS)"/>
              </a:rPr>
              <a:t>YustinusEvan Kusuma -00000119455</a:t>
            </a:r>
          </a:p>
        </p:txBody>
      </p:sp>
      <p:sp>
        <p:nvSpPr>
          <p:cNvPr name="TextBox 10" id="10"/>
          <p:cNvSpPr txBox="true"/>
          <p:nvPr/>
        </p:nvSpPr>
        <p:spPr>
          <a:xfrm rot="0">
            <a:off x="533400" y="4265800"/>
            <a:ext cx="4415447" cy="838200"/>
          </a:xfrm>
          <a:prstGeom prst="rect">
            <a:avLst/>
          </a:prstGeom>
        </p:spPr>
        <p:txBody>
          <a:bodyPr anchor="t" rtlCol="false" tIns="0" lIns="0" bIns="0" rIns="0">
            <a:spAutoFit/>
          </a:bodyPr>
          <a:lstStyle/>
          <a:p>
            <a:pPr algn="l">
              <a:lnSpc>
                <a:spcPts val="2160"/>
              </a:lnSpc>
            </a:pPr>
            <a:r>
              <a:rPr lang="en-US" sz="1800">
                <a:solidFill>
                  <a:srgbClr val="000000"/>
                </a:solidFill>
                <a:latin typeface="Calibri (MS)"/>
                <a:ea typeface="Calibri (MS)"/>
                <a:cs typeface="Calibri (MS)"/>
                <a:sym typeface="Calibri (MS)"/>
              </a:rPr>
              <a:t>Ivan Michael Lawrence Sanjaya -00000119085 Bryant Marchianno Jefferson -00000116382 Aufa Dana Murtadha -00000114587</a:t>
            </a:r>
          </a:p>
        </p:txBody>
      </p:sp>
      <p:sp>
        <p:nvSpPr>
          <p:cNvPr name="TextBox 11" id="11"/>
          <p:cNvSpPr txBox="true"/>
          <p:nvPr/>
        </p:nvSpPr>
        <p:spPr>
          <a:xfrm rot="0">
            <a:off x="533400" y="6334506"/>
            <a:ext cx="1949148"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MachineLearningFinalBanget (1).ipynb</a:t>
            </a:r>
          </a:p>
        </p:txBody>
      </p:sp>
      <p:sp>
        <p:nvSpPr>
          <p:cNvPr name="TextBox 12" id="12"/>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01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17534" y="1817684"/>
            <a:ext cx="10404472" cy="3479797"/>
          </a:xfrm>
          <a:custGeom>
            <a:avLst/>
            <a:gdLst/>
            <a:ahLst/>
            <a:cxnLst/>
            <a:rect r="r" b="b" t="t" l="l"/>
            <a:pathLst>
              <a:path h="3479797" w="10404472">
                <a:moveTo>
                  <a:pt x="0" y="0"/>
                </a:moveTo>
                <a:lnTo>
                  <a:pt x="10404472" y="0"/>
                </a:lnTo>
                <a:lnTo>
                  <a:pt x="10404472" y="3479797"/>
                </a:lnTo>
                <a:lnTo>
                  <a:pt x="0" y="34797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838200" y="425596"/>
            <a:ext cx="752673" cy="148590"/>
          </a:xfrm>
          <a:prstGeom prst="rect">
            <a:avLst/>
          </a:prstGeom>
        </p:spPr>
        <p:txBody>
          <a:bodyPr anchor="t" rtlCol="false" tIns="0" lIns="0" bIns="0" rIns="0">
            <a:spAutoFit/>
          </a:bodyPr>
          <a:lstStyle/>
          <a:p>
            <a:pPr algn="l">
              <a:lnSpc>
                <a:spcPts val="1260"/>
              </a:lnSpc>
            </a:pPr>
            <a:r>
              <a:rPr lang="en-US" sz="900" spc="0">
                <a:solidFill>
                  <a:srgbClr val="0E7490"/>
                </a:solidFill>
                <a:latin typeface="Aptos"/>
                <a:ea typeface="Aptos"/>
                <a:cs typeface="Aptos"/>
                <a:sym typeface="Aptos"/>
              </a:rPr>
              <a:t>BACKGROUND</a:t>
            </a:r>
          </a:p>
        </p:txBody>
      </p:sp>
      <p:sp>
        <p:nvSpPr>
          <p:cNvPr name="TextBox 6" id="6"/>
          <p:cNvSpPr txBox="true"/>
          <p:nvPr/>
        </p:nvSpPr>
        <p:spPr>
          <a:xfrm rot="0">
            <a:off x="4237777" y="600075"/>
            <a:ext cx="3163987" cy="811469"/>
          </a:xfrm>
          <a:prstGeom prst="rect">
            <a:avLst/>
          </a:prstGeom>
        </p:spPr>
        <p:txBody>
          <a:bodyPr anchor="t" rtlCol="false" tIns="0" lIns="0" bIns="0" rIns="0">
            <a:spAutoFit/>
          </a:bodyPr>
          <a:lstStyle/>
          <a:p>
            <a:pPr algn="l">
              <a:lnSpc>
                <a:spcPts val="6723"/>
              </a:lnSpc>
            </a:pPr>
            <a:r>
              <a:rPr lang="en-US" sz="4802">
                <a:solidFill>
                  <a:srgbClr val="0F172A"/>
                </a:solidFill>
                <a:latin typeface="Aptos"/>
                <a:ea typeface="Aptos"/>
                <a:cs typeface="Aptos"/>
                <a:sym typeface="Aptos"/>
              </a:rPr>
              <a:t>Background</a:t>
            </a:r>
          </a:p>
        </p:txBody>
      </p:sp>
      <p:sp>
        <p:nvSpPr>
          <p:cNvPr name="TextBox 7" id="7"/>
          <p:cNvSpPr txBox="true"/>
          <p:nvPr/>
        </p:nvSpPr>
        <p:spPr>
          <a:xfrm rot="0">
            <a:off x="838200" y="2360381"/>
            <a:ext cx="10289838" cy="1999413"/>
          </a:xfrm>
          <a:prstGeom prst="rect">
            <a:avLst/>
          </a:prstGeom>
        </p:spPr>
        <p:txBody>
          <a:bodyPr anchor="t" rtlCol="false" tIns="0" lIns="0" bIns="0" rIns="0">
            <a:spAutoFit/>
          </a:bodyPr>
          <a:lstStyle/>
          <a:p>
            <a:pPr algn="l">
              <a:lnSpc>
                <a:spcPts val="2641"/>
              </a:lnSpc>
            </a:pPr>
            <a:r>
              <a:rPr lang="en-US" sz="2195" spc="2">
                <a:solidFill>
                  <a:srgbClr val="475569"/>
                </a:solidFill>
                <a:latin typeface="Aptos"/>
                <a:ea typeface="Aptos"/>
                <a:cs typeface="Aptos"/>
                <a:sym typeface="Aptos"/>
              </a:rPr>
              <a:t>Stock prices in the market frequently fluctuate over time. One stock that attracts significant investor attention is NVIDIA. To understand these price changes, analysis requires more than just looking at the stock price itself, but also examining the return percentage, which is the percentage change in price over a period. Therefore, this study created a machine learning model to predict NVIDIA's stock return percentage based on historical price data.</a:t>
            </a:r>
          </a:p>
        </p:txBody>
      </p:sp>
      <p:sp>
        <p:nvSpPr>
          <p:cNvPr name="TextBox 8" id="8"/>
          <p:cNvSpPr txBox="true"/>
          <p:nvPr/>
        </p:nvSpPr>
        <p:spPr>
          <a:xfrm rot="0">
            <a:off x="533400" y="6334506"/>
            <a:ext cx="1949148"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MachineLearningFinalBanget (1).ipynb</a:t>
            </a:r>
          </a:p>
        </p:txBody>
      </p:sp>
      <p:sp>
        <p:nvSpPr>
          <p:cNvPr name="TextBox 9" id="9"/>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02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403396" y="1496320"/>
            <a:ext cx="5573867" cy="4459094"/>
          </a:xfrm>
          <a:custGeom>
            <a:avLst/>
            <a:gdLst/>
            <a:ahLst/>
            <a:cxnLst/>
            <a:rect r="r" b="b" t="t" l="l"/>
            <a:pathLst>
              <a:path h="4459094" w="5573867">
                <a:moveTo>
                  <a:pt x="0" y="0"/>
                </a:moveTo>
                <a:lnTo>
                  <a:pt x="5573867" y="0"/>
                </a:lnTo>
                <a:lnTo>
                  <a:pt x="5573867" y="4459094"/>
                </a:lnTo>
                <a:lnTo>
                  <a:pt x="0" y="4459094"/>
                </a:lnTo>
                <a:lnTo>
                  <a:pt x="0" y="0"/>
                </a:lnTo>
                <a:close/>
              </a:path>
            </a:pathLst>
          </a:custGeom>
          <a:blipFill>
            <a:blip r:embed="rId6">
              <a:extLst>
                <a:ext uri="{96DAC541-7B7A-43D3-8B79-37D633B846F1}">
                  <asvg:svgBlip xmlns:asvg="http://schemas.microsoft.com/office/drawing/2016/SVG/main" r:embed="rId7"/>
                </a:ext>
              </a:extLst>
            </a:blip>
            <a:stretch>
              <a:fillRect l="-128564" t="-36939" r="-104515" b="-2309"/>
            </a:stretch>
          </a:blipFill>
        </p:spPr>
      </p:sp>
      <p:sp>
        <p:nvSpPr>
          <p:cNvPr name="Freeform 5" id="5"/>
          <p:cNvSpPr/>
          <p:nvPr/>
        </p:nvSpPr>
        <p:spPr>
          <a:xfrm flipH="false" flipV="false" rot="0">
            <a:off x="-138799" y="1411544"/>
            <a:ext cx="5542195" cy="4628645"/>
          </a:xfrm>
          <a:custGeom>
            <a:avLst/>
            <a:gdLst/>
            <a:ahLst/>
            <a:cxnLst/>
            <a:rect r="r" b="b" t="t" l="l"/>
            <a:pathLst>
              <a:path h="4628645" w="5542195">
                <a:moveTo>
                  <a:pt x="0" y="0"/>
                </a:moveTo>
                <a:lnTo>
                  <a:pt x="5542195" y="0"/>
                </a:lnTo>
                <a:lnTo>
                  <a:pt x="5542195" y="4628645"/>
                </a:lnTo>
                <a:lnTo>
                  <a:pt x="0" y="4628645"/>
                </a:lnTo>
                <a:lnTo>
                  <a:pt x="0" y="0"/>
                </a:lnTo>
                <a:close/>
              </a:path>
            </a:pathLst>
          </a:custGeom>
          <a:blipFill>
            <a:blip r:embed="rId8"/>
            <a:stretch>
              <a:fillRect l="0" t="0" r="-98522" b="0"/>
            </a:stretch>
          </a:blipFill>
        </p:spPr>
      </p:sp>
      <p:sp>
        <p:nvSpPr>
          <p:cNvPr name="TextBox 6" id="6"/>
          <p:cNvSpPr txBox="true"/>
          <p:nvPr/>
        </p:nvSpPr>
        <p:spPr>
          <a:xfrm rot="0">
            <a:off x="838200" y="425596"/>
            <a:ext cx="752673" cy="148590"/>
          </a:xfrm>
          <a:prstGeom prst="rect">
            <a:avLst/>
          </a:prstGeom>
        </p:spPr>
        <p:txBody>
          <a:bodyPr anchor="t" rtlCol="false" tIns="0" lIns="0" bIns="0" rIns="0">
            <a:spAutoFit/>
          </a:bodyPr>
          <a:lstStyle/>
          <a:p>
            <a:pPr algn="l">
              <a:lnSpc>
                <a:spcPts val="1260"/>
              </a:lnSpc>
            </a:pPr>
            <a:r>
              <a:rPr lang="en-US" sz="900" spc="0">
                <a:solidFill>
                  <a:srgbClr val="0E7490"/>
                </a:solidFill>
                <a:latin typeface="Aptos"/>
                <a:ea typeface="Aptos"/>
                <a:cs typeface="Aptos"/>
                <a:sym typeface="Aptos"/>
              </a:rPr>
              <a:t>BACKGROUND</a:t>
            </a:r>
          </a:p>
        </p:txBody>
      </p:sp>
      <p:sp>
        <p:nvSpPr>
          <p:cNvPr name="TextBox 7" id="7"/>
          <p:cNvSpPr txBox="true"/>
          <p:nvPr/>
        </p:nvSpPr>
        <p:spPr>
          <a:xfrm rot="0">
            <a:off x="2254014" y="504825"/>
            <a:ext cx="7769126" cy="811469"/>
          </a:xfrm>
          <a:prstGeom prst="rect">
            <a:avLst/>
          </a:prstGeom>
        </p:spPr>
        <p:txBody>
          <a:bodyPr anchor="t" rtlCol="false" tIns="0" lIns="0" bIns="0" rIns="0">
            <a:spAutoFit/>
          </a:bodyPr>
          <a:lstStyle/>
          <a:p>
            <a:pPr algn="l">
              <a:lnSpc>
                <a:spcPts val="6723"/>
              </a:lnSpc>
            </a:pPr>
            <a:r>
              <a:rPr lang="en-US" sz="4802">
                <a:solidFill>
                  <a:srgbClr val="0F172A"/>
                </a:solidFill>
                <a:latin typeface="Aptos"/>
                <a:ea typeface="Aptos"/>
                <a:cs typeface="Aptos"/>
                <a:sym typeface="Aptos"/>
              </a:rPr>
              <a:t>Dataset Feature Composition</a:t>
            </a:r>
          </a:p>
        </p:txBody>
      </p:sp>
      <p:sp>
        <p:nvSpPr>
          <p:cNvPr name="TextBox 8" id="8"/>
          <p:cNvSpPr txBox="true"/>
          <p:nvPr/>
        </p:nvSpPr>
        <p:spPr>
          <a:xfrm rot="0">
            <a:off x="533400" y="6334506"/>
            <a:ext cx="1949148"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MachineLearningFinalBanget (1).ipynb</a:t>
            </a:r>
          </a:p>
        </p:txBody>
      </p:sp>
      <p:sp>
        <p:nvSpPr>
          <p:cNvPr name="TextBox 9" id="9"/>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02</a:t>
            </a:r>
          </a:p>
        </p:txBody>
      </p:sp>
      <p:sp>
        <p:nvSpPr>
          <p:cNvPr name="TextBox 10" id="10"/>
          <p:cNvSpPr txBox="true"/>
          <p:nvPr/>
        </p:nvSpPr>
        <p:spPr>
          <a:xfrm rot="0">
            <a:off x="5860600" y="1728048"/>
            <a:ext cx="4770541" cy="661510"/>
          </a:xfrm>
          <a:prstGeom prst="rect">
            <a:avLst/>
          </a:prstGeom>
        </p:spPr>
        <p:txBody>
          <a:bodyPr anchor="t" rtlCol="false" tIns="0" lIns="0" bIns="0" rIns="0">
            <a:spAutoFit/>
          </a:bodyPr>
          <a:lstStyle/>
          <a:p>
            <a:pPr algn="l" marL="0" indent="0" lvl="0">
              <a:lnSpc>
                <a:spcPts val="5538"/>
              </a:lnSpc>
              <a:spcBef>
                <a:spcPct val="0"/>
              </a:spcBef>
            </a:pPr>
            <a:r>
              <a:rPr lang="en-US" sz="3956">
                <a:solidFill>
                  <a:srgbClr val="76B900"/>
                </a:solidFill>
                <a:latin typeface="Aptos"/>
                <a:ea typeface="Aptos"/>
                <a:cs typeface="Aptos"/>
                <a:sym typeface="Aptos"/>
              </a:rPr>
              <a:t>Variable </a:t>
            </a:r>
            <a:r>
              <a:rPr lang="en-US" sz="3956" strike="noStrike" u="none">
                <a:solidFill>
                  <a:srgbClr val="76B900"/>
                </a:solidFill>
                <a:latin typeface="Aptos"/>
                <a:ea typeface="Aptos"/>
                <a:cs typeface="Aptos"/>
                <a:sym typeface="Aptos"/>
              </a:rPr>
              <a:t>Distribu</a:t>
            </a:r>
            <a:r>
              <a:rPr lang="en-US" sz="3956" strike="noStrike" u="none">
                <a:solidFill>
                  <a:srgbClr val="76B900"/>
                </a:solidFill>
                <a:latin typeface="Aptos"/>
                <a:ea typeface="Aptos"/>
                <a:cs typeface="Aptos"/>
                <a:sym typeface="Aptos"/>
              </a:rPr>
              <a:t>t</a:t>
            </a:r>
            <a:r>
              <a:rPr lang="en-US" sz="3956" strike="noStrike" u="none">
                <a:solidFill>
                  <a:srgbClr val="76B900"/>
                </a:solidFill>
                <a:latin typeface="Aptos"/>
                <a:ea typeface="Aptos"/>
                <a:cs typeface="Aptos"/>
                <a:sym typeface="Aptos"/>
              </a:rPr>
              <a:t>ion</a:t>
            </a:r>
          </a:p>
        </p:txBody>
      </p:sp>
      <p:sp>
        <p:nvSpPr>
          <p:cNvPr name="TextBox 11" id="11"/>
          <p:cNvSpPr txBox="true"/>
          <p:nvPr/>
        </p:nvSpPr>
        <p:spPr>
          <a:xfrm rot="0">
            <a:off x="6397783" y="2595540"/>
            <a:ext cx="4233358" cy="285027"/>
          </a:xfrm>
          <a:prstGeom prst="rect">
            <a:avLst/>
          </a:prstGeom>
        </p:spPr>
        <p:txBody>
          <a:bodyPr anchor="t" rtlCol="false" tIns="0" lIns="0" bIns="0" rIns="0">
            <a:spAutoFit/>
          </a:bodyPr>
          <a:lstStyle/>
          <a:p>
            <a:pPr algn="l" marL="0" indent="0" lvl="0">
              <a:lnSpc>
                <a:spcPts val="2283"/>
              </a:lnSpc>
              <a:spcBef>
                <a:spcPct val="0"/>
              </a:spcBef>
            </a:pPr>
            <a:r>
              <a:rPr lang="en-US" sz="1898" strike="noStrike" u="none">
                <a:solidFill>
                  <a:srgbClr val="0F172A"/>
                </a:solidFill>
                <a:latin typeface="Aptos"/>
                <a:ea typeface="Aptos"/>
                <a:cs typeface="Aptos"/>
                <a:sym typeface="Aptos"/>
              </a:rPr>
              <a:t>69% </a:t>
            </a:r>
            <a:r>
              <a:rPr lang="en-US" sz="1898" strike="noStrike" u="none">
                <a:solidFill>
                  <a:srgbClr val="0F172A"/>
                </a:solidFill>
                <a:latin typeface="Aptos"/>
                <a:ea typeface="Aptos"/>
                <a:cs typeface="Aptos"/>
                <a:sym typeface="Aptos"/>
              </a:rPr>
              <a:t>Eng</a:t>
            </a:r>
            <a:r>
              <a:rPr lang="en-US" sz="1898" strike="noStrike" u="none">
                <a:solidFill>
                  <a:srgbClr val="0F172A"/>
                </a:solidFill>
                <a:latin typeface="Aptos"/>
                <a:ea typeface="Aptos"/>
                <a:cs typeface="Aptos"/>
                <a:sym typeface="Aptos"/>
              </a:rPr>
              <a:t>i</a:t>
            </a:r>
            <a:r>
              <a:rPr lang="en-US" sz="1898" strike="noStrike" u="none">
                <a:solidFill>
                  <a:srgbClr val="0F172A"/>
                </a:solidFill>
                <a:latin typeface="Aptos"/>
                <a:ea typeface="Aptos"/>
                <a:cs typeface="Aptos"/>
                <a:sym typeface="Aptos"/>
              </a:rPr>
              <a:t>nee</a:t>
            </a:r>
            <a:r>
              <a:rPr lang="en-US" sz="1898" strike="noStrike" u="none">
                <a:solidFill>
                  <a:srgbClr val="0F172A"/>
                </a:solidFill>
                <a:latin typeface="Aptos"/>
                <a:ea typeface="Aptos"/>
                <a:cs typeface="Aptos"/>
                <a:sym typeface="Aptos"/>
              </a:rPr>
              <a:t>r</a:t>
            </a:r>
            <a:r>
              <a:rPr lang="en-US" sz="1898" strike="noStrike" u="none">
                <a:solidFill>
                  <a:srgbClr val="0F172A"/>
                </a:solidFill>
                <a:latin typeface="Aptos"/>
                <a:ea typeface="Aptos"/>
                <a:cs typeface="Aptos"/>
                <a:sym typeface="Aptos"/>
              </a:rPr>
              <a:t>ing</a:t>
            </a:r>
            <a:r>
              <a:rPr lang="en-US" sz="1898" strike="noStrike" u="none">
                <a:solidFill>
                  <a:srgbClr val="0F172A"/>
                </a:solidFill>
                <a:latin typeface="Aptos"/>
                <a:ea typeface="Aptos"/>
                <a:cs typeface="Aptos"/>
                <a:sym typeface="Aptos"/>
              </a:rPr>
              <a:t> </a:t>
            </a:r>
            <a:r>
              <a:rPr lang="en-US" sz="1898" strike="noStrike" u="none">
                <a:solidFill>
                  <a:srgbClr val="0F172A"/>
                </a:solidFill>
                <a:latin typeface="Aptos"/>
                <a:ea typeface="Aptos"/>
                <a:cs typeface="Aptos"/>
                <a:sym typeface="Aptos"/>
              </a:rPr>
              <a:t>F</a:t>
            </a:r>
            <a:r>
              <a:rPr lang="en-US" sz="1898" strike="noStrike" u="none">
                <a:solidFill>
                  <a:srgbClr val="0F172A"/>
                </a:solidFill>
                <a:latin typeface="Aptos"/>
                <a:ea typeface="Aptos"/>
                <a:cs typeface="Aptos"/>
                <a:sym typeface="Aptos"/>
              </a:rPr>
              <a:t>ea</a:t>
            </a:r>
            <a:r>
              <a:rPr lang="en-US" sz="1898" strike="noStrike" u="none">
                <a:solidFill>
                  <a:srgbClr val="0F172A"/>
                </a:solidFill>
                <a:latin typeface="Aptos"/>
                <a:ea typeface="Aptos"/>
                <a:cs typeface="Aptos"/>
                <a:sym typeface="Aptos"/>
              </a:rPr>
              <a:t>ture</a:t>
            </a:r>
            <a:r>
              <a:rPr lang="en-US" sz="1898" strike="noStrike" u="none">
                <a:solidFill>
                  <a:srgbClr val="0F172A"/>
                </a:solidFill>
                <a:latin typeface="Aptos"/>
                <a:ea typeface="Aptos"/>
                <a:cs typeface="Aptos"/>
                <a:sym typeface="Aptos"/>
              </a:rPr>
              <a:t>s (49 F</a:t>
            </a:r>
            <a:r>
              <a:rPr lang="en-US" sz="1898" strike="noStrike" u="none">
                <a:solidFill>
                  <a:srgbClr val="0F172A"/>
                </a:solidFill>
                <a:latin typeface="Aptos"/>
                <a:ea typeface="Aptos"/>
                <a:cs typeface="Aptos"/>
                <a:sym typeface="Aptos"/>
              </a:rPr>
              <a:t>ea</a:t>
            </a:r>
            <a:r>
              <a:rPr lang="en-US" sz="1898" strike="noStrike" u="none">
                <a:solidFill>
                  <a:srgbClr val="0F172A"/>
                </a:solidFill>
                <a:latin typeface="Aptos"/>
                <a:ea typeface="Aptos"/>
                <a:cs typeface="Aptos"/>
                <a:sym typeface="Aptos"/>
              </a:rPr>
              <a:t>tur</a:t>
            </a:r>
            <a:r>
              <a:rPr lang="en-US" sz="1898" strike="noStrike" u="none">
                <a:solidFill>
                  <a:srgbClr val="0F172A"/>
                </a:solidFill>
                <a:latin typeface="Aptos"/>
                <a:ea typeface="Aptos"/>
                <a:cs typeface="Aptos"/>
                <a:sym typeface="Aptos"/>
              </a:rPr>
              <a:t>es</a:t>
            </a:r>
            <a:r>
              <a:rPr lang="en-US" sz="1898" strike="noStrike" u="none">
                <a:solidFill>
                  <a:srgbClr val="0F172A"/>
                </a:solidFill>
                <a:latin typeface="Aptos"/>
                <a:ea typeface="Aptos"/>
                <a:cs typeface="Aptos"/>
                <a:sym typeface="Aptos"/>
              </a:rPr>
              <a:t>)</a:t>
            </a:r>
          </a:p>
        </p:txBody>
      </p:sp>
      <p:grpSp>
        <p:nvGrpSpPr>
          <p:cNvPr name="Group 12" id="12"/>
          <p:cNvGrpSpPr/>
          <p:nvPr/>
        </p:nvGrpSpPr>
        <p:grpSpPr>
          <a:xfrm rot="0">
            <a:off x="5950668" y="2583506"/>
            <a:ext cx="290664" cy="297370"/>
            <a:chOff x="0" y="0"/>
            <a:chExt cx="114808" cy="117475"/>
          </a:xfrm>
        </p:grpSpPr>
        <p:sp>
          <p:nvSpPr>
            <p:cNvPr name="Freeform 13" id="13"/>
            <p:cNvSpPr/>
            <p:nvPr/>
          </p:nvSpPr>
          <p:spPr>
            <a:xfrm flipH="false" flipV="false" rot="0">
              <a:off x="0" y="0"/>
              <a:ext cx="114808" cy="117475"/>
            </a:xfrm>
            <a:custGeom>
              <a:avLst/>
              <a:gdLst/>
              <a:ahLst/>
              <a:cxnLst/>
              <a:rect r="r" b="b" t="t" l="l"/>
              <a:pathLst>
                <a:path h="117475" w="114808">
                  <a:moveTo>
                    <a:pt x="114808" y="57404"/>
                  </a:moveTo>
                  <a:lnTo>
                    <a:pt x="114808" y="60071"/>
                  </a:lnTo>
                  <a:cubicBezTo>
                    <a:pt x="114808" y="75295"/>
                    <a:pt x="108760" y="89896"/>
                    <a:pt x="97995" y="100662"/>
                  </a:cubicBezTo>
                  <a:cubicBezTo>
                    <a:pt x="87229" y="111427"/>
                    <a:pt x="72628" y="117475"/>
                    <a:pt x="57404" y="117475"/>
                  </a:cubicBezTo>
                  <a:lnTo>
                    <a:pt x="57404" y="117475"/>
                  </a:lnTo>
                  <a:cubicBezTo>
                    <a:pt x="42180" y="117475"/>
                    <a:pt x="27579" y="111427"/>
                    <a:pt x="16813" y="100662"/>
                  </a:cubicBezTo>
                  <a:cubicBezTo>
                    <a:pt x="6048" y="89896"/>
                    <a:pt x="0" y="75295"/>
                    <a:pt x="0" y="60071"/>
                  </a:cubicBezTo>
                  <a:lnTo>
                    <a:pt x="0" y="57404"/>
                  </a:lnTo>
                  <a:cubicBezTo>
                    <a:pt x="0" y="42180"/>
                    <a:pt x="6048" y="27579"/>
                    <a:pt x="16813" y="16813"/>
                  </a:cubicBezTo>
                  <a:cubicBezTo>
                    <a:pt x="27579" y="6048"/>
                    <a:pt x="42180" y="0"/>
                    <a:pt x="57404" y="0"/>
                  </a:cubicBezTo>
                  <a:lnTo>
                    <a:pt x="57404" y="0"/>
                  </a:lnTo>
                  <a:cubicBezTo>
                    <a:pt x="89107" y="0"/>
                    <a:pt x="114808" y="25701"/>
                    <a:pt x="114808" y="57404"/>
                  </a:cubicBezTo>
                  <a:close/>
                </a:path>
              </a:pathLst>
            </a:custGeom>
            <a:solidFill>
              <a:srgbClr val="76B900"/>
            </a:solidFill>
          </p:spPr>
        </p:sp>
        <p:sp>
          <p:nvSpPr>
            <p:cNvPr name="TextBox 14" id="14"/>
            <p:cNvSpPr txBox="true"/>
            <p:nvPr/>
          </p:nvSpPr>
          <p:spPr>
            <a:xfrm>
              <a:off x="0" y="-19050"/>
              <a:ext cx="114808" cy="136525"/>
            </a:xfrm>
            <a:prstGeom prst="rect">
              <a:avLst/>
            </a:prstGeom>
          </p:spPr>
          <p:txBody>
            <a:bodyPr anchor="ctr" rtlCol="false" tIns="50800" lIns="50800" bIns="50800" rIns="50800"/>
            <a:lstStyle/>
            <a:p>
              <a:pPr algn="ctr">
                <a:lnSpc>
                  <a:spcPts val="1579"/>
                </a:lnSpc>
              </a:pPr>
            </a:p>
          </p:txBody>
        </p:sp>
      </p:grpSp>
      <p:sp>
        <p:nvSpPr>
          <p:cNvPr name="TextBox 15" id="15"/>
          <p:cNvSpPr txBox="true"/>
          <p:nvPr/>
        </p:nvSpPr>
        <p:spPr>
          <a:xfrm rot="0">
            <a:off x="6397783" y="3083410"/>
            <a:ext cx="3933916" cy="285027"/>
          </a:xfrm>
          <a:prstGeom prst="rect">
            <a:avLst/>
          </a:prstGeom>
        </p:spPr>
        <p:txBody>
          <a:bodyPr anchor="t" rtlCol="false" tIns="0" lIns="0" bIns="0" rIns="0">
            <a:spAutoFit/>
          </a:bodyPr>
          <a:lstStyle/>
          <a:p>
            <a:pPr algn="l" marL="0" indent="0" lvl="0">
              <a:lnSpc>
                <a:spcPts val="2283"/>
              </a:lnSpc>
              <a:spcBef>
                <a:spcPct val="0"/>
              </a:spcBef>
            </a:pPr>
            <a:r>
              <a:rPr lang="en-US" sz="1898">
                <a:solidFill>
                  <a:srgbClr val="0F172A"/>
                </a:solidFill>
                <a:latin typeface="Aptos"/>
                <a:ea typeface="Aptos"/>
                <a:cs typeface="Aptos"/>
                <a:sym typeface="Aptos"/>
              </a:rPr>
              <a:t>31</a:t>
            </a:r>
            <a:r>
              <a:rPr lang="en-US" sz="1898" strike="noStrike" u="none">
                <a:solidFill>
                  <a:srgbClr val="0F172A"/>
                </a:solidFill>
                <a:latin typeface="Aptos"/>
                <a:ea typeface="Aptos"/>
                <a:cs typeface="Aptos"/>
                <a:sym typeface="Aptos"/>
              </a:rPr>
              <a:t>% </a:t>
            </a:r>
            <a:r>
              <a:rPr lang="en-US" sz="1898" strike="noStrike" u="none">
                <a:solidFill>
                  <a:srgbClr val="0F172A"/>
                </a:solidFill>
                <a:latin typeface="Aptos"/>
                <a:ea typeface="Aptos"/>
                <a:cs typeface="Aptos"/>
                <a:sym typeface="Aptos"/>
              </a:rPr>
              <a:t>Or</a:t>
            </a:r>
            <a:r>
              <a:rPr lang="en-US" sz="1898" strike="noStrike" u="none">
                <a:solidFill>
                  <a:srgbClr val="0F172A"/>
                </a:solidFill>
                <a:latin typeface="Aptos"/>
                <a:ea typeface="Aptos"/>
                <a:cs typeface="Aptos"/>
                <a:sym typeface="Aptos"/>
              </a:rPr>
              <a:t>i</a:t>
            </a:r>
            <a:r>
              <a:rPr lang="en-US" sz="1898" strike="noStrike" u="none">
                <a:solidFill>
                  <a:srgbClr val="0F172A"/>
                </a:solidFill>
                <a:latin typeface="Aptos"/>
                <a:ea typeface="Aptos"/>
                <a:cs typeface="Aptos"/>
                <a:sym typeface="Aptos"/>
              </a:rPr>
              <a:t>ginal Fea</a:t>
            </a:r>
            <a:r>
              <a:rPr lang="en-US" sz="1898" strike="noStrike" u="none">
                <a:solidFill>
                  <a:srgbClr val="0F172A"/>
                </a:solidFill>
                <a:latin typeface="Aptos"/>
                <a:ea typeface="Aptos"/>
                <a:cs typeface="Aptos"/>
                <a:sym typeface="Aptos"/>
              </a:rPr>
              <a:t>tur</a:t>
            </a:r>
            <a:r>
              <a:rPr lang="en-US" sz="1898" strike="noStrike" u="none">
                <a:solidFill>
                  <a:srgbClr val="0F172A"/>
                </a:solidFill>
                <a:latin typeface="Aptos"/>
                <a:ea typeface="Aptos"/>
                <a:cs typeface="Aptos"/>
                <a:sym typeface="Aptos"/>
              </a:rPr>
              <a:t>e</a:t>
            </a:r>
            <a:r>
              <a:rPr lang="en-US" sz="1898" strike="noStrike" u="none">
                <a:solidFill>
                  <a:srgbClr val="0F172A"/>
                </a:solidFill>
                <a:latin typeface="Aptos"/>
                <a:ea typeface="Aptos"/>
                <a:cs typeface="Aptos"/>
                <a:sym typeface="Aptos"/>
              </a:rPr>
              <a:t>s (22 F</a:t>
            </a:r>
            <a:r>
              <a:rPr lang="en-US" sz="1898" strike="noStrike" u="none">
                <a:solidFill>
                  <a:srgbClr val="0F172A"/>
                </a:solidFill>
                <a:latin typeface="Aptos"/>
                <a:ea typeface="Aptos"/>
                <a:cs typeface="Aptos"/>
                <a:sym typeface="Aptos"/>
              </a:rPr>
              <a:t>ea</a:t>
            </a:r>
            <a:r>
              <a:rPr lang="en-US" sz="1898" strike="noStrike" u="none">
                <a:solidFill>
                  <a:srgbClr val="0F172A"/>
                </a:solidFill>
                <a:latin typeface="Aptos"/>
                <a:ea typeface="Aptos"/>
                <a:cs typeface="Aptos"/>
                <a:sym typeface="Aptos"/>
              </a:rPr>
              <a:t>tur</a:t>
            </a:r>
            <a:r>
              <a:rPr lang="en-US" sz="1898" strike="noStrike" u="none">
                <a:solidFill>
                  <a:srgbClr val="0F172A"/>
                </a:solidFill>
                <a:latin typeface="Aptos"/>
                <a:ea typeface="Aptos"/>
                <a:cs typeface="Aptos"/>
                <a:sym typeface="Aptos"/>
              </a:rPr>
              <a:t>es</a:t>
            </a:r>
            <a:r>
              <a:rPr lang="en-US" sz="1898" strike="noStrike" u="none">
                <a:solidFill>
                  <a:srgbClr val="0F172A"/>
                </a:solidFill>
                <a:latin typeface="Aptos"/>
                <a:ea typeface="Aptos"/>
                <a:cs typeface="Aptos"/>
                <a:sym typeface="Aptos"/>
              </a:rPr>
              <a:t>)</a:t>
            </a:r>
          </a:p>
        </p:txBody>
      </p:sp>
      <p:grpSp>
        <p:nvGrpSpPr>
          <p:cNvPr name="Group 16" id="16"/>
          <p:cNvGrpSpPr/>
          <p:nvPr/>
        </p:nvGrpSpPr>
        <p:grpSpPr>
          <a:xfrm rot="0">
            <a:off x="5950668" y="3071376"/>
            <a:ext cx="290664" cy="297370"/>
            <a:chOff x="0" y="0"/>
            <a:chExt cx="114808" cy="117475"/>
          </a:xfrm>
        </p:grpSpPr>
        <p:sp>
          <p:nvSpPr>
            <p:cNvPr name="Freeform 17" id="17"/>
            <p:cNvSpPr/>
            <p:nvPr/>
          </p:nvSpPr>
          <p:spPr>
            <a:xfrm flipH="false" flipV="false" rot="0">
              <a:off x="0" y="0"/>
              <a:ext cx="114808" cy="117475"/>
            </a:xfrm>
            <a:custGeom>
              <a:avLst/>
              <a:gdLst/>
              <a:ahLst/>
              <a:cxnLst/>
              <a:rect r="r" b="b" t="t" l="l"/>
              <a:pathLst>
                <a:path h="117475" w="114808">
                  <a:moveTo>
                    <a:pt x="114808" y="57404"/>
                  </a:moveTo>
                  <a:lnTo>
                    <a:pt x="114808" y="60071"/>
                  </a:lnTo>
                  <a:cubicBezTo>
                    <a:pt x="114808" y="75295"/>
                    <a:pt x="108760" y="89896"/>
                    <a:pt x="97995" y="100662"/>
                  </a:cubicBezTo>
                  <a:cubicBezTo>
                    <a:pt x="87229" y="111427"/>
                    <a:pt x="72628" y="117475"/>
                    <a:pt x="57404" y="117475"/>
                  </a:cubicBezTo>
                  <a:lnTo>
                    <a:pt x="57404" y="117475"/>
                  </a:lnTo>
                  <a:cubicBezTo>
                    <a:pt x="42180" y="117475"/>
                    <a:pt x="27579" y="111427"/>
                    <a:pt x="16813" y="100662"/>
                  </a:cubicBezTo>
                  <a:cubicBezTo>
                    <a:pt x="6048" y="89896"/>
                    <a:pt x="0" y="75295"/>
                    <a:pt x="0" y="60071"/>
                  </a:cubicBezTo>
                  <a:lnTo>
                    <a:pt x="0" y="57404"/>
                  </a:lnTo>
                  <a:cubicBezTo>
                    <a:pt x="0" y="42180"/>
                    <a:pt x="6048" y="27579"/>
                    <a:pt x="16813" y="16813"/>
                  </a:cubicBezTo>
                  <a:cubicBezTo>
                    <a:pt x="27579" y="6048"/>
                    <a:pt x="42180" y="0"/>
                    <a:pt x="57404" y="0"/>
                  </a:cubicBezTo>
                  <a:lnTo>
                    <a:pt x="57404" y="0"/>
                  </a:lnTo>
                  <a:cubicBezTo>
                    <a:pt x="89107" y="0"/>
                    <a:pt x="114808" y="25701"/>
                    <a:pt x="114808" y="57404"/>
                  </a:cubicBezTo>
                  <a:close/>
                </a:path>
              </a:pathLst>
            </a:custGeom>
            <a:solidFill>
              <a:srgbClr val="475569"/>
            </a:solidFill>
          </p:spPr>
        </p:sp>
        <p:sp>
          <p:nvSpPr>
            <p:cNvPr name="TextBox 18" id="18"/>
            <p:cNvSpPr txBox="true"/>
            <p:nvPr/>
          </p:nvSpPr>
          <p:spPr>
            <a:xfrm>
              <a:off x="0" y="-19050"/>
              <a:ext cx="114808" cy="136525"/>
            </a:xfrm>
            <a:prstGeom prst="rect">
              <a:avLst/>
            </a:prstGeom>
          </p:spPr>
          <p:txBody>
            <a:bodyPr anchor="ctr" rtlCol="false" tIns="50800" lIns="50800" bIns="50800" rIns="50800"/>
            <a:lstStyle/>
            <a:p>
              <a:pPr algn="ctr">
                <a:lnSpc>
                  <a:spcPts val="1579"/>
                </a:lnSpc>
              </a:pPr>
            </a:p>
          </p:txBody>
        </p:sp>
      </p:grpSp>
      <p:sp>
        <p:nvSpPr>
          <p:cNvPr name="TextBox 19" id="19"/>
          <p:cNvSpPr txBox="true"/>
          <p:nvPr/>
        </p:nvSpPr>
        <p:spPr>
          <a:xfrm rot="0">
            <a:off x="5950668" y="3725867"/>
            <a:ext cx="4211212" cy="1896917"/>
          </a:xfrm>
          <a:prstGeom prst="rect">
            <a:avLst/>
          </a:prstGeom>
        </p:spPr>
        <p:txBody>
          <a:bodyPr anchor="t" rtlCol="false" tIns="0" lIns="0" bIns="0" rIns="0">
            <a:spAutoFit/>
          </a:bodyPr>
          <a:lstStyle/>
          <a:p>
            <a:pPr algn="l" marL="0" indent="0" lvl="0">
              <a:lnSpc>
                <a:spcPts val="2166"/>
              </a:lnSpc>
              <a:spcBef>
                <a:spcPct val="0"/>
              </a:spcBef>
            </a:pPr>
            <a:r>
              <a:rPr lang="en-US" sz="1800">
                <a:solidFill>
                  <a:srgbClr val="0F172A"/>
                </a:solidFill>
                <a:latin typeface="Aptos"/>
                <a:ea typeface="Aptos"/>
                <a:cs typeface="Aptos"/>
                <a:sym typeface="Aptos"/>
              </a:rPr>
              <a:t>Eng</a:t>
            </a:r>
            <a:r>
              <a:rPr lang="en-US" sz="1800" strike="noStrike" u="none">
                <a:solidFill>
                  <a:srgbClr val="0F172A"/>
                </a:solidFill>
                <a:latin typeface="Aptos"/>
                <a:ea typeface="Aptos"/>
                <a:cs typeface="Aptos"/>
                <a:sym typeface="Aptos"/>
              </a:rPr>
              <a:t>i</a:t>
            </a:r>
            <a:r>
              <a:rPr lang="en-US" sz="1800" strike="noStrike" u="none">
                <a:solidFill>
                  <a:srgbClr val="0F172A"/>
                </a:solidFill>
                <a:latin typeface="Aptos"/>
                <a:ea typeface="Aptos"/>
                <a:cs typeface="Aptos"/>
                <a:sym typeface="Aptos"/>
              </a:rPr>
              <a:t>nee</a:t>
            </a:r>
            <a:r>
              <a:rPr lang="en-US" sz="1800" strike="noStrike" u="none">
                <a:solidFill>
                  <a:srgbClr val="0F172A"/>
                </a:solidFill>
                <a:latin typeface="Aptos"/>
                <a:ea typeface="Aptos"/>
                <a:cs typeface="Aptos"/>
                <a:sym typeface="Aptos"/>
              </a:rPr>
              <a:t>r</a:t>
            </a:r>
            <a:r>
              <a:rPr lang="en-US" sz="1800" strike="noStrike" u="none">
                <a:solidFill>
                  <a:srgbClr val="0F172A"/>
                </a:solidFill>
                <a:latin typeface="Aptos"/>
                <a:ea typeface="Aptos"/>
                <a:cs typeface="Aptos"/>
                <a:sym typeface="Aptos"/>
              </a:rPr>
              <a:t>ed</a:t>
            </a:r>
            <a:r>
              <a:rPr lang="en-US" sz="1800" strike="noStrike" u="none">
                <a:solidFill>
                  <a:srgbClr val="0F172A"/>
                </a:solidFill>
                <a:latin typeface="Aptos"/>
                <a:ea typeface="Aptos"/>
                <a:cs typeface="Aptos"/>
                <a:sym typeface="Aptos"/>
              </a:rPr>
              <a:t> </a:t>
            </a:r>
            <a:r>
              <a:rPr lang="en-US" sz="1800" strike="noStrike" u="none">
                <a:solidFill>
                  <a:srgbClr val="0F172A"/>
                </a:solidFill>
                <a:latin typeface="Aptos"/>
                <a:ea typeface="Aptos"/>
                <a:cs typeface="Aptos"/>
                <a:sym typeface="Aptos"/>
              </a:rPr>
              <a:t>F</a:t>
            </a:r>
            <a:r>
              <a:rPr lang="en-US" sz="1800" strike="noStrike" u="none">
                <a:solidFill>
                  <a:srgbClr val="0F172A"/>
                </a:solidFill>
                <a:latin typeface="Aptos"/>
                <a:ea typeface="Aptos"/>
                <a:cs typeface="Aptos"/>
                <a:sym typeface="Aptos"/>
              </a:rPr>
              <a:t>ea</a:t>
            </a:r>
            <a:r>
              <a:rPr lang="en-US" sz="1800" strike="noStrike" u="none">
                <a:solidFill>
                  <a:srgbClr val="0F172A"/>
                </a:solidFill>
                <a:latin typeface="Aptos"/>
                <a:ea typeface="Aptos"/>
                <a:cs typeface="Aptos"/>
                <a:sym typeface="Aptos"/>
              </a:rPr>
              <a:t>ture</a:t>
            </a:r>
            <a:r>
              <a:rPr lang="en-US" sz="1800" strike="noStrike" u="none">
                <a:solidFill>
                  <a:srgbClr val="0F172A"/>
                </a:solidFill>
                <a:latin typeface="Aptos"/>
                <a:ea typeface="Aptos"/>
                <a:cs typeface="Aptos"/>
                <a:sym typeface="Aptos"/>
              </a:rPr>
              <a:t>s: </a:t>
            </a:r>
            <a:r>
              <a:rPr lang="en-US" sz="1800" strike="noStrike" u="none">
                <a:solidFill>
                  <a:srgbClr val="0F172A"/>
                </a:solidFill>
                <a:latin typeface="Aptos"/>
                <a:ea typeface="Aptos"/>
                <a:cs typeface="Aptos"/>
                <a:sym typeface="Aptos"/>
              </a:rPr>
              <a:t>I</a:t>
            </a:r>
            <a:r>
              <a:rPr lang="en-US" sz="1800" strike="noStrike" u="none">
                <a:solidFill>
                  <a:srgbClr val="0F172A"/>
                </a:solidFill>
                <a:latin typeface="Aptos"/>
                <a:ea typeface="Aptos"/>
                <a:cs typeface="Aptos"/>
                <a:sym typeface="Aptos"/>
              </a:rPr>
              <a:t>nc</a:t>
            </a:r>
            <a:r>
              <a:rPr lang="en-US" sz="1800" strike="noStrike" u="none">
                <a:solidFill>
                  <a:srgbClr val="0F172A"/>
                </a:solidFill>
                <a:latin typeface="Aptos"/>
                <a:ea typeface="Aptos"/>
                <a:cs typeface="Aptos"/>
                <a:sym typeface="Aptos"/>
              </a:rPr>
              <a:t>l</a:t>
            </a:r>
            <a:r>
              <a:rPr lang="en-US" sz="1800" strike="noStrike" u="none">
                <a:solidFill>
                  <a:srgbClr val="0F172A"/>
                </a:solidFill>
                <a:latin typeface="Aptos"/>
                <a:ea typeface="Aptos"/>
                <a:cs typeface="Aptos"/>
                <a:sym typeface="Aptos"/>
              </a:rPr>
              <a:t>u</a:t>
            </a:r>
            <a:r>
              <a:rPr lang="en-US" sz="1800" strike="noStrike" u="none">
                <a:solidFill>
                  <a:srgbClr val="0F172A"/>
                </a:solidFill>
                <a:latin typeface="Aptos"/>
                <a:ea typeface="Aptos"/>
                <a:cs typeface="Aptos"/>
                <a:sym typeface="Aptos"/>
              </a:rPr>
              <a:t>d</a:t>
            </a:r>
            <a:r>
              <a:rPr lang="en-US" sz="1800" strike="noStrike" u="none">
                <a:solidFill>
                  <a:srgbClr val="0F172A"/>
                </a:solidFill>
                <a:latin typeface="Aptos"/>
                <a:ea typeface="Aptos"/>
                <a:cs typeface="Aptos"/>
                <a:sym typeface="Aptos"/>
              </a:rPr>
              <a:t>es </a:t>
            </a:r>
            <a:r>
              <a:rPr lang="en-US" sz="1800" strike="noStrike" u="none">
                <a:solidFill>
                  <a:srgbClr val="0F172A"/>
                </a:solidFill>
                <a:latin typeface="Aptos"/>
                <a:ea typeface="Aptos"/>
                <a:cs typeface="Aptos"/>
                <a:sym typeface="Aptos"/>
              </a:rPr>
              <a:t>exte</a:t>
            </a:r>
            <a:r>
              <a:rPr lang="en-US" sz="1800" strike="noStrike" u="none">
                <a:solidFill>
                  <a:srgbClr val="0F172A"/>
                </a:solidFill>
                <a:latin typeface="Aptos"/>
                <a:ea typeface="Aptos"/>
                <a:cs typeface="Aptos"/>
                <a:sym typeface="Aptos"/>
              </a:rPr>
              <a:t>r</a:t>
            </a:r>
            <a:r>
              <a:rPr lang="en-US" sz="1800" strike="noStrike" u="none">
                <a:solidFill>
                  <a:srgbClr val="0F172A"/>
                </a:solidFill>
                <a:latin typeface="Aptos"/>
                <a:ea typeface="Aptos"/>
                <a:cs typeface="Aptos"/>
                <a:sym typeface="Aptos"/>
              </a:rPr>
              <a:t>na</a:t>
            </a:r>
            <a:r>
              <a:rPr lang="en-US" sz="1800" strike="noStrike" u="none">
                <a:solidFill>
                  <a:srgbClr val="0F172A"/>
                </a:solidFill>
                <a:latin typeface="Aptos"/>
                <a:ea typeface="Aptos"/>
                <a:cs typeface="Aptos"/>
                <a:sym typeface="Aptos"/>
              </a:rPr>
              <a:t>l</a:t>
            </a:r>
            <a:r>
              <a:rPr lang="en-US" sz="1800" strike="noStrike" u="none">
                <a:solidFill>
                  <a:srgbClr val="0F172A"/>
                </a:solidFill>
                <a:latin typeface="Aptos"/>
                <a:ea typeface="Aptos"/>
                <a:cs typeface="Aptos"/>
                <a:sym typeface="Aptos"/>
              </a:rPr>
              <a:t> m</a:t>
            </a:r>
            <a:r>
              <a:rPr lang="en-US" sz="1800" strike="noStrike" u="none">
                <a:solidFill>
                  <a:srgbClr val="0F172A"/>
                </a:solidFill>
                <a:latin typeface="Aptos"/>
                <a:ea typeface="Aptos"/>
                <a:cs typeface="Aptos"/>
                <a:sym typeface="Aptos"/>
              </a:rPr>
              <a:t>ar</a:t>
            </a:r>
            <a:r>
              <a:rPr lang="en-US" sz="1800" strike="noStrike" u="none">
                <a:solidFill>
                  <a:srgbClr val="0F172A"/>
                </a:solidFill>
                <a:latin typeface="Aptos"/>
                <a:ea typeface="Aptos"/>
                <a:cs typeface="Aptos"/>
                <a:sym typeface="Aptos"/>
              </a:rPr>
              <a:t>ket context</a:t>
            </a:r>
            <a:r>
              <a:rPr lang="en-US" sz="1800" strike="noStrike" u="none">
                <a:solidFill>
                  <a:srgbClr val="0F172A"/>
                </a:solidFill>
                <a:latin typeface="Aptos"/>
                <a:ea typeface="Aptos"/>
                <a:cs typeface="Aptos"/>
                <a:sym typeface="Aptos"/>
              </a:rPr>
              <a:t> (VIX/SMH), momentum </a:t>
            </a:r>
            <a:r>
              <a:rPr lang="en-US" sz="1800" strike="noStrike" u="none">
                <a:solidFill>
                  <a:srgbClr val="0F172A"/>
                </a:solidFill>
                <a:latin typeface="Aptos"/>
                <a:ea typeface="Aptos"/>
                <a:cs typeface="Aptos"/>
                <a:sym typeface="Aptos"/>
              </a:rPr>
              <a:t>indicators </a:t>
            </a:r>
            <a:r>
              <a:rPr lang="en-US" sz="1800" strike="noStrike" u="none">
                <a:solidFill>
                  <a:srgbClr val="0F172A"/>
                </a:solidFill>
                <a:latin typeface="Aptos"/>
                <a:ea typeface="Aptos"/>
                <a:cs typeface="Aptos"/>
                <a:sym typeface="Aptos"/>
              </a:rPr>
              <a:t>(RSI/MACD), an</a:t>
            </a:r>
            <a:r>
              <a:rPr lang="en-US" sz="1800" strike="noStrike" u="none">
                <a:solidFill>
                  <a:srgbClr val="0F172A"/>
                </a:solidFill>
                <a:latin typeface="Aptos"/>
                <a:ea typeface="Aptos"/>
                <a:cs typeface="Aptos"/>
                <a:sym typeface="Aptos"/>
              </a:rPr>
              <a:t>d</a:t>
            </a:r>
            <a:r>
              <a:rPr lang="en-US" sz="1800" strike="noStrike" u="none">
                <a:solidFill>
                  <a:srgbClr val="0F172A"/>
                </a:solidFill>
                <a:latin typeface="Aptos"/>
                <a:ea typeface="Aptos"/>
                <a:cs typeface="Aptos"/>
                <a:sym typeface="Aptos"/>
              </a:rPr>
              <a:t> temporal</a:t>
            </a:r>
            <a:r>
              <a:rPr lang="en-US" sz="1800" strike="noStrike" u="none">
                <a:solidFill>
                  <a:srgbClr val="0F172A"/>
                </a:solidFill>
                <a:latin typeface="Aptos"/>
                <a:ea typeface="Aptos"/>
                <a:cs typeface="Aptos"/>
                <a:sym typeface="Aptos"/>
              </a:rPr>
              <a:t> lag</a:t>
            </a:r>
            <a:r>
              <a:rPr lang="en-US" sz="1800" strike="noStrike" u="none">
                <a:solidFill>
                  <a:srgbClr val="0F172A"/>
                </a:solidFill>
                <a:latin typeface="Aptos"/>
                <a:ea typeface="Aptos"/>
                <a:cs typeface="Aptos"/>
                <a:sym typeface="Aptos"/>
              </a:rPr>
              <a:t>.</a:t>
            </a:r>
          </a:p>
          <a:p>
            <a:pPr algn="l" marL="0" indent="0" lvl="0">
              <a:lnSpc>
                <a:spcPts val="2166"/>
              </a:lnSpc>
              <a:spcBef>
                <a:spcPct val="0"/>
              </a:spcBef>
            </a:pPr>
          </a:p>
          <a:p>
            <a:pPr algn="l" marL="0" indent="0" lvl="0">
              <a:lnSpc>
                <a:spcPts val="2166"/>
              </a:lnSpc>
              <a:spcBef>
                <a:spcPct val="0"/>
              </a:spcBef>
            </a:pPr>
            <a:r>
              <a:rPr lang="en-US" sz="1800" strike="noStrike" u="none">
                <a:solidFill>
                  <a:srgbClr val="0F172A"/>
                </a:solidFill>
                <a:latin typeface="Aptos"/>
                <a:ea typeface="Aptos"/>
                <a:cs typeface="Aptos"/>
                <a:sym typeface="Aptos"/>
              </a:rPr>
              <a:t>Orig</a:t>
            </a:r>
            <a:r>
              <a:rPr lang="en-US" sz="1800" strike="noStrike" u="none">
                <a:solidFill>
                  <a:srgbClr val="0F172A"/>
                </a:solidFill>
                <a:latin typeface="Aptos"/>
                <a:ea typeface="Aptos"/>
                <a:cs typeface="Aptos"/>
                <a:sym typeface="Aptos"/>
              </a:rPr>
              <a:t>inal Features: Based on underlying OHLCV (Open, High, Low, Close, Volume) data from Yahoo Finance.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838200" y="425596"/>
            <a:ext cx="752673" cy="148590"/>
          </a:xfrm>
          <a:prstGeom prst="rect">
            <a:avLst/>
          </a:prstGeom>
        </p:spPr>
        <p:txBody>
          <a:bodyPr anchor="t" rtlCol="false" tIns="0" lIns="0" bIns="0" rIns="0">
            <a:spAutoFit/>
          </a:bodyPr>
          <a:lstStyle/>
          <a:p>
            <a:pPr algn="l">
              <a:lnSpc>
                <a:spcPts val="1260"/>
              </a:lnSpc>
            </a:pPr>
            <a:r>
              <a:rPr lang="en-US" sz="900" spc="0">
                <a:solidFill>
                  <a:srgbClr val="0E7490"/>
                </a:solidFill>
                <a:latin typeface="Aptos"/>
                <a:ea typeface="Aptos"/>
                <a:cs typeface="Aptos"/>
                <a:sym typeface="Aptos"/>
              </a:rPr>
              <a:t>BACKGROUND</a:t>
            </a:r>
          </a:p>
        </p:txBody>
      </p:sp>
      <p:sp>
        <p:nvSpPr>
          <p:cNvPr name="TextBox 5" id="5"/>
          <p:cNvSpPr txBox="true"/>
          <p:nvPr/>
        </p:nvSpPr>
        <p:spPr>
          <a:xfrm rot="0">
            <a:off x="2446662" y="600075"/>
            <a:ext cx="7239168" cy="811469"/>
          </a:xfrm>
          <a:prstGeom prst="rect">
            <a:avLst/>
          </a:prstGeom>
        </p:spPr>
        <p:txBody>
          <a:bodyPr anchor="t" rtlCol="false" tIns="0" lIns="0" bIns="0" rIns="0">
            <a:spAutoFit/>
          </a:bodyPr>
          <a:lstStyle/>
          <a:p>
            <a:pPr algn="l">
              <a:lnSpc>
                <a:spcPts val="6723"/>
              </a:lnSpc>
            </a:pPr>
            <a:r>
              <a:rPr lang="en-US" sz="4802">
                <a:solidFill>
                  <a:srgbClr val="0F172A"/>
                </a:solidFill>
                <a:latin typeface="Aptos"/>
                <a:ea typeface="Aptos"/>
                <a:cs typeface="Aptos"/>
                <a:sym typeface="Aptos"/>
              </a:rPr>
              <a:t>Data Preparation Statistics</a:t>
            </a:r>
          </a:p>
        </p:txBody>
      </p:sp>
      <p:sp>
        <p:nvSpPr>
          <p:cNvPr name="TextBox 6" id="6"/>
          <p:cNvSpPr txBox="true"/>
          <p:nvPr/>
        </p:nvSpPr>
        <p:spPr>
          <a:xfrm rot="0">
            <a:off x="533400" y="6334506"/>
            <a:ext cx="1949148"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MachineLearningFinalBanget (1).ipynb</a:t>
            </a:r>
          </a:p>
        </p:txBody>
      </p:sp>
      <p:sp>
        <p:nvSpPr>
          <p:cNvPr name="TextBox 7" id="7"/>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02</a:t>
            </a:r>
          </a:p>
        </p:txBody>
      </p:sp>
      <p:sp>
        <p:nvSpPr>
          <p:cNvPr name="Freeform 8" id="8"/>
          <p:cNvSpPr/>
          <p:nvPr/>
        </p:nvSpPr>
        <p:spPr>
          <a:xfrm flipH="false" flipV="false" rot="0">
            <a:off x="6267356" y="1675090"/>
            <a:ext cx="4776874" cy="3184582"/>
          </a:xfrm>
          <a:custGeom>
            <a:avLst/>
            <a:gdLst/>
            <a:ahLst/>
            <a:cxnLst/>
            <a:rect r="r" b="b" t="t" l="l"/>
            <a:pathLst>
              <a:path h="3184582" w="4776874">
                <a:moveTo>
                  <a:pt x="0" y="0"/>
                </a:moveTo>
                <a:lnTo>
                  <a:pt x="4776874" y="0"/>
                </a:lnTo>
                <a:lnTo>
                  <a:pt x="4776874" y="3184582"/>
                </a:lnTo>
                <a:lnTo>
                  <a:pt x="0" y="3184582"/>
                </a:lnTo>
                <a:lnTo>
                  <a:pt x="0" y="0"/>
                </a:lnTo>
                <a:close/>
              </a:path>
            </a:pathLst>
          </a:custGeom>
          <a:blipFill>
            <a:blip r:embed="rId6">
              <a:extLst>
                <a:ext uri="{96DAC541-7B7A-43D3-8B79-37D633B846F1}">
                  <asvg:svgBlip xmlns:asvg="http://schemas.microsoft.com/office/drawing/2016/SVG/main" r:embed="rId7"/>
                </a:ext>
              </a:extLst>
            </a:blip>
            <a:stretch>
              <a:fillRect l="-128564" t="-54327" r="-104515" b="-12771"/>
            </a:stretch>
          </a:blipFill>
        </p:spPr>
      </p:sp>
      <p:sp>
        <p:nvSpPr>
          <p:cNvPr name="Freeform 9" id="9"/>
          <p:cNvSpPr/>
          <p:nvPr/>
        </p:nvSpPr>
        <p:spPr>
          <a:xfrm flipH="false" flipV="false" rot="0">
            <a:off x="1088263" y="1687367"/>
            <a:ext cx="4758458" cy="3172305"/>
          </a:xfrm>
          <a:custGeom>
            <a:avLst/>
            <a:gdLst/>
            <a:ahLst/>
            <a:cxnLst/>
            <a:rect r="r" b="b" t="t" l="l"/>
            <a:pathLst>
              <a:path h="3172305" w="4758458">
                <a:moveTo>
                  <a:pt x="0" y="0"/>
                </a:moveTo>
                <a:lnTo>
                  <a:pt x="4758457" y="0"/>
                </a:lnTo>
                <a:lnTo>
                  <a:pt x="4758457" y="3172305"/>
                </a:lnTo>
                <a:lnTo>
                  <a:pt x="0" y="3172305"/>
                </a:lnTo>
                <a:lnTo>
                  <a:pt x="0" y="0"/>
                </a:lnTo>
                <a:close/>
              </a:path>
            </a:pathLst>
          </a:custGeom>
          <a:blipFill>
            <a:blip r:embed="rId6">
              <a:extLst>
                <a:ext uri="{96DAC541-7B7A-43D3-8B79-37D633B846F1}">
                  <asvg:svgBlip xmlns:asvg="http://schemas.microsoft.com/office/drawing/2016/SVG/main" r:embed="rId7"/>
                </a:ext>
              </a:extLst>
            </a:blip>
            <a:stretch>
              <a:fillRect l="-128564" t="-54327" r="-104515" b="-12771"/>
            </a:stretch>
          </a:blipFill>
        </p:spPr>
      </p:sp>
      <p:sp>
        <p:nvSpPr>
          <p:cNvPr name="TextBox 10" id="10"/>
          <p:cNvSpPr txBox="true"/>
          <p:nvPr/>
        </p:nvSpPr>
        <p:spPr>
          <a:xfrm rot="0">
            <a:off x="1518314" y="2356210"/>
            <a:ext cx="3089908" cy="1346726"/>
          </a:xfrm>
          <a:prstGeom prst="rect">
            <a:avLst/>
          </a:prstGeom>
        </p:spPr>
        <p:txBody>
          <a:bodyPr anchor="t" rtlCol="false" tIns="0" lIns="0" bIns="0" rIns="0">
            <a:spAutoFit/>
          </a:bodyPr>
          <a:lstStyle/>
          <a:p>
            <a:pPr algn="l" marL="0" indent="0" lvl="0">
              <a:lnSpc>
                <a:spcPts val="11120"/>
              </a:lnSpc>
              <a:spcBef>
                <a:spcPct val="0"/>
              </a:spcBef>
            </a:pPr>
            <a:r>
              <a:rPr lang="en-US" b="true" sz="7943">
                <a:solidFill>
                  <a:srgbClr val="76B900"/>
                </a:solidFill>
                <a:latin typeface="Aptos Bold"/>
                <a:ea typeface="Aptos Bold"/>
                <a:cs typeface="Aptos Bold"/>
                <a:sym typeface="Aptos Bold"/>
              </a:rPr>
              <a:t>6,870</a:t>
            </a:r>
          </a:p>
        </p:txBody>
      </p:sp>
      <p:sp>
        <p:nvSpPr>
          <p:cNvPr name="TextBox 11" id="11"/>
          <p:cNvSpPr txBox="true"/>
          <p:nvPr/>
        </p:nvSpPr>
        <p:spPr>
          <a:xfrm rot="0">
            <a:off x="3011405" y="4044082"/>
            <a:ext cx="912173" cy="369930"/>
          </a:xfrm>
          <a:prstGeom prst="rect">
            <a:avLst/>
          </a:prstGeom>
        </p:spPr>
        <p:txBody>
          <a:bodyPr anchor="t" rtlCol="false" tIns="0" lIns="0" bIns="0" rIns="0">
            <a:spAutoFit/>
          </a:bodyPr>
          <a:lstStyle/>
          <a:p>
            <a:pPr algn="ctr" marL="0" indent="0" lvl="0">
              <a:lnSpc>
                <a:spcPts val="2956"/>
              </a:lnSpc>
              <a:spcBef>
                <a:spcPct val="0"/>
              </a:spcBef>
            </a:pPr>
            <a:r>
              <a:rPr lang="en-US" sz="2457">
                <a:solidFill>
                  <a:srgbClr val="0F172A"/>
                </a:solidFill>
                <a:latin typeface="Aptos"/>
                <a:ea typeface="Aptos"/>
                <a:cs typeface="Aptos"/>
                <a:sym typeface="Aptos"/>
              </a:rPr>
              <a:t>Before</a:t>
            </a:r>
          </a:p>
        </p:txBody>
      </p:sp>
      <p:sp>
        <p:nvSpPr>
          <p:cNvPr name="TextBox 12" id="12"/>
          <p:cNvSpPr txBox="true"/>
          <p:nvPr/>
        </p:nvSpPr>
        <p:spPr>
          <a:xfrm rot="0">
            <a:off x="4004902" y="3180159"/>
            <a:ext cx="1367256" cy="292048"/>
          </a:xfrm>
          <a:prstGeom prst="rect">
            <a:avLst/>
          </a:prstGeom>
        </p:spPr>
        <p:txBody>
          <a:bodyPr anchor="t" rtlCol="false" tIns="0" lIns="0" bIns="0" rIns="0">
            <a:spAutoFit/>
          </a:bodyPr>
          <a:lstStyle/>
          <a:p>
            <a:pPr algn="l" marL="0" indent="0" lvl="0">
              <a:lnSpc>
                <a:spcPts val="2340"/>
              </a:lnSpc>
              <a:spcBef>
                <a:spcPct val="0"/>
              </a:spcBef>
            </a:pPr>
            <a:r>
              <a:rPr lang="en-US" sz="1945">
                <a:solidFill>
                  <a:srgbClr val="0F172A"/>
                </a:solidFill>
                <a:latin typeface="Aptos"/>
                <a:ea typeface="Aptos"/>
                <a:cs typeface="Aptos"/>
                <a:sym typeface="Aptos"/>
              </a:rPr>
              <a:t>Trading Day</a:t>
            </a:r>
          </a:p>
        </p:txBody>
      </p:sp>
      <p:sp>
        <p:nvSpPr>
          <p:cNvPr name="TextBox 13" id="13"/>
          <p:cNvSpPr txBox="true"/>
          <p:nvPr/>
        </p:nvSpPr>
        <p:spPr>
          <a:xfrm rot="0">
            <a:off x="6728871" y="2356210"/>
            <a:ext cx="3089908" cy="1346726"/>
          </a:xfrm>
          <a:prstGeom prst="rect">
            <a:avLst/>
          </a:prstGeom>
        </p:spPr>
        <p:txBody>
          <a:bodyPr anchor="t" rtlCol="false" tIns="0" lIns="0" bIns="0" rIns="0">
            <a:spAutoFit/>
          </a:bodyPr>
          <a:lstStyle/>
          <a:p>
            <a:pPr algn="l" marL="0" indent="0" lvl="0">
              <a:lnSpc>
                <a:spcPts val="11120"/>
              </a:lnSpc>
              <a:spcBef>
                <a:spcPct val="0"/>
              </a:spcBef>
            </a:pPr>
            <a:r>
              <a:rPr lang="en-US" b="true" sz="7943">
                <a:solidFill>
                  <a:srgbClr val="76B900"/>
                </a:solidFill>
                <a:latin typeface="Aptos Bold"/>
                <a:ea typeface="Aptos Bold"/>
                <a:cs typeface="Aptos Bold"/>
                <a:sym typeface="Aptos Bold"/>
              </a:rPr>
              <a:t>6,529</a:t>
            </a:r>
          </a:p>
        </p:txBody>
      </p:sp>
      <p:sp>
        <p:nvSpPr>
          <p:cNvPr name="TextBox 14" id="14"/>
          <p:cNvSpPr txBox="true"/>
          <p:nvPr/>
        </p:nvSpPr>
        <p:spPr>
          <a:xfrm rot="0">
            <a:off x="8199707" y="4044082"/>
            <a:ext cx="912173" cy="369930"/>
          </a:xfrm>
          <a:prstGeom prst="rect">
            <a:avLst/>
          </a:prstGeom>
        </p:spPr>
        <p:txBody>
          <a:bodyPr anchor="t" rtlCol="false" tIns="0" lIns="0" bIns="0" rIns="0">
            <a:spAutoFit/>
          </a:bodyPr>
          <a:lstStyle/>
          <a:p>
            <a:pPr algn="ctr" marL="0" indent="0" lvl="0">
              <a:lnSpc>
                <a:spcPts val="2956"/>
              </a:lnSpc>
              <a:spcBef>
                <a:spcPct val="0"/>
              </a:spcBef>
            </a:pPr>
            <a:r>
              <a:rPr lang="en-US" sz="2457">
                <a:solidFill>
                  <a:srgbClr val="0F172A"/>
                </a:solidFill>
                <a:latin typeface="Aptos"/>
                <a:ea typeface="Aptos"/>
                <a:cs typeface="Aptos"/>
                <a:sym typeface="Aptos"/>
              </a:rPr>
              <a:t>After</a:t>
            </a:r>
          </a:p>
        </p:txBody>
      </p:sp>
      <p:sp>
        <p:nvSpPr>
          <p:cNvPr name="TextBox 15" id="15"/>
          <p:cNvSpPr txBox="true"/>
          <p:nvPr/>
        </p:nvSpPr>
        <p:spPr>
          <a:xfrm rot="0">
            <a:off x="9215460" y="3180159"/>
            <a:ext cx="1367256" cy="292048"/>
          </a:xfrm>
          <a:prstGeom prst="rect">
            <a:avLst/>
          </a:prstGeom>
        </p:spPr>
        <p:txBody>
          <a:bodyPr anchor="t" rtlCol="false" tIns="0" lIns="0" bIns="0" rIns="0">
            <a:spAutoFit/>
          </a:bodyPr>
          <a:lstStyle/>
          <a:p>
            <a:pPr algn="l" marL="0" indent="0" lvl="0">
              <a:lnSpc>
                <a:spcPts val="2340"/>
              </a:lnSpc>
              <a:spcBef>
                <a:spcPct val="0"/>
              </a:spcBef>
            </a:pPr>
            <a:r>
              <a:rPr lang="en-US" sz="1945">
                <a:solidFill>
                  <a:srgbClr val="0F172A"/>
                </a:solidFill>
                <a:latin typeface="Aptos"/>
                <a:ea typeface="Aptos"/>
                <a:cs typeface="Aptos"/>
                <a:sym typeface="Aptos"/>
              </a:rPr>
              <a:t>Trading Day</a:t>
            </a:r>
          </a:p>
        </p:txBody>
      </p:sp>
      <p:grpSp>
        <p:nvGrpSpPr>
          <p:cNvPr name="Group 16" id="16"/>
          <p:cNvGrpSpPr/>
          <p:nvPr/>
        </p:nvGrpSpPr>
        <p:grpSpPr>
          <a:xfrm rot="0">
            <a:off x="1088263" y="4989193"/>
            <a:ext cx="9955967" cy="1259207"/>
            <a:chOff x="0" y="0"/>
            <a:chExt cx="3933222" cy="497465"/>
          </a:xfrm>
        </p:grpSpPr>
        <p:sp>
          <p:nvSpPr>
            <p:cNvPr name="Freeform 17" id="17"/>
            <p:cNvSpPr/>
            <p:nvPr/>
          </p:nvSpPr>
          <p:spPr>
            <a:xfrm flipH="false" flipV="false" rot="0">
              <a:off x="0" y="0"/>
              <a:ext cx="3933222" cy="497465"/>
            </a:xfrm>
            <a:custGeom>
              <a:avLst/>
              <a:gdLst/>
              <a:ahLst/>
              <a:cxnLst/>
              <a:rect r="r" b="b" t="t" l="l"/>
              <a:pathLst>
                <a:path h="497465" w="3933222">
                  <a:moveTo>
                    <a:pt x="0" y="0"/>
                  </a:moveTo>
                  <a:lnTo>
                    <a:pt x="3933222" y="0"/>
                  </a:lnTo>
                  <a:lnTo>
                    <a:pt x="3933222" y="497465"/>
                  </a:lnTo>
                  <a:lnTo>
                    <a:pt x="0" y="497465"/>
                  </a:lnTo>
                  <a:close/>
                </a:path>
              </a:pathLst>
            </a:custGeom>
            <a:solidFill>
              <a:srgbClr val="FFFFFF"/>
            </a:solidFill>
            <a:ln cap="sq">
              <a:noFill/>
              <a:prstDash val="lgDash"/>
              <a:miter/>
            </a:ln>
          </p:spPr>
        </p:sp>
        <p:sp>
          <p:nvSpPr>
            <p:cNvPr name="TextBox 18" id="18"/>
            <p:cNvSpPr txBox="true"/>
            <p:nvPr/>
          </p:nvSpPr>
          <p:spPr>
            <a:xfrm>
              <a:off x="0" y="-19050"/>
              <a:ext cx="3933222" cy="516515"/>
            </a:xfrm>
            <a:prstGeom prst="rect">
              <a:avLst/>
            </a:prstGeom>
          </p:spPr>
          <p:txBody>
            <a:bodyPr anchor="ctr" rtlCol="false" tIns="50800" lIns="50800" bIns="50800" rIns="50800"/>
            <a:lstStyle/>
            <a:p>
              <a:pPr algn="ctr">
                <a:lnSpc>
                  <a:spcPts val="1679"/>
                </a:lnSpc>
              </a:pPr>
            </a:p>
          </p:txBody>
        </p:sp>
      </p:grpSp>
      <p:sp>
        <p:nvSpPr>
          <p:cNvPr name="TextBox 19" id="19"/>
          <p:cNvSpPr txBox="true"/>
          <p:nvPr/>
        </p:nvSpPr>
        <p:spPr>
          <a:xfrm rot="0">
            <a:off x="1373779" y="5202572"/>
            <a:ext cx="9384936" cy="829499"/>
          </a:xfrm>
          <a:prstGeom prst="rect">
            <a:avLst/>
          </a:prstGeom>
        </p:spPr>
        <p:txBody>
          <a:bodyPr anchor="t" rtlCol="false" tIns="0" lIns="0" bIns="0" rIns="0">
            <a:spAutoFit/>
          </a:bodyPr>
          <a:lstStyle/>
          <a:p>
            <a:pPr algn="just">
              <a:lnSpc>
                <a:spcPts val="2241"/>
              </a:lnSpc>
            </a:pPr>
            <a:r>
              <a:rPr lang="en-US" sz="1863">
                <a:solidFill>
                  <a:srgbClr val="0F172A"/>
                </a:solidFill>
                <a:latin typeface="Aptos"/>
                <a:ea typeface="Aptos"/>
                <a:cs typeface="Aptos"/>
                <a:sym typeface="Aptos"/>
              </a:rPr>
              <a:t>Cleaning Note: 291 rows (NaN) were removed after the generation</a:t>
            </a:r>
            <a:r>
              <a:rPr lang="en-US" sz="1863">
                <a:solidFill>
                  <a:srgbClr val="0F172A"/>
                </a:solidFill>
                <a:latin typeface="Aptos"/>
                <a:ea typeface="Aptos"/>
                <a:cs typeface="Aptos"/>
                <a:sym typeface="Aptos"/>
              </a:rPr>
              <a:t> of lag and moving average features to ensure temporal validity. Scaling was performed using RobustScaler on the BiLSTM model.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533400" y="1735916"/>
            <a:ext cx="5562600" cy="4463988"/>
            <a:chOff x="0" y="0"/>
            <a:chExt cx="2197570" cy="1763551"/>
          </a:xfrm>
        </p:grpSpPr>
        <p:sp>
          <p:nvSpPr>
            <p:cNvPr name="Freeform 5" id="5"/>
            <p:cNvSpPr/>
            <p:nvPr/>
          </p:nvSpPr>
          <p:spPr>
            <a:xfrm flipH="false" flipV="false" rot="0">
              <a:off x="0" y="0"/>
              <a:ext cx="2197570" cy="1763551"/>
            </a:xfrm>
            <a:custGeom>
              <a:avLst/>
              <a:gdLst/>
              <a:ahLst/>
              <a:cxnLst/>
              <a:rect r="r" b="b" t="t" l="l"/>
              <a:pathLst>
                <a:path h="1763551" w="2197570">
                  <a:moveTo>
                    <a:pt x="0" y="0"/>
                  </a:moveTo>
                  <a:lnTo>
                    <a:pt x="2197570" y="0"/>
                  </a:lnTo>
                  <a:lnTo>
                    <a:pt x="2197570" y="1763551"/>
                  </a:lnTo>
                  <a:lnTo>
                    <a:pt x="0" y="1763551"/>
                  </a:lnTo>
                  <a:close/>
                </a:path>
              </a:pathLst>
            </a:custGeom>
            <a:solidFill>
              <a:srgbClr val="FFFFFF"/>
            </a:solidFill>
            <a:ln cap="sq">
              <a:noFill/>
              <a:prstDash val="lgDash"/>
              <a:miter/>
            </a:ln>
          </p:spPr>
        </p:sp>
        <p:sp>
          <p:nvSpPr>
            <p:cNvPr name="TextBox 6" id="6"/>
            <p:cNvSpPr txBox="true"/>
            <p:nvPr/>
          </p:nvSpPr>
          <p:spPr>
            <a:xfrm>
              <a:off x="0" y="-19050"/>
              <a:ext cx="2197570" cy="1782601"/>
            </a:xfrm>
            <a:prstGeom prst="rect">
              <a:avLst/>
            </a:prstGeom>
          </p:spPr>
          <p:txBody>
            <a:bodyPr anchor="ctr" rtlCol="false" tIns="50800" lIns="50800" bIns="50800" rIns="50800"/>
            <a:lstStyle/>
            <a:p>
              <a:pPr algn="ctr">
                <a:lnSpc>
                  <a:spcPts val="1679"/>
                </a:lnSpc>
              </a:pPr>
            </a:p>
          </p:txBody>
        </p:sp>
      </p:grpSp>
      <p:sp>
        <p:nvSpPr>
          <p:cNvPr name="Freeform 7" id="7"/>
          <p:cNvSpPr/>
          <p:nvPr/>
        </p:nvSpPr>
        <p:spPr>
          <a:xfrm flipH="false" flipV="false" rot="0">
            <a:off x="6226630" y="1735916"/>
            <a:ext cx="5835258" cy="4263034"/>
          </a:xfrm>
          <a:custGeom>
            <a:avLst/>
            <a:gdLst/>
            <a:ahLst/>
            <a:cxnLst/>
            <a:rect r="r" b="b" t="t" l="l"/>
            <a:pathLst>
              <a:path h="4263034" w="5835258">
                <a:moveTo>
                  <a:pt x="0" y="0"/>
                </a:moveTo>
                <a:lnTo>
                  <a:pt x="5835258" y="0"/>
                </a:lnTo>
                <a:lnTo>
                  <a:pt x="5835258" y="4263034"/>
                </a:lnTo>
                <a:lnTo>
                  <a:pt x="0" y="4263034"/>
                </a:lnTo>
                <a:lnTo>
                  <a:pt x="0" y="0"/>
                </a:lnTo>
                <a:close/>
              </a:path>
            </a:pathLst>
          </a:custGeom>
          <a:blipFill>
            <a:blip r:embed="rId6"/>
            <a:stretch>
              <a:fillRect l="-4270" t="0" r="-3284" b="0"/>
            </a:stretch>
          </a:blipFill>
        </p:spPr>
      </p:sp>
      <p:sp>
        <p:nvSpPr>
          <p:cNvPr name="TextBox 8" id="8"/>
          <p:cNvSpPr txBox="true"/>
          <p:nvPr/>
        </p:nvSpPr>
        <p:spPr>
          <a:xfrm rot="0">
            <a:off x="838200" y="425596"/>
            <a:ext cx="752673" cy="148590"/>
          </a:xfrm>
          <a:prstGeom prst="rect">
            <a:avLst/>
          </a:prstGeom>
        </p:spPr>
        <p:txBody>
          <a:bodyPr anchor="t" rtlCol="false" tIns="0" lIns="0" bIns="0" rIns="0">
            <a:spAutoFit/>
          </a:bodyPr>
          <a:lstStyle/>
          <a:p>
            <a:pPr algn="l">
              <a:lnSpc>
                <a:spcPts val="1260"/>
              </a:lnSpc>
            </a:pPr>
            <a:r>
              <a:rPr lang="en-US" sz="900" spc="0">
                <a:solidFill>
                  <a:srgbClr val="0E7490"/>
                </a:solidFill>
                <a:latin typeface="Aptos"/>
                <a:ea typeface="Aptos"/>
                <a:cs typeface="Aptos"/>
                <a:sym typeface="Aptos"/>
              </a:rPr>
              <a:t>BACKGROUND</a:t>
            </a:r>
          </a:p>
        </p:txBody>
      </p:sp>
      <p:sp>
        <p:nvSpPr>
          <p:cNvPr name="TextBox 9" id="9"/>
          <p:cNvSpPr txBox="true"/>
          <p:nvPr/>
        </p:nvSpPr>
        <p:spPr>
          <a:xfrm rot="0">
            <a:off x="2390120" y="600075"/>
            <a:ext cx="7939882" cy="778349"/>
          </a:xfrm>
          <a:prstGeom prst="rect">
            <a:avLst/>
          </a:prstGeom>
        </p:spPr>
        <p:txBody>
          <a:bodyPr anchor="t" rtlCol="false" tIns="0" lIns="0" bIns="0" rIns="0">
            <a:spAutoFit/>
          </a:bodyPr>
          <a:lstStyle/>
          <a:p>
            <a:pPr algn="l">
              <a:lnSpc>
                <a:spcPts val="6448"/>
              </a:lnSpc>
            </a:pPr>
            <a:r>
              <a:rPr lang="en-US" sz="4606">
                <a:solidFill>
                  <a:srgbClr val="0F172A"/>
                </a:solidFill>
                <a:latin typeface="Aptos"/>
                <a:ea typeface="Aptos"/>
                <a:cs typeface="Aptos"/>
                <a:sym typeface="Aptos"/>
              </a:rPr>
              <a:t>Price Performance Comparison</a:t>
            </a:r>
          </a:p>
        </p:txBody>
      </p:sp>
      <p:sp>
        <p:nvSpPr>
          <p:cNvPr name="TextBox 10" id="10"/>
          <p:cNvSpPr txBox="true"/>
          <p:nvPr/>
        </p:nvSpPr>
        <p:spPr>
          <a:xfrm rot="0">
            <a:off x="533400" y="6334506"/>
            <a:ext cx="1949148"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MachineLearningFinalBanget (1).ipynb</a:t>
            </a:r>
          </a:p>
        </p:txBody>
      </p:sp>
      <p:sp>
        <p:nvSpPr>
          <p:cNvPr name="TextBox 11" id="11"/>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02</a:t>
            </a:r>
          </a:p>
        </p:txBody>
      </p:sp>
      <p:sp>
        <p:nvSpPr>
          <p:cNvPr name="TextBox 12" id="12"/>
          <p:cNvSpPr txBox="true"/>
          <p:nvPr/>
        </p:nvSpPr>
        <p:spPr>
          <a:xfrm rot="0">
            <a:off x="838200" y="2005682"/>
            <a:ext cx="4901206" cy="637375"/>
          </a:xfrm>
          <a:prstGeom prst="rect">
            <a:avLst/>
          </a:prstGeom>
        </p:spPr>
        <p:txBody>
          <a:bodyPr anchor="t" rtlCol="false" tIns="0" lIns="0" bIns="0" rIns="0">
            <a:spAutoFit/>
          </a:bodyPr>
          <a:lstStyle/>
          <a:p>
            <a:pPr algn="just">
              <a:lnSpc>
                <a:spcPts val="2526"/>
              </a:lnSpc>
            </a:pPr>
            <a:r>
              <a:rPr lang="en-US" sz="2100">
                <a:solidFill>
                  <a:srgbClr val="84BF2A"/>
                </a:solidFill>
                <a:latin typeface="Aptos"/>
                <a:ea typeface="Aptos"/>
                <a:cs typeface="Aptos"/>
                <a:sym typeface="Aptos"/>
              </a:rPr>
              <a:t>H</a:t>
            </a:r>
            <a:r>
              <a:rPr lang="en-US" sz="2100">
                <a:solidFill>
                  <a:srgbClr val="84BF2A"/>
                </a:solidFill>
                <a:latin typeface="Aptos"/>
                <a:ea typeface="Aptos"/>
                <a:cs typeface="Aptos"/>
                <a:sym typeface="Aptos"/>
              </a:rPr>
              <a:t>istorical analysis of NVDA prices against national market movements (US Market).</a:t>
            </a:r>
          </a:p>
        </p:txBody>
      </p:sp>
      <p:sp>
        <p:nvSpPr>
          <p:cNvPr name="TextBox 13" id="13"/>
          <p:cNvSpPr txBox="true"/>
          <p:nvPr/>
        </p:nvSpPr>
        <p:spPr>
          <a:xfrm rot="0">
            <a:off x="838200" y="3219918"/>
            <a:ext cx="4901206" cy="1066114"/>
          </a:xfrm>
          <a:prstGeom prst="rect">
            <a:avLst/>
          </a:prstGeom>
        </p:spPr>
        <p:txBody>
          <a:bodyPr anchor="t" rtlCol="false" tIns="0" lIns="0" bIns="0" rIns="0">
            <a:spAutoFit/>
          </a:bodyPr>
          <a:lstStyle/>
          <a:p>
            <a:pPr algn="just">
              <a:lnSpc>
                <a:spcPts val="2165"/>
              </a:lnSpc>
            </a:pPr>
            <a:r>
              <a:rPr lang="en-US" sz="1800">
                <a:solidFill>
                  <a:srgbClr val="000000"/>
                </a:solidFill>
                <a:latin typeface="Aptos"/>
                <a:ea typeface="Aptos"/>
                <a:cs typeface="Aptos"/>
                <a:sym typeface="Aptos"/>
              </a:rPr>
              <a:t>There will be an ex</a:t>
            </a:r>
            <a:r>
              <a:rPr lang="en-US" sz="1800">
                <a:solidFill>
                  <a:srgbClr val="000000"/>
                </a:solidFill>
                <a:latin typeface="Aptos"/>
                <a:ea typeface="Aptos"/>
                <a:cs typeface="Aptos"/>
                <a:sym typeface="Aptos"/>
              </a:rPr>
              <a:t>ponential surge in the 2023-2026 period driven by the AI ​​cycle. This requires ML models to be highly sensitive to white-noise data.</a:t>
            </a:r>
          </a:p>
        </p:txBody>
      </p:sp>
      <p:sp>
        <p:nvSpPr>
          <p:cNvPr name="TextBox 14" id="14"/>
          <p:cNvSpPr txBox="true"/>
          <p:nvPr/>
        </p:nvSpPr>
        <p:spPr>
          <a:xfrm rot="0">
            <a:off x="838200" y="4815269"/>
            <a:ext cx="4901206" cy="799414"/>
          </a:xfrm>
          <a:prstGeom prst="rect">
            <a:avLst/>
          </a:prstGeom>
        </p:spPr>
        <p:txBody>
          <a:bodyPr anchor="t" rtlCol="false" tIns="0" lIns="0" bIns="0" rIns="0">
            <a:spAutoFit/>
          </a:bodyPr>
          <a:lstStyle/>
          <a:p>
            <a:pPr algn="just">
              <a:lnSpc>
                <a:spcPts val="2165"/>
              </a:lnSpc>
            </a:pPr>
            <a:r>
              <a:rPr lang="en-US" sz="1800">
                <a:solidFill>
                  <a:srgbClr val="000000"/>
                </a:solidFill>
                <a:latin typeface="Aptos"/>
                <a:ea typeface="Aptos"/>
                <a:cs typeface="Aptos"/>
                <a:sym typeface="Aptos"/>
              </a:rPr>
              <a:t>The accuracy</a:t>
            </a:r>
            <a:r>
              <a:rPr lang="en-US" sz="1800">
                <a:solidFill>
                  <a:srgbClr val="000000"/>
                </a:solidFill>
                <a:latin typeface="Aptos"/>
                <a:ea typeface="Aptos"/>
                <a:cs typeface="Aptos"/>
                <a:sym typeface="Aptos"/>
              </a:rPr>
              <a:t> of the regression model is highly influenced by exogenous features such as the VIX and SMH Index to maintain temporal validity.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17534" y="1798634"/>
            <a:ext cx="9322308" cy="3536947"/>
          </a:xfrm>
          <a:custGeom>
            <a:avLst/>
            <a:gdLst/>
            <a:ahLst/>
            <a:cxnLst/>
            <a:rect r="r" b="b" t="t" l="l"/>
            <a:pathLst>
              <a:path h="3536947" w="9322308">
                <a:moveTo>
                  <a:pt x="0" y="0"/>
                </a:moveTo>
                <a:lnTo>
                  <a:pt x="9322308" y="0"/>
                </a:lnTo>
                <a:lnTo>
                  <a:pt x="9322308" y="3536947"/>
                </a:lnTo>
                <a:lnTo>
                  <a:pt x="0" y="353694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838200" y="425596"/>
            <a:ext cx="1208884" cy="156801"/>
          </a:xfrm>
          <a:prstGeom prst="rect">
            <a:avLst/>
          </a:prstGeom>
        </p:spPr>
        <p:txBody>
          <a:bodyPr anchor="t" rtlCol="false" tIns="0" lIns="0" bIns="0" rIns="0">
            <a:spAutoFit/>
          </a:bodyPr>
          <a:lstStyle/>
          <a:p>
            <a:pPr algn="l">
              <a:lnSpc>
                <a:spcPts val="1260"/>
              </a:lnSpc>
            </a:pPr>
            <a:r>
              <a:rPr lang="en-US" sz="900" spc="0">
                <a:solidFill>
                  <a:srgbClr val="0E7490"/>
                </a:solidFill>
                <a:latin typeface="Aptos"/>
                <a:ea typeface="Aptos"/>
                <a:cs typeface="Aptos"/>
                <a:sym typeface="Aptos"/>
              </a:rPr>
              <a:t>URGENCY &amp; STATISTIC</a:t>
            </a:r>
          </a:p>
        </p:txBody>
      </p:sp>
      <p:sp>
        <p:nvSpPr>
          <p:cNvPr name="TextBox 6" id="6"/>
          <p:cNvSpPr txBox="true"/>
          <p:nvPr/>
        </p:nvSpPr>
        <p:spPr>
          <a:xfrm rot="0">
            <a:off x="5151758" y="1084393"/>
            <a:ext cx="1052016" cy="398008"/>
          </a:xfrm>
          <a:prstGeom prst="rect">
            <a:avLst/>
          </a:prstGeom>
        </p:spPr>
        <p:txBody>
          <a:bodyPr anchor="t" rtlCol="false" tIns="0" lIns="0" bIns="0" rIns="0">
            <a:spAutoFit/>
          </a:bodyPr>
          <a:lstStyle/>
          <a:p>
            <a:pPr algn="l">
              <a:lnSpc>
                <a:spcPts val="3262"/>
              </a:lnSpc>
            </a:pPr>
            <a:r>
              <a:rPr lang="en-US" sz="2330">
                <a:solidFill>
                  <a:srgbClr val="0F172A"/>
                </a:solidFill>
                <a:latin typeface="Aptos"/>
                <a:ea typeface="Aptos"/>
                <a:cs typeface="Aptos"/>
                <a:sym typeface="Aptos"/>
              </a:rPr>
              <a:t>Urgency</a:t>
            </a:r>
          </a:p>
        </p:txBody>
      </p:sp>
      <p:sp>
        <p:nvSpPr>
          <p:cNvPr name="TextBox 7" id="7"/>
          <p:cNvSpPr txBox="true"/>
          <p:nvPr/>
        </p:nvSpPr>
        <p:spPr>
          <a:xfrm rot="0">
            <a:off x="800100" y="2017614"/>
            <a:ext cx="9045959" cy="2856777"/>
          </a:xfrm>
          <a:prstGeom prst="rect">
            <a:avLst/>
          </a:prstGeom>
        </p:spPr>
        <p:txBody>
          <a:bodyPr anchor="t" rtlCol="false" tIns="0" lIns="0" bIns="0" rIns="0">
            <a:spAutoFit/>
          </a:bodyPr>
          <a:lstStyle/>
          <a:p>
            <a:pPr algn="l">
              <a:lnSpc>
                <a:spcPts val="2283"/>
              </a:lnSpc>
            </a:pPr>
            <a:r>
              <a:rPr lang="en-US" sz="1898">
                <a:solidFill>
                  <a:srgbClr val="0F172A"/>
                </a:solidFill>
                <a:latin typeface="Aptos"/>
                <a:ea typeface="Aptos"/>
                <a:cs typeface="Aptos"/>
                <a:sym typeface="Aptos"/>
              </a:rPr>
              <a:t>1. NVIDIA's stock price often experiences rapid fluctuations along with technological developments, particularly in the fields of Artificial Intelligence and the semiconductor industry.</a:t>
            </a:r>
          </a:p>
          <a:p>
            <a:pPr algn="l">
              <a:lnSpc>
                <a:spcPts val="2283"/>
              </a:lnSpc>
            </a:pPr>
            <a:r>
              <a:rPr lang="en-US" sz="1898">
                <a:solidFill>
                  <a:srgbClr val="0F172A"/>
                </a:solidFill>
                <a:latin typeface="Aptos"/>
                <a:ea typeface="Aptos"/>
                <a:cs typeface="Aptos"/>
                <a:sym typeface="Aptos"/>
              </a:rPr>
              <a:t>2. Significant stock price changes can impact investor returns, making analysis of the percentage change in price (return percentage) important.</a:t>
            </a:r>
          </a:p>
          <a:p>
            <a:pPr algn="l">
              <a:lnSpc>
                <a:spcPts val="2283"/>
              </a:lnSpc>
            </a:pPr>
            <a:r>
              <a:rPr lang="en-US" sz="1898">
                <a:solidFill>
                  <a:srgbClr val="0F172A"/>
                </a:solidFill>
                <a:latin typeface="Aptos"/>
                <a:ea typeface="Aptos"/>
                <a:cs typeface="Aptos"/>
                <a:sym typeface="Aptos"/>
              </a:rPr>
              <a:t>3. Investors and analysts need methods that can help understand stock price change patterns based on historical data.</a:t>
            </a:r>
          </a:p>
          <a:p>
            <a:pPr algn="l">
              <a:lnSpc>
                <a:spcPts val="2283"/>
              </a:lnSpc>
            </a:pPr>
            <a:r>
              <a:rPr lang="en-US" sz="1898">
                <a:solidFill>
                  <a:srgbClr val="0F172A"/>
                </a:solidFill>
                <a:latin typeface="Aptos"/>
                <a:ea typeface="Aptos"/>
                <a:cs typeface="Aptos"/>
                <a:sym typeface="Aptos"/>
              </a:rPr>
              <a:t>4. By utilizing machine learning models, stock price change patterns can be studied from previous data, helping to provide an overview of possible future return movements.</a:t>
            </a:r>
          </a:p>
        </p:txBody>
      </p:sp>
      <p:sp>
        <p:nvSpPr>
          <p:cNvPr name="TextBox 8" id="8"/>
          <p:cNvSpPr txBox="true"/>
          <p:nvPr/>
        </p:nvSpPr>
        <p:spPr>
          <a:xfrm rot="0">
            <a:off x="2298830" y="5391226"/>
            <a:ext cx="37548" cy="237620"/>
          </a:xfrm>
          <a:prstGeom prst="rect">
            <a:avLst/>
          </a:prstGeom>
        </p:spPr>
        <p:txBody>
          <a:bodyPr anchor="t" rtlCol="false" tIns="0" lIns="0" bIns="0" rIns="0">
            <a:spAutoFit/>
          </a:bodyPr>
          <a:lstStyle/>
          <a:p>
            <a:pPr algn="l">
              <a:lnSpc>
                <a:spcPts val="1999"/>
              </a:lnSpc>
            </a:pPr>
            <a:r>
              <a:rPr lang="en-US" sz="1427">
                <a:solidFill>
                  <a:srgbClr val="0F172A"/>
                </a:solidFill>
                <a:latin typeface="Aptos"/>
                <a:ea typeface="Aptos"/>
                <a:cs typeface="Aptos"/>
                <a:sym typeface="Aptos"/>
              </a:rPr>
              <a:t> </a:t>
            </a:r>
          </a:p>
        </p:txBody>
      </p:sp>
      <p:sp>
        <p:nvSpPr>
          <p:cNvPr name="TextBox 9" id="9"/>
          <p:cNvSpPr txBox="true"/>
          <p:nvPr/>
        </p:nvSpPr>
        <p:spPr>
          <a:xfrm rot="0">
            <a:off x="800100" y="5391226"/>
            <a:ext cx="10188873" cy="230429"/>
          </a:xfrm>
          <a:prstGeom prst="rect">
            <a:avLst/>
          </a:prstGeom>
        </p:spPr>
        <p:txBody>
          <a:bodyPr anchor="t" rtlCol="false" tIns="0" lIns="0" bIns="0" rIns="0">
            <a:spAutoFit/>
          </a:bodyPr>
          <a:lstStyle/>
          <a:p>
            <a:pPr algn="l">
              <a:lnSpc>
                <a:spcPts val="1999"/>
              </a:lnSpc>
            </a:pPr>
            <a:r>
              <a:rPr lang="en-US" sz="1427">
                <a:solidFill>
                  <a:srgbClr val="0F172A"/>
                </a:solidFill>
                <a:latin typeface="Aptos"/>
                <a:ea typeface="Aptos"/>
                <a:cs typeface="Aptos"/>
                <a:sym typeface="Aptos"/>
              </a:rPr>
              <a:t>Takeaway: This research is important because it tests whether the latest market features and XAI can make NVDA predictions more</a:t>
            </a:r>
          </a:p>
        </p:txBody>
      </p:sp>
      <p:sp>
        <p:nvSpPr>
          <p:cNvPr name="TextBox 10" id="10"/>
          <p:cNvSpPr txBox="true"/>
          <p:nvPr/>
        </p:nvSpPr>
        <p:spPr>
          <a:xfrm rot="0">
            <a:off x="800100" y="5607587"/>
            <a:ext cx="2852936" cy="478079"/>
          </a:xfrm>
          <a:prstGeom prst="rect">
            <a:avLst/>
          </a:prstGeom>
        </p:spPr>
        <p:txBody>
          <a:bodyPr anchor="t" rtlCol="false" tIns="0" lIns="0" bIns="0" rIns="0">
            <a:spAutoFit/>
          </a:bodyPr>
          <a:lstStyle/>
          <a:p>
            <a:pPr algn="l">
              <a:lnSpc>
                <a:spcPts val="1999"/>
              </a:lnSpc>
            </a:pPr>
            <a:r>
              <a:rPr lang="en-US" sz="1428">
                <a:solidFill>
                  <a:srgbClr val="0F172A"/>
                </a:solidFill>
                <a:latin typeface="Aptos"/>
                <a:ea typeface="Aptos"/>
                <a:cs typeface="Aptos"/>
                <a:sym typeface="Aptos"/>
              </a:rPr>
              <a:t>transparent in the period 1999-2026.</a:t>
            </a:r>
          </a:p>
          <a:p>
            <a:pPr algn="l">
              <a:lnSpc>
                <a:spcPts val="1999"/>
              </a:lnSpc>
            </a:pPr>
          </a:p>
        </p:txBody>
      </p:sp>
      <p:sp>
        <p:nvSpPr>
          <p:cNvPr name="TextBox 11" id="11"/>
          <p:cNvSpPr txBox="true"/>
          <p:nvPr/>
        </p:nvSpPr>
        <p:spPr>
          <a:xfrm rot="0">
            <a:off x="533400" y="6334506"/>
            <a:ext cx="2224535"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notebook output and final evaluation metrics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74684" y="1779584"/>
            <a:ext cx="4899022" cy="1317622"/>
          </a:xfrm>
          <a:custGeom>
            <a:avLst/>
            <a:gdLst/>
            <a:ahLst/>
            <a:cxnLst/>
            <a:rect r="r" b="b" t="t" l="l"/>
            <a:pathLst>
              <a:path h="1317622" w="4899022">
                <a:moveTo>
                  <a:pt x="0" y="0"/>
                </a:moveTo>
                <a:lnTo>
                  <a:pt x="4899022" y="0"/>
                </a:lnTo>
                <a:lnTo>
                  <a:pt x="4899022" y="1317622"/>
                </a:lnTo>
                <a:lnTo>
                  <a:pt x="0" y="13176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74684" y="3398834"/>
            <a:ext cx="4899022" cy="1317622"/>
          </a:xfrm>
          <a:custGeom>
            <a:avLst/>
            <a:gdLst/>
            <a:ahLst/>
            <a:cxnLst/>
            <a:rect r="r" b="b" t="t" l="l"/>
            <a:pathLst>
              <a:path h="1317622" w="4899022">
                <a:moveTo>
                  <a:pt x="0" y="0"/>
                </a:moveTo>
                <a:lnTo>
                  <a:pt x="4899022" y="0"/>
                </a:lnTo>
                <a:lnTo>
                  <a:pt x="4899022" y="1317622"/>
                </a:lnTo>
                <a:lnTo>
                  <a:pt x="0" y="1317622"/>
                </a:lnTo>
                <a:lnTo>
                  <a:pt x="0" y="0"/>
                </a:lnTo>
                <a:close/>
              </a:path>
            </a:pathLst>
          </a:custGeom>
          <a:blipFill>
            <a:blip r:embed="rId4">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6008684" y="1779584"/>
            <a:ext cx="4899022" cy="1317622"/>
          </a:xfrm>
          <a:custGeom>
            <a:avLst/>
            <a:gdLst/>
            <a:ahLst/>
            <a:cxnLst/>
            <a:rect r="r" b="b" t="t" l="l"/>
            <a:pathLst>
              <a:path h="1317622" w="4899022">
                <a:moveTo>
                  <a:pt x="0" y="0"/>
                </a:moveTo>
                <a:lnTo>
                  <a:pt x="4899022" y="0"/>
                </a:lnTo>
                <a:lnTo>
                  <a:pt x="4899022" y="1317622"/>
                </a:lnTo>
                <a:lnTo>
                  <a:pt x="0" y="1317622"/>
                </a:lnTo>
                <a:lnTo>
                  <a:pt x="0" y="0"/>
                </a:lnTo>
                <a:close/>
              </a:path>
            </a:pathLst>
          </a:custGeom>
          <a:blipFill>
            <a:blip r:embed="rId4">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6008684" y="3398834"/>
            <a:ext cx="4899022" cy="1317622"/>
          </a:xfrm>
          <a:custGeom>
            <a:avLst/>
            <a:gdLst/>
            <a:ahLst/>
            <a:cxnLst/>
            <a:rect r="r" b="b" t="t" l="l"/>
            <a:pathLst>
              <a:path h="1317622" w="4899022">
                <a:moveTo>
                  <a:pt x="0" y="0"/>
                </a:moveTo>
                <a:lnTo>
                  <a:pt x="4899022" y="0"/>
                </a:lnTo>
                <a:lnTo>
                  <a:pt x="4899022" y="1317622"/>
                </a:lnTo>
                <a:lnTo>
                  <a:pt x="0" y="1317622"/>
                </a:lnTo>
                <a:lnTo>
                  <a:pt x="0" y="0"/>
                </a:lnTo>
                <a:close/>
              </a:path>
            </a:pathLst>
          </a:custGeom>
          <a:blipFill>
            <a:blip r:embed="rId4">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838200" y="425596"/>
            <a:ext cx="1136650" cy="148590"/>
          </a:xfrm>
          <a:prstGeom prst="rect">
            <a:avLst/>
          </a:prstGeom>
        </p:spPr>
        <p:txBody>
          <a:bodyPr anchor="t" rtlCol="false" tIns="0" lIns="0" bIns="0" rIns="0">
            <a:spAutoFit/>
          </a:bodyPr>
          <a:lstStyle/>
          <a:p>
            <a:pPr algn="l">
              <a:lnSpc>
                <a:spcPts val="1260"/>
              </a:lnSpc>
            </a:pPr>
            <a:r>
              <a:rPr lang="en-US" sz="900">
                <a:solidFill>
                  <a:srgbClr val="0E7490"/>
                </a:solidFill>
                <a:latin typeface="Aptos"/>
                <a:ea typeface="Aptos"/>
                <a:cs typeface="Aptos"/>
                <a:sym typeface="Aptos"/>
              </a:rPr>
              <a:t>RESEARCH PURPOSES</a:t>
            </a:r>
          </a:p>
        </p:txBody>
      </p:sp>
      <p:sp>
        <p:nvSpPr>
          <p:cNvPr name="TextBox 9" id="9"/>
          <p:cNvSpPr txBox="true"/>
          <p:nvPr/>
        </p:nvSpPr>
        <p:spPr>
          <a:xfrm rot="0">
            <a:off x="533400" y="693639"/>
            <a:ext cx="10047846" cy="824865"/>
          </a:xfrm>
          <a:prstGeom prst="rect">
            <a:avLst/>
          </a:prstGeom>
        </p:spPr>
        <p:txBody>
          <a:bodyPr anchor="t" rtlCol="false" tIns="0" lIns="0" bIns="0" rIns="0">
            <a:spAutoFit/>
          </a:bodyPr>
          <a:lstStyle/>
          <a:p>
            <a:pPr algn="l">
              <a:lnSpc>
                <a:spcPts val="3359"/>
              </a:lnSpc>
            </a:pPr>
            <a:r>
              <a:rPr lang="en-US" sz="2400">
                <a:solidFill>
                  <a:srgbClr val="0F172A"/>
                </a:solidFill>
                <a:latin typeface="Aptos"/>
                <a:ea typeface="Aptos"/>
                <a:cs typeface="Aptos"/>
                <a:sym typeface="Aptos"/>
              </a:rPr>
              <a:t>Research o</a:t>
            </a:r>
            <a:r>
              <a:rPr lang="en-US" sz="2400">
                <a:solidFill>
                  <a:srgbClr val="0F172A"/>
                </a:solidFill>
                <a:latin typeface="Aptos"/>
                <a:ea typeface="Aptos"/>
                <a:cs typeface="Aptos"/>
                <a:sym typeface="Aptos"/>
              </a:rPr>
              <a:t>utputs focus on pipelines, model evaluation, and interpretation of results.</a:t>
            </a:r>
          </a:p>
        </p:txBody>
      </p:sp>
      <p:sp>
        <p:nvSpPr>
          <p:cNvPr name="TextBox 10" id="10"/>
          <p:cNvSpPr txBox="true"/>
          <p:nvPr/>
        </p:nvSpPr>
        <p:spPr>
          <a:xfrm rot="0">
            <a:off x="866851" y="1922059"/>
            <a:ext cx="251822" cy="313601"/>
          </a:xfrm>
          <a:prstGeom prst="rect">
            <a:avLst/>
          </a:prstGeom>
        </p:spPr>
        <p:txBody>
          <a:bodyPr anchor="t" rtlCol="false" tIns="0" lIns="0" bIns="0" rIns="0">
            <a:spAutoFit/>
          </a:bodyPr>
          <a:lstStyle/>
          <a:p>
            <a:pPr algn="l">
              <a:lnSpc>
                <a:spcPts val="2520"/>
              </a:lnSpc>
            </a:pPr>
            <a:r>
              <a:rPr lang="en-US" sz="1800">
                <a:solidFill>
                  <a:srgbClr val="0E7490"/>
                </a:solidFill>
                <a:latin typeface="Aptos"/>
                <a:ea typeface="Aptos"/>
                <a:cs typeface="Aptos"/>
                <a:sym typeface="Aptos"/>
              </a:rPr>
              <a:t>01</a:t>
            </a:r>
          </a:p>
        </p:txBody>
      </p:sp>
      <p:sp>
        <p:nvSpPr>
          <p:cNvPr name="TextBox 11" id="11"/>
          <p:cNvSpPr txBox="true"/>
          <p:nvPr/>
        </p:nvSpPr>
        <p:spPr>
          <a:xfrm rot="0">
            <a:off x="6201413" y="1988734"/>
            <a:ext cx="251822" cy="492490"/>
          </a:xfrm>
          <a:prstGeom prst="rect">
            <a:avLst/>
          </a:prstGeom>
        </p:spPr>
        <p:txBody>
          <a:bodyPr anchor="t" rtlCol="false" tIns="0" lIns="0" bIns="0" rIns="0">
            <a:spAutoFit/>
          </a:bodyPr>
          <a:lstStyle/>
          <a:p>
            <a:pPr algn="r">
              <a:lnSpc>
                <a:spcPts val="1866"/>
              </a:lnSpc>
            </a:pPr>
            <a:r>
              <a:rPr lang="en-US" sz="1800">
                <a:solidFill>
                  <a:srgbClr val="0E7490"/>
                </a:solidFill>
                <a:latin typeface="Aptos"/>
                <a:ea typeface="Aptos"/>
                <a:cs typeface="Aptos"/>
                <a:sym typeface="Aptos"/>
              </a:rPr>
              <a:t>02</a:t>
            </a:r>
          </a:p>
          <a:p>
            <a:pPr algn="r">
              <a:lnSpc>
                <a:spcPts val="2279"/>
              </a:lnSpc>
            </a:pPr>
            <a:r>
              <a:rPr lang="en-US" sz="911">
                <a:solidFill>
                  <a:srgbClr val="475569"/>
                </a:solidFill>
                <a:latin typeface="Aptos"/>
                <a:ea typeface="Aptos"/>
                <a:cs typeface="Aptos"/>
                <a:sym typeface="Aptos"/>
              </a:rPr>
              <a:t> </a:t>
            </a:r>
          </a:p>
        </p:txBody>
      </p:sp>
      <p:sp>
        <p:nvSpPr>
          <p:cNvPr name="TextBox 12" id="12"/>
          <p:cNvSpPr txBox="true"/>
          <p:nvPr/>
        </p:nvSpPr>
        <p:spPr>
          <a:xfrm rot="0">
            <a:off x="1238402" y="1980038"/>
            <a:ext cx="1682155" cy="407670"/>
          </a:xfrm>
          <a:prstGeom prst="rect">
            <a:avLst/>
          </a:prstGeom>
        </p:spPr>
        <p:txBody>
          <a:bodyPr anchor="t" rtlCol="false" tIns="0" lIns="0" bIns="0" rIns="0">
            <a:spAutoFit/>
          </a:bodyPr>
          <a:lstStyle/>
          <a:p>
            <a:pPr algn="l">
              <a:lnSpc>
                <a:spcPts val="1679"/>
              </a:lnSpc>
            </a:pPr>
            <a:r>
              <a:rPr lang="en-US" sz="1200">
                <a:solidFill>
                  <a:srgbClr val="0F172A"/>
                </a:solidFill>
                <a:latin typeface="Aptos"/>
                <a:ea typeface="Aptos"/>
                <a:cs typeface="Aptos"/>
                <a:sym typeface="Aptos"/>
              </a:rPr>
              <a:t>Buildi</a:t>
            </a:r>
            <a:r>
              <a:rPr lang="en-US" sz="1200">
                <a:solidFill>
                  <a:srgbClr val="0F172A"/>
                </a:solidFill>
                <a:latin typeface="Aptos"/>
                <a:ea typeface="Aptos"/>
                <a:cs typeface="Aptos"/>
                <a:sym typeface="Aptos"/>
              </a:rPr>
              <a:t>ng an NVDA dataset</a:t>
            </a:r>
          </a:p>
          <a:p>
            <a:pPr algn="l">
              <a:lnSpc>
                <a:spcPts val="1679"/>
              </a:lnSpc>
            </a:pPr>
          </a:p>
        </p:txBody>
      </p:sp>
      <p:sp>
        <p:nvSpPr>
          <p:cNvPr name="TextBox 13" id="13"/>
          <p:cNvSpPr txBox="true"/>
          <p:nvPr/>
        </p:nvSpPr>
        <p:spPr>
          <a:xfrm rot="0">
            <a:off x="6573012" y="1980038"/>
            <a:ext cx="1222772" cy="198120"/>
          </a:xfrm>
          <a:prstGeom prst="rect">
            <a:avLst/>
          </a:prstGeom>
        </p:spPr>
        <p:txBody>
          <a:bodyPr anchor="t" rtlCol="false" tIns="0" lIns="0" bIns="0" rIns="0">
            <a:spAutoFit/>
          </a:bodyPr>
          <a:lstStyle/>
          <a:p>
            <a:pPr algn="l">
              <a:lnSpc>
                <a:spcPts val="1679"/>
              </a:lnSpc>
            </a:pPr>
            <a:r>
              <a:rPr lang="en-US" sz="1200">
                <a:solidFill>
                  <a:srgbClr val="0F172A"/>
                </a:solidFill>
                <a:latin typeface="Aptos"/>
                <a:ea typeface="Aptos"/>
                <a:cs typeface="Aptos"/>
                <a:sym typeface="Aptos"/>
              </a:rPr>
              <a:t>T</a:t>
            </a:r>
            <a:r>
              <a:rPr lang="en-US" sz="1200">
                <a:solidFill>
                  <a:srgbClr val="0F172A"/>
                </a:solidFill>
                <a:latin typeface="Aptos"/>
                <a:ea typeface="Aptos"/>
                <a:cs typeface="Aptos"/>
                <a:sym typeface="Aptos"/>
              </a:rPr>
              <a:t>esting ML models</a:t>
            </a:r>
          </a:p>
        </p:txBody>
      </p:sp>
      <p:sp>
        <p:nvSpPr>
          <p:cNvPr name="TextBox 14" id="14"/>
          <p:cNvSpPr txBox="true"/>
          <p:nvPr/>
        </p:nvSpPr>
        <p:spPr>
          <a:xfrm rot="0">
            <a:off x="914400" y="3943093"/>
            <a:ext cx="4053780" cy="157810"/>
          </a:xfrm>
          <a:prstGeom prst="rect">
            <a:avLst/>
          </a:prstGeom>
        </p:spPr>
        <p:txBody>
          <a:bodyPr anchor="t" rtlCol="false" tIns="0" lIns="0" bIns="0" rIns="0">
            <a:spAutoFit/>
          </a:bodyPr>
          <a:lstStyle/>
          <a:p>
            <a:pPr algn="l">
              <a:lnSpc>
                <a:spcPts val="1276"/>
              </a:lnSpc>
            </a:pPr>
            <a:r>
              <a:rPr lang="en-US" sz="911">
                <a:solidFill>
                  <a:srgbClr val="475569"/>
                </a:solidFill>
                <a:latin typeface="Aptos"/>
                <a:ea typeface="Aptos"/>
                <a:cs typeface="Aptos"/>
                <a:sym typeface="Aptos"/>
              </a:rPr>
              <a:t>Measuring return metrics and price rolling metrics over the last 3 months window.</a:t>
            </a:r>
          </a:p>
        </p:txBody>
      </p:sp>
      <p:sp>
        <p:nvSpPr>
          <p:cNvPr name="TextBox 15" id="15"/>
          <p:cNvSpPr txBox="true"/>
          <p:nvPr/>
        </p:nvSpPr>
        <p:spPr>
          <a:xfrm rot="0">
            <a:off x="914400" y="2332987"/>
            <a:ext cx="4215374" cy="274951"/>
          </a:xfrm>
          <a:prstGeom prst="rect">
            <a:avLst/>
          </a:prstGeom>
        </p:spPr>
        <p:txBody>
          <a:bodyPr anchor="t" rtlCol="false" tIns="0" lIns="0" bIns="0" rIns="0">
            <a:spAutoFit/>
          </a:bodyPr>
          <a:lstStyle/>
          <a:p>
            <a:pPr algn="l">
              <a:lnSpc>
                <a:spcPts val="1104"/>
              </a:lnSpc>
            </a:pPr>
            <a:r>
              <a:rPr lang="en-US" sz="911" spc="0">
                <a:solidFill>
                  <a:srgbClr val="475569"/>
                </a:solidFill>
                <a:latin typeface="Aptos"/>
                <a:ea typeface="Aptos"/>
                <a:cs typeface="Aptos"/>
                <a:sym typeface="Aptos"/>
              </a:rPr>
              <a:t>Com</a:t>
            </a:r>
            <a:r>
              <a:rPr lang="en-US" sz="911" spc="0">
                <a:solidFill>
                  <a:srgbClr val="475569"/>
                </a:solidFill>
                <a:latin typeface="Aptos"/>
                <a:ea typeface="Aptos"/>
                <a:cs typeface="Aptos"/>
                <a:sym typeface="Aptos"/>
              </a:rPr>
              <a:t>bines OHLCV, VIX, SMH, volatility proxy, earnings, lag, volume flow, and relative strength.</a:t>
            </a:r>
          </a:p>
        </p:txBody>
      </p:sp>
      <p:sp>
        <p:nvSpPr>
          <p:cNvPr name="TextBox 16" id="16"/>
          <p:cNvSpPr txBox="true"/>
          <p:nvPr/>
        </p:nvSpPr>
        <p:spPr>
          <a:xfrm rot="0">
            <a:off x="6249286" y="3952618"/>
            <a:ext cx="4093454" cy="274951"/>
          </a:xfrm>
          <a:prstGeom prst="rect">
            <a:avLst/>
          </a:prstGeom>
        </p:spPr>
        <p:txBody>
          <a:bodyPr anchor="t" rtlCol="false" tIns="0" lIns="0" bIns="0" rIns="0">
            <a:spAutoFit/>
          </a:bodyPr>
          <a:lstStyle/>
          <a:p>
            <a:pPr algn="l">
              <a:lnSpc>
                <a:spcPts val="1104"/>
              </a:lnSpc>
            </a:pPr>
            <a:r>
              <a:rPr lang="en-US" sz="911" spc="0">
                <a:solidFill>
                  <a:srgbClr val="475569"/>
                </a:solidFill>
                <a:latin typeface="Aptos"/>
                <a:ea typeface="Aptos"/>
                <a:cs typeface="Aptos"/>
                <a:sym typeface="Aptos"/>
              </a:rPr>
              <a:t>Cr</a:t>
            </a:r>
            <a:r>
              <a:rPr lang="en-US" sz="911" spc="0">
                <a:solidFill>
                  <a:srgbClr val="475569"/>
                </a:solidFill>
                <a:latin typeface="Aptos"/>
                <a:ea typeface="Aptos"/>
                <a:cs typeface="Aptos"/>
                <a:sym typeface="Aptos"/>
              </a:rPr>
              <a:t>eate a research gap and competitive table for CEEJ 2021 and supporting literature.</a:t>
            </a:r>
          </a:p>
        </p:txBody>
      </p:sp>
      <p:sp>
        <p:nvSpPr>
          <p:cNvPr name="TextBox 17" id="17"/>
          <p:cNvSpPr txBox="true"/>
          <p:nvPr/>
        </p:nvSpPr>
        <p:spPr>
          <a:xfrm rot="0">
            <a:off x="6249286" y="2323462"/>
            <a:ext cx="3977382" cy="157810"/>
          </a:xfrm>
          <a:prstGeom prst="rect">
            <a:avLst/>
          </a:prstGeom>
        </p:spPr>
        <p:txBody>
          <a:bodyPr anchor="t" rtlCol="false" tIns="0" lIns="0" bIns="0" rIns="0">
            <a:spAutoFit/>
          </a:bodyPr>
          <a:lstStyle/>
          <a:p>
            <a:pPr algn="l">
              <a:lnSpc>
                <a:spcPts val="1276"/>
              </a:lnSpc>
            </a:pPr>
            <a:r>
              <a:rPr lang="en-US" sz="911">
                <a:solidFill>
                  <a:srgbClr val="475569"/>
                </a:solidFill>
                <a:latin typeface="Aptos"/>
                <a:ea typeface="Aptos"/>
                <a:cs typeface="Aptos"/>
                <a:sym typeface="Aptos"/>
              </a:rPr>
              <a:t>RF,XGBoost, LightGBM, BiLSTM-Attention, Ridge, SVR, and Stacking Ridge Meta.</a:t>
            </a:r>
          </a:p>
        </p:txBody>
      </p:sp>
      <p:sp>
        <p:nvSpPr>
          <p:cNvPr name="TextBox 18" id="18"/>
          <p:cNvSpPr txBox="true"/>
          <p:nvPr/>
        </p:nvSpPr>
        <p:spPr>
          <a:xfrm rot="0">
            <a:off x="866851" y="3541147"/>
            <a:ext cx="251993" cy="313973"/>
          </a:xfrm>
          <a:prstGeom prst="rect">
            <a:avLst/>
          </a:prstGeom>
        </p:spPr>
        <p:txBody>
          <a:bodyPr anchor="t" rtlCol="false" tIns="0" lIns="0" bIns="0" rIns="0">
            <a:spAutoFit/>
          </a:bodyPr>
          <a:lstStyle/>
          <a:p>
            <a:pPr algn="l">
              <a:lnSpc>
                <a:spcPts val="2523"/>
              </a:lnSpc>
            </a:pPr>
            <a:r>
              <a:rPr lang="en-US" sz="1802">
                <a:solidFill>
                  <a:srgbClr val="16A34A"/>
                </a:solidFill>
                <a:latin typeface="Aptos"/>
                <a:ea typeface="Aptos"/>
                <a:cs typeface="Aptos"/>
                <a:sym typeface="Aptos"/>
              </a:rPr>
              <a:t>03</a:t>
            </a:r>
          </a:p>
        </p:txBody>
      </p:sp>
      <p:sp>
        <p:nvSpPr>
          <p:cNvPr name="TextBox 19" id="19"/>
          <p:cNvSpPr txBox="true"/>
          <p:nvPr/>
        </p:nvSpPr>
        <p:spPr>
          <a:xfrm rot="0">
            <a:off x="6201413" y="3541147"/>
            <a:ext cx="251993" cy="313973"/>
          </a:xfrm>
          <a:prstGeom prst="rect">
            <a:avLst/>
          </a:prstGeom>
        </p:spPr>
        <p:txBody>
          <a:bodyPr anchor="t" rtlCol="false" tIns="0" lIns="0" bIns="0" rIns="0">
            <a:spAutoFit/>
          </a:bodyPr>
          <a:lstStyle/>
          <a:p>
            <a:pPr algn="l">
              <a:lnSpc>
                <a:spcPts val="2523"/>
              </a:lnSpc>
            </a:pPr>
            <a:r>
              <a:rPr lang="en-US" sz="1802">
                <a:solidFill>
                  <a:srgbClr val="16A34A"/>
                </a:solidFill>
                <a:latin typeface="Aptos"/>
                <a:ea typeface="Aptos"/>
                <a:cs typeface="Aptos"/>
                <a:sym typeface="Aptos"/>
              </a:rPr>
              <a:t>04</a:t>
            </a:r>
          </a:p>
        </p:txBody>
      </p:sp>
      <p:sp>
        <p:nvSpPr>
          <p:cNvPr name="TextBox 20" id="20"/>
          <p:cNvSpPr txBox="true"/>
          <p:nvPr/>
        </p:nvSpPr>
        <p:spPr>
          <a:xfrm rot="0">
            <a:off x="1238402" y="3599136"/>
            <a:ext cx="1011238" cy="198059"/>
          </a:xfrm>
          <a:prstGeom prst="rect">
            <a:avLst/>
          </a:prstGeom>
        </p:spPr>
        <p:txBody>
          <a:bodyPr anchor="t" rtlCol="false" tIns="0" lIns="0" bIns="0" rIns="0">
            <a:spAutoFit/>
          </a:bodyPr>
          <a:lstStyle/>
          <a:p>
            <a:pPr algn="l">
              <a:lnSpc>
                <a:spcPts val="1683"/>
              </a:lnSpc>
            </a:pPr>
            <a:r>
              <a:rPr lang="en-US" sz="1202">
                <a:solidFill>
                  <a:srgbClr val="0F172A"/>
                </a:solidFill>
                <a:latin typeface="Aptos"/>
                <a:ea typeface="Aptos"/>
                <a:cs typeface="Aptos"/>
                <a:sym typeface="Aptos"/>
              </a:rPr>
              <a:t>E</a:t>
            </a:r>
            <a:r>
              <a:rPr lang="en-US" sz="1202">
                <a:solidFill>
                  <a:srgbClr val="0F172A"/>
                </a:solidFill>
                <a:latin typeface="Aptos"/>
                <a:ea typeface="Aptos"/>
                <a:cs typeface="Aptos"/>
                <a:sym typeface="Aptos"/>
              </a:rPr>
              <a:t>valuate rolling</a:t>
            </a:r>
          </a:p>
        </p:txBody>
      </p:sp>
      <p:sp>
        <p:nvSpPr>
          <p:cNvPr name="TextBox 21" id="21"/>
          <p:cNvSpPr txBox="true"/>
          <p:nvPr/>
        </p:nvSpPr>
        <p:spPr>
          <a:xfrm rot="0">
            <a:off x="6573012" y="3599136"/>
            <a:ext cx="1299766" cy="198059"/>
          </a:xfrm>
          <a:prstGeom prst="rect">
            <a:avLst/>
          </a:prstGeom>
        </p:spPr>
        <p:txBody>
          <a:bodyPr anchor="t" rtlCol="false" tIns="0" lIns="0" bIns="0" rIns="0">
            <a:spAutoFit/>
          </a:bodyPr>
          <a:lstStyle/>
          <a:p>
            <a:pPr algn="l">
              <a:lnSpc>
                <a:spcPts val="1683"/>
              </a:lnSpc>
            </a:pPr>
            <a:r>
              <a:rPr lang="en-US" sz="1202">
                <a:solidFill>
                  <a:srgbClr val="0F172A"/>
                </a:solidFill>
                <a:latin typeface="Aptos"/>
                <a:ea typeface="Aptos"/>
                <a:cs typeface="Aptos"/>
                <a:sym typeface="Aptos"/>
              </a:rPr>
              <a:t>Co</a:t>
            </a:r>
            <a:r>
              <a:rPr lang="en-US" sz="1202">
                <a:solidFill>
                  <a:srgbClr val="0F172A"/>
                </a:solidFill>
                <a:latin typeface="Aptos"/>
                <a:ea typeface="Aptos"/>
                <a:cs typeface="Aptos"/>
                <a:sym typeface="Aptos"/>
              </a:rPr>
              <a:t>mparing journals</a:t>
            </a:r>
          </a:p>
        </p:txBody>
      </p:sp>
      <p:sp>
        <p:nvSpPr>
          <p:cNvPr name="TextBox 22" id="22"/>
          <p:cNvSpPr txBox="true"/>
          <p:nvPr/>
        </p:nvSpPr>
        <p:spPr>
          <a:xfrm rot="0">
            <a:off x="876300" y="5276412"/>
            <a:ext cx="9895322" cy="475052"/>
          </a:xfrm>
          <a:prstGeom prst="rect">
            <a:avLst/>
          </a:prstGeom>
        </p:spPr>
        <p:txBody>
          <a:bodyPr anchor="t" rtlCol="false" tIns="0" lIns="0" bIns="0" rIns="0">
            <a:spAutoFit/>
          </a:bodyPr>
          <a:lstStyle/>
          <a:p>
            <a:pPr algn="l">
              <a:lnSpc>
                <a:spcPts val="1895"/>
              </a:lnSpc>
            </a:pPr>
            <a:r>
              <a:rPr lang="en-US" sz="1572" spc="1">
                <a:solidFill>
                  <a:srgbClr val="0F172A"/>
                </a:solidFill>
                <a:latin typeface="Aptos"/>
                <a:ea typeface="Aptos"/>
                <a:cs typeface="Aptos"/>
                <a:sym typeface="Aptos"/>
              </a:rPr>
              <a:t>I</a:t>
            </a:r>
            <a:r>
              <a:rPr lang="en-US" sz="1572" spc="1">
                <a:solidFill>
                  <a:srgbClr val="0F172A"/>
                </a:solidFill>
                <a:latin typeface="Aptos"/>
                <a:ea typeface="Aptos"/>
                <a:cs typeface="Aptos"/>
                <a:sym typeface="Aptos"/>
              </a:rPr>
              <a:t>nterpretation limitations: these results are analytical baselines and academic experiments, not automated trading recommendations.</a:t>
            </a:r>
          </a:p>
        </p:txBody>
      </p:sp>
      <p:sp>
        <p:nvSpPr>
          <p:cNvPr name="TextBox 23" id="23"/>
          <p:cNvSpPr txBox="true"/>
          <p:nvPr/>
        </p:nvSpPr>
        <p:spPr>
          <a:xfrm rot="0">
            <a:off x="533400" y="6334506"/>
            <a:ext cx="1949148"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MachineLearningFinalBanget (1).ipynb</a:t>
            </a:r>
          </a:p>
        </p:txBody>
      </p:sp>
      <p:sp>
        <p:nvSpPr>
          <p:cNvPr name="TextBox 24" id="24"/>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03</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Table 4" id="4"/>
          <p:cNvGraphicFramePr>
            <a:graphicFrameLocks noGrp="true"/>
          </p:cNvGraphicFramePr>
          <p:nvPr/>
        </p:nvGraphicFramePr>
        <p:xfrm>
          <a:off x="514350" y="1442714"/>
          <a:ext cx="11447417" cy="4949514"/>
        </p:xfrm>
        <a:graphic>
          <a:graphicData uri="http://schemas.openxmlformats.org/drawingml/2006/table">
            <a:tbl>
              <a:tblPr/>
              <a:tblGrid>
                <a:gridCol w="1216462"/>
                <a:gridCol w="3402126"/>
                <a:gridCol w="3914858"/>
                <a:gridCol w="2913971"/>
              </a:tblGrid>
              <a:tr h="516337">
                <a:tc>
                  <a:txBody>
                    <a:bodyPr anchor="t" rtlCol="false"/>
                    <a:lstStyle/>
                    <a:p>
                      <a:pPr algn="ctr">
                        <a:lnSpc>
                          <a:spcPts val="1679"/>
                        </a:lnSpc>
                        <a:defRPr/>
                      </a:pPr>
                      <a:r>
                        <a:rPr lang="en-US" sz="1200" b="true">
                          <a:solidFill>
                            <a:srgbClr val="000000"/>
                          </a:solidFill>
                          <a:latin typeface="Aptos Bold"/>
                          <a:ea typeface="Aptos Bold"/>
                          <a:cs typeface="Aptos Bold"/>
                          <a:sym typeface="Aptos Bold"/>
                        </a:rPr>
                        <a:t>Journal</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679"/>
                        </a:lnSpc>
                        <a:defRPr/>
                      </a:pPr>
                      <a:r>
                        <a:rPr lang="en-US" sz="1200" b="true">
                          <a:solidFill>
                            <a:srgbClr val="000000"/>
                          </a:solidFill>
                          <a:latin typeface="Aptos Bold"/>
                          <a:ea typeface="Aptos Bold"/>
                          <a:cs typeface="Aptos Bold"/>
                          <a:sym typeface="Aptos Bold"/>
                        </a:rPr>
                        <a:t>Focus</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679"/>
                        </a:lnSpc>
                        <a:defRPr/>
                      </a:pPr>
                      <a:r>
                        <a:rPr lang="en-US" sz="1200" b="true">
                          <a:solidFill>
                            <a:srgbClr val="000000"/>
                          </a:solidFill>
                          <a:latin typeface="Aptos Bold"/>
                          <a:ea typeface="Aptos Bold"/>
                          <a:cs typeface="Aptos Bold"/>
                          <a:sym typeface="Aptos Bold"/>
                        </a:rPr>
                        <a:t>Gap</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679"/>
                        </a:lnSpc>
                        <a:defRPr/>
                      </a:pPr>
                      <a:r>
                        <a:rPr lang="en-US" sz="1200" b="true">
                          <a:solidFill>
                            <a:srgbClr val="000000"/>
                          </a:solidFill>
                          <a:latin typeface="Aptos Bold"/>
                          <a:ea typeface="Aptos Bold"/>
                          <a:cs typeface="Aptos Bold"/>
                          <a:sym typeface="Aptos Bold"/>
                        </a:rPr>
                        <a:t>Relevance to notebook</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679377">
                <a:tc>
                  <a:txBody>
                    <a:bodyPr anchor="t" rtlCol="false"/>
                    <a:lstStyle/>
                    <a:p>
                      <a:pPr algn="ctr">
                        <a:lnSpc>
                          <a:spcPts val="1260"/>
                        </a:lnSpc>
                        <a:defRPr/>
                      </a:pPr>
                      <a:r>
                        <a:rPr lang="en-US" sz="900">
                          <a:solidFill>
                            <a:srgbClr val="000000"/>
                          </a:solidFill>
                          <a:latin typeface="Aptos"/>
                          <a:ea typeface="Aptos"/>
                          <a:cs typeface="Aptos"/>
                          <a:sym typeface="Aptos"/>
                        </a:rPr>
                        <a:t>Chlebus et al. 2021 CEEj</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260"/>
                        </a:lnSpc>
                        <a:defRPr/>
                      </a:pPr>
                      <a:endParaRPr lang="en-US" sz="1100"/>
                    </a:p>
                    <a:p>
                      <a:pPr algn="ctr">
                        <a:lnSpc>
                          <a:spcPts val="1260"/>
                        </a:lnSpc>
                      </a:pPr>
                      <a:r>
                        <a:rPr lang="en-US" sz="900">
                          <a:solidFill>
                            <a:srgbClr val="000000"/>
                          </a:solidFill>
                          <a:latin typeface="Aptos"/>
                          <a:ea typeface="Aptos"/>
                          <a:cs typeface="Aptos"/>
                          <a:sym typeface="Aptos"/>
                        </a:rPr>
                        <a:t>Inve</a:t>
                      </a:r>
                      <a:r>
                        <a:rPr lang="en-US" sz="900">
                          <a:solidFill>
                            <a:srgbClr val="000000"/>
                          </a:solidFill>
                          <a:latin typeface="Aptos"/>
                          <a:ea typeface="Aptos"/>
                          <a:cs typeface="Aptos"/>
                          <a:sym typeface="Aptos"/>
                        </a:rPr>
                        <a:t>stigated NVIDIA stock return prediction using more than 350 financial variables and compared multiple machine learning models including SVR, KNN, XGBoost, LightGBM, LSTM, and ensemble approaches. The study emphasized the effectiveness of combining different prediction techniques in financial forecasting.</a:t>
                      </a:r>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260"/>
                        </a:lnSpc>
                        <a:defRPr/>
                      </a:pPr>
                      <a:r>
                        <a:rPr lang="en-US" sz="900">
                          <a:solidFill>
                            <a:srgbClr val="000000"/>
                          </a:solidFill>
                          <a:latin typeface="Aptos"/>
                          <a:ea typeface="Aptos"/>
                          <a:cs typeface="Aptos"/>
                          <a:sym typeface="Aptos"/>
                        </a:rPr>
                        <a:t>The dataset only covered market conditions until 2018 and therefore did not capture major structural changes such as the AI-driven semiconductor boom, post-pandemic recovery, and recent market volatility. The authors also found that ensemble models did not consistently outperform individual models due to high noise levels and non-stationary stock market behavior. Furthermore, explainable AI methods were not incorporated to interpret model decisions.</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260"/>
                        </a:lnSpc>
                        <a:defRPr/>
                      </a:pPr>
                      <a:r>
                        <a:rPr lang="en-US" sz="900">
                          <a:solidFill>
                            <a:srgbClr val="000000"/>
                          </a:solidFill>
                          <a:latin typeface="Aptos"/>
                          <a:ea typeface="Aptos"/>
                          <a:cs typeface="Aptos"/>
                          <a:sym typeface="Aptos"/>
                        </a:rPr>
                        <a:t>This notebook extends the analysis to data up to 2026, allowing evaluation under more recent market regimes. Additional macroeconomic and volatility indicators such as VIX, SMH ETF, earnings-related variables, and rolling price features are included. Explainable AI through SHAP analysis is also applied to improve model interpretability and identify key drivers of NVIDIA stock movement.</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529888">
                <a:tc>
                  <a:txBody>
                    <a:bodyPr anchor="t" rtlCol="false"/>
                    <a:lstStyle/>
                    <a:p>
                      <a:pPr algn="ctr">
                        <a:lnSpc>
                          <a:spcPts val="1260"/>
                        </a:lnSpc>
                        <a:defRPr/>
                      </a:pPr>
                      <a:r>
                        <a:rPr lang="en-US" sz="900">
                          <a:solidFill>
                            <a:srgbClr val="000000"/>
                          </a:solidFill>
                          <a:latin typeface="Aptos"/>
                          <a:ea typeface="Aptos"/>
                          <a:cs typeface="Aptos"/>
                          <a:sym typeface="Aptos"/>
                        </a:rPr>
                        <a:t>Reddy (2018), IRJET</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260"/>
                        </a:lnSpc>
                        <a:defRPr/>
                      </a:pPr>
                      <a:r>
                        <a:rPr lang="en-US" sz="900">
                          <a:solidFill>
                            <a:srgbClr val="000000"/>
                          </a:solidFill>
                          <a:latin typeface="Aptos"/>
                          <a:ea typeface="Aptos"/>
                          <a:cs typeface="Aptos"/>
                          <a:sym typeface="Aptos"/>
                        </a:rPr>
                        <a:t>Applied Support Vector Machine with RBF kernel for stock market prediction using a limited set of technical indicators and handcrafted features. The study focused on demonstrating the predictive capability of SVM in financial classification tasks.</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260"/>
                        </a:lnSpc>
                        <a:defRPr/>
                      </a:pPr>
                      <a:r>
                        <a:rPr lang="en-US" sz="900">
                          <a:solidFill>
                            <a:srgbClr val="000000"/>
                          </a:solidFill>
                          <a:latin typeface="Aptos"/>
                          <a:ea typeface="Aptos"/>
                          <a:cs typeface="Aptos"/>
                          <a:sym typeface="Aptos"/>
                        </a:rPr>
                        <a:t>The research explored only a narrow machine learning space centered around SVM. Modern algorithms such as gradient boosting, random forests, deep learning architectures, hybrid models, and ensemble techniques were not evaluated. Feature engineering was also relatively limited and did not incorporate macroeconomic or sector-level information.</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260"/>
                        </a:lnSpc>
                        <a:defRPr/>
                      </a:pPr>
                      <a:r>
                        <a:rPr lang="en-US" sz="900">
                          <a:solidFill>
                            <a:srgbClr val="000000"/>
                          </a:solidFill>
                          <a:latin typeface="Aptos"/>
                          <a:ea typeface="Aptos"/>
                          <a:cs typeface="Aptos"/>
                          <a:sym typeface="Aptos"/>
                        </a:rPr>
                        <a:t>This notebook evaluates a broader range of machine learning families including tree-based methods, support vector regression, deep learning models, and ensemble approaches. More than 70 engineered features are incorporated, covering technical, volatility, sector, and market-wide indicators, enabling a more comprehensive comparison of predictive performance.</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223911">
                <a:tc>
                  <a:txBody>
                    <a:bodyPr anchor="t" rtlCol="false"/>
                    <a:lstStyle/>
                    <a:p>
                      <a:pPr algn="ctr">
                        <a:lnSpc>
                          <a:spcPts val="1260"/>
                        </a:lnSpc>
                        <a:defRPr/>
                      </a:pPr>
                      <a:r>
                        <a:rPr lang="en-US" sz="900">
                          <a:solidFill>
                            <a:srgbClr val="000000"/>
                          </a:solidFill>
                          <a:latin typeface="Aptos"/>
                          <a:ea typeface="Aptos"/>
                          <a:cs typeface="Aptos"/>
                          <a:sym typeface="Aptos"/>
                        </a:rPr>
                        <a:t>Kumbure et al. (2022), ESWA Review</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260"/>
                        </a:lnSpc>
                        <a:defRPr/>
                      </a:pPr>
                      <a:r>
                        <a:rPr lang="en-US" sz="900">
                          <a:solidFill>
                            <a:srgbClr val="000000"/>
                          </a:solidFill>
                          <a:latin typeface="Aptos"/>
                          <a:ea typeface="Aptos"/>
                          <a:cs typeface="Aptos"/>
                          <a:sym typeface="Aptos"/>
                        </a:rPr>
                        <a:t>Conducted a comprehensive review of 138 machine learning stock forecasting studies, analyzing thousands of variables, algorithms, and forecasting approaches used in the literature. The paper provides a broad overview of the state of the art in stock prediction research.</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260"/>
                        </a:lnSpc>
                        <a:defRPr/>
                      </a:pPr>
                      <a:r>
                        <a:rPr lang="en-US" sz="900">
                          <a:solidFill>
                            <a:srgbClr val="000000"/>
                          </a:solidFill>
                          <a:latin typeface="Aptos"/>
                          <a:ea typeface="Aptos"/>
                          <a:cs typeface="Aptos"/>
                          <a:sym typeface="Aptos"/>
                        </a:rPr>
                        <a:t>As a survey paper, the study synthesizes prior findings but does not provide a focused empirical evaluation on a specific stock. The review also predates the recent AI-driven growth period of NVIDIA and therefore cannot assess how modern machine learning models perform on this unique market phenomenon.</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260"/>
                        </a:lnSpc>
                        <a:defRPr/>
                      </a:pPr>
                      <a:r>
                        <a:rPr lang="en-US" sz="900">
                          <a:solidFill>
                            <a:srgbClr val="000000"/>
                          </a:solidFill>
                          <a:latin typeface="Aptos"/>
                          <a:ea typeface="Aptos"/>
                          <a:cs typeface="Aptos"/>
                          <a:sym typeface="Aptos"/>
                        </a:rPr>
                        <a:t>This notebook serves as a concrete empirical implementation of the trends identified in the review. By focusing specifically on NVIDIA, one of the most influential AI-related stocks, the study evaluates how multiple machine learning approaches perform in a real-world forecasting scenario using recent data.</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838200" y="425596"/>
            <a:ext cx="842562" cy="156801"/>
          </a:xfrm>
          <a:prstGeom prst="rect">
            <a:avLst/>
          </a:prstGeom>
        </p:spPr>
        <p:txBody>
          <a:bodyPr anchor="t" rtlCol="false" tIns="0" lIns="0" bIns="0" rIns="0">
            <a:spAutoFit/>
          </a:bodyPr>
          <a:lstStyle/>
          <a:p>
            <a:pPr algn="l">
              <a:lnSpc>
                <a:spcPts val="1260"/>
              </a:lnSpc>
            </a:pPr>
            <a:r>
              <a:rPr lang="en-US" sz="900" spc="0">
                <a:solidFill>
                  <a:srgbClr val="0E7490"/>
                </a:solidFill>
                <a:latin typeface="Aptos"/>
                <a:ea typeface="Aptos"/>
                <a:cs typeface="Aptos"/>
                <a:sym typeface="Aptos"/>
              </a:rPr>
              <a:t>RESEARCH GAP</a:t>
            </a:r>
          </a:p>
        </p:txBody>
      </p:sp>
      <p:sp>
        <p:nvSpPr>
          <p:cNvPr name="TextBox 6" id="6"/>
          <p:cNvSpPr txBox="true"/>
          <p:nvPr/>
        </p:nvSpPr>
        <p:spPr>
          <a:xfrm rot="0">
            <a:off x="533400" y="617849"/>
            <a:ext cx="9431645" cy="824865"/>
          </a:xfrm>
          <a:prstGeom prst="rect">
            <a:avLst/>
          </a:prstGeom>
        </p:spPr>
        <p:txBody>
          <a:bodyPr anchor="t" rtlCol="false" tIns="0" lIns="0" bIns="0" rIns="0">
            <a:spAutoFit/>
          </a:bodyPr>
          <a:lstStyle/>
          <a:p>
            <a:pPr algn="l">
              <a:lnSpc>
                <a:spcPts val="3359"/>
              </a:lnSpc>
            </a:pPr>
            <a:r>
              <a:rPr lang="en-US" sz="2400">
                <a:solidFill>
                  <a:srgbClr val="0F172A"/>
                </a:solidFill>
                <a:latin typeface="Aptos"/>
                <a:ea typeface="Aptos"/>
                <a:cs typeface="Aptos"/>
                <a:sym typeface="Aptos"/>
              </a:rPr>
              <a:t>The l</a:t>
            </a:r>
            <a:r>
              <a:rPr lang="en-US" sz="2400">
                <a:solidFill>
                  <a:srgbClr val="0F172A"/>
                </a:solidFill>
                <a:latin typeface="Aptos"/>
                <a:ea typeface="Aptos"/>
                <a:cs typeface="Aptos"/>
                <a:sym typeface="Aptos"/>
              </a:rPr>
              <a:t>iterature is strong on models, but gaps still exist in the latest NVDA, rolling evaluation, and XAI.</a:t>
            </a:r>
          </a:p>
        </p:txBody>
      </p:sp>
      <p:sp>
        <p:nvSpPr>
          <p:cNvPr name="TextBox 7" id="7"/>
          <p:cNvSpPr txBox="true"/>
          <p:nvPr/>
        </p:nvSpPr>
        <p:spPr>
          <a:xfrm rot="0">
            <a:off x="514350" y="6669206"/>
            <a:ext cx="3489522"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Sources: CEEJ 2021; IRJET 2018; Kumbure et al. 2022; Tran et al. 2024; Gulmez 2023</a:t>
            </a:r>
          </a:p>
        </p:txBody>
      </p:sp>
      <p:sp>
        <p:nvSpPr>
          <p:cNvPr name="TextBox 8" id="8"/>
          <p:cNvSpPr txBox="true"/>
          <p:nvPr/>
        </p:nvSpPr>
        <p:spPr>
          <a:xfrm rot="0">
            <a:off x="11572504" y="6611351"/>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04</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Table 4" id="4"/>
          <p:cNvGraphicFramePr>
            <a:graphicFrameLocks noGrp="true"/>
          </p:cNvGraphicFramePr>
          <p:nvPr/>
        </p:nvGraphicFramePr>
        <p:xfrm>
          <a:off x="514350" y="1442714"/>
          <a:ext cx="11447417" cy="3124200"/>
        </p:xfrm>
        <a:graphic>
          <a:graphicData uri="http://schemas.openxmlformats.org/drawingml/2006/table">
            <a:tbl>
              <a:tblPr/>
              <a:tblGrid>
                <a:gridCol w="1216462"/>
                <a:gridCol w="3402126"/>
                <a:gridCol w="3914858"/>
                <a:gridCol w="2913971"/>
              </a:tblGrid>
              <a:tr h="517506">
                <a:tc>
                  <a:txBody>
                    <a:bodyPr anchor="t" rtlCol="false"/>
                    <a:lstStyle/>
                    <a:p>
                      <a:pPr algn="ctr">
                        <a:lnSpc>
                          <a:spcPts val="1679"/>
                        </a:lnSpc>
                        <a:defRPr/>
                      </a:pPr>
                      <a:r>
                        <a:rPr lang="en-US" sz="1200" b="true">
                          <a:solidFill>
                            <a:srgbClr val="000000"/>
                          </a:solidFill>
                          <a:latin typeface="Aptos Bold"/>
                          <a:ea typeface="Aptos Bold"/>
                          <a:cs typeface="Aptos Bold"/>
                          <a:sym typeface="Aptos Bold"/>
                        </a:rPr>
                        <a:t>Journal</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679"/>
                        </a:lnSpc>
                        <a:defRPr/>
                      </a:pPr>
                      <a:r>
                        <a:rPr lang="en-US" sz="1200" b="true">
                          <a:solidFill>
                            <a:srgbClr val="000000"/>
                          </a:solidFill>
                          <a:latin typeface="Aptos Bold"/>
                          <a:ea typeface="Aptos Bold"/>
                          <a:cs typeface="Aptos Bold"/>
                          <a:sym typeface="Aptos Bold"/>
                        </a:rPr>
                        <a:t>Focus</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679"/>
                        </a:lnSpc>
                        <a:defRPr/>
                      </a:pPr>
                      <a:r>
                        <a:rPr lang="en-US" sz="1200" b="true">
                          <a:solidFill>
                            <a:srgbClr val="000000"/>
                          </a:solidFill>
                          <a:latin typeface="Aptos Bold"/>
                          <a:ea typeface="Aptos Bold"/>
                          <a:cs typeface="Aptos Bold"/>
                          <a:sym typeface="Aptos Bold"/>
                        </a:rPr>
                        <a:t>Gap</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679"/>
                        </a:lnSpc>
                        <a:defRPr/>
                      </a:pPr>
                      <a:r>
                        <a:rPr lang="en-US" sz="1200" b="true">
                          <a:solidFill>
                            <a:srgbClr val="000000"/>
                          </a:solidFill>
                          <a:latin typeface="Aptos Bold"/>
                          <a:ea typeface="Aptos Bold"/>
                          <a:cs typeface="Aptos Bold"/>
                          <a:sym typeface="Aptos Bold"/>
                        </a:rPr>
                        <a:t>Relevance to notebook</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226680">
                <a:tc>
                  <a:txBody>
                    <a:bodyPr anchor="t" rtlCol="false"/>
                    <a:lstStyle/>
                    <a:p>
                      <a:pPr algn="l">
                        <a:lnSpc>
                          <a:spcPts val="1260"/>
                        </a:lnSpc>
                        <a:defRPr/>
                      </a:pPr>
                      <a:r>
                        <a:rPr lang="en-US" sz="900">
                          <a:solidFill>
                            <a:srgbClr val="000000"/>
                          </a:solidFill>
                          <a:latin typeface="Canva Sans"/>
                          <a:ea typeface="Canva Sans"/>
                          <a:cs typeface="Canva Sans"/>
                          <a:sym typeface="Canva Sans"/>
                        </a:rPr>
                        <a:t>Tran et al. (2024), Nature HSSC</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260"/>
                        </a:lnSpc>
                        <a:defRPr/>
                      </a:pPr>
                      <a:r>
                        <a:rPr lang="en-US" sz="900">
                          <a:solidFill>
                            <a:srgbClr val="000000"/>
                          </a:solidFill>
                          <a:latin typeface="Aptos"/>
                          <a:ea typeface="Aptos"/>
                          <a:cs typeface="Aptos"/>
                          <a:sym typeface="Aptos"/>
                        </a:rPr>
                        <a:t>Examined stock market forecasting for Vietnam's VN-Index and VN30 using LSTM networks combined with technical indicators. The study demonstrated the ability of deep learning models to capture nonlinear relationships in emerging financial markets.</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260"/>
                        </a:lnSpc>
                        <a:defRPr/>
                      </a:pPr>
                      <a:r>
                        <a:rPr lang="en-US" sz="900">
                          <a:solidFill>
                            <a:srgbClr val="000000"/>
                          </a:solidFill>
                          <a:latin typeface="Aptos"/>
                          <a:ea typeface="Aptos"/>
                          <a:cs typeface="Aptos"/>
                          <a:sym typeface="Aptos"/>
                        </a:rPr>
                        <a:t>The analysis is highly market-specific and limited to Vietnamese stock indices. It does not investigate U.S. equities, semiconductor stocks, or NVIDIA. The feature set mainly relies on technical indicators and does not incorporate extensive external variables, rolling market features, or explainability frameworks.</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260"/>
                        </a:lnSpc>
                        <a:defRPr/>
                      </a:pPr>
                      <a:r>
                        <a:rPr lang="en-US" sz="900">
                          <a:solidFill>
                            <a:srgbClr val="000000"/>
                          </a:solidFill>
                          <a:latin typeface="Aptos"/>
                          <a:ea typeface="Aptos"/>
                          <a:cs typeface="Aptos"/>
                          <a:sym typeface="Aptos"/>
                        </a:rPr>
                        <a:t>This notebook focuses on the U.S. market and NVIDIA stock, which exhibit different dynamics from emerging markets. Additional market-wide variables, sector indicators, volatility measures, and explainability techniques such as SHAP are included to provide both predictive and interpretive insights.</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380015">
                <a:tc>
                  <a:txBody>
                    <a:bodyPr anchor="t" rtlCol="false"/>
                    <a:lstStyle/>
                    <a:p>
                      <a:pPr algn="ctr">
                        <a:lnSpc>
                          <a:spcPts val="1260"/>
                        </a:lnSpc>
                        <a:defRPr/>
                      </a:pPr>
                      <a:r>
                        <a:rPr lang="en-US" sz="900">
                          <a:solidFill>
                            <a:srgbClr val="000000"/>
                          </a:solidFill>
                          <a:latin typeface="Aptos"/>
                          <a:ea typeface="Aptos"/>
                          <a:cs typeface="Aptos"/>
                          <a:sym typeface="Aptos"/>
                        </a:rPr>
                        <a:t>Gulmez (2023), ESWA</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260"/>
                        </a:lnSpc>
                        <a:defRPr/>
                      </a:pPr>
                      <a:r>
                        <a:rPr lang="en-US" sz="900">
                          <a:solidFill>
                            <a:srgbClr val="000000"/>
                          </a:solidFill>
                          <a:latin typeface="Aptos"/>
                          <a:ea typeface="Aptos"/>
                          <a:cs typeface="Aptos"/>
                          <a:sym typeface="Aptos"/>
                        </a:rPr>
                        <a:t>Proposed a Deep LSTM framework optimized using the Artificial Rabbits Optimization algorithm to improve stock forecasting accuracy. The study primarily investigated optimization strategies for deep learning architectures.</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260"/>
                        </a:lnSpc>
                        <a:defRPr/>
                      </a:pPr>
                      <a:r>
                        <a:rPr lang="en-US" sz="900">
                          <a:solidFill>
                            <a:srgbClr val="000000"/>
                          </a:solidFill>
                          <a:latin typeface="Aptos"/>
                          <a:ea typeface="Aptos"/>
                          <a:cs typeface="Aptos"/>
                          <a:sym typeface="Aptos"/>
                        </a:rPr>
                        <a:t>The research concentrated on improving a single deep learning model rather than comparing fundamentally different model families. External variables and broader feature engineering were limited, and the study did not investigate whether simpler machine learning models could achieve competitive performance. Explainability analysis was also absent.</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260"/>
                        </a:lnSpc>
                        <a:defRPr/>
                      </a:pPr>
                      <a:r>
                        <a:rPr lang="en-US" sz="900">
                          <a:solidFill>
                            <a:srgbClr val="000000"/>
                          </a:solidFill>
                          <a:latin typeface="Aptos"/>
                          <a:ea typeface="Aptos"/>
                          <a:cs typeface="Aptos"/>
                          <a:sym typeface="Aptos"/>
                        </a:rPr>
                        <a:t>This notebook compares multiple model categories including decision trees, random forests, gradient boosting, support vector regression, BiLSTM-Attention networks, and stacking ensembles. The study also integrates exogenous variables and SHAP explanations, enabling both performance comparison and model interpretability.</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838200" y="425596"/>
            <a:ext cx="842562" cy="156801"/>
          </a:xfrm>
          <a:prstGeom prst="rect">
            <a:avLst/>
          </a:prstGeom>
        </p:spPr>
        <p:txBody>
          <a:bodyPr anchor="t" rtlCol="false" tIns="0" lIns="0" bIns="0" rIns="0">
            <a:spAutoFit/>
          </a:bodyPr>
          <a:lstStyle/>
          <a:p>
            <a:pPr algn="l">
              <a:lnSpc>
                <a:spcPts val="1260"/>
              </a:lnSpc>
            </a:pPr>
            <a:r>
              <a:rPr lang="en-US" sz="900" spc="0">
                <a:solidFill>
                  <a:srgbClr val="0E7490"/>
                </a:solidFill>
                <a:latin typeface="Aptos"/>
                <a:ea typeface="Aptos"/>
                <a:cs typeface="Aptos"/>
                <a:sym typeface="Aptos"/>
              </a:rPr>
              <a:t>RESEARCH GAP</a:t>
            </a:r>
          </a:p>
        </p:txBody>
      </p:sp>
      <p:sp>
        <p:nvSpPr>
          <p:cNvPr name="TextBox 6" id="6"/>
          <p:cNvSpPr txBox="true"/>
          <p:nvPr/>
        </p:nvSpPr>
        <p:spPr>
          <a:xfrm rot="0">
            <a:off x="533400" y="617849"/>
            <a:ext cx="9431645" cy="824865"/>
          </a:xfrm>
          <a:prstGeom prst="rect">
            <a:avLst/>
          </a:prstGeom>
        </p:spPr>
        <p:txBody>
          <a:bodyPr anchor="t" rtlCol="false" tIns="0" lIns="0" bIns="0" rIns="0">
            <a:spAutoFit/>
          </a:bodyPr>
          <a:lstStyle/>
          <a:p>
            <a:pPr algn="l">
              <a:lnSpc>
                <a:spcPts val="3359"/>
              </a:lnSpc>
            </a:pPr>
            <a:r>
              <a:rPr lang="en-US" sz="2400">
                <a:solidFill>
                  <a:srgbClr val="0F172A"/>
                </a:solidFill>
                <a:latin typeface="Aptos"/>
                <a:ea typeface="Aptos"/>
                <a:cs typeface="Aptos"/>
                <a:sym typeface="Aptos"/>
              </a:rPr>
              <a:t>The l</a:t>
            </a:r>
            <a:r>
              <a:rPr lang="en-US" sz="2400">
                <a:solidFill>
                  <a:srgbClr val="0F172A"/>
                </a:solidFill>
                <a:latin typeface="Aptos"/>
                <a:ea typeface="Aptos"/>
                <a:cs typeface="Aptos"/>
                <a:sym typeface="Aptos"/>
              </a:rPr>
              <a:t>iterature is strong on models, but gaps still exist in the latest NVDA, rolling evaluation, and XAI.</a:t>
            </a:r>
          </a:p>
        </p:txBody>
      </p:sp>
      <p:sp>
        <p:nvSpPr>
          <p:cNvPr name="TextBox 7" id="7"/>
          <p:cNvSpPr txBox="true"/>
          <p:nvPr/>
        </p:nvSpPr>
        <p:spPr>
          <a:xfrm rot="0">
            <a:off x="514350" y="6669206"/>
            <a:ext cx="3489522"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Sources: CEEJ 2021; IRJET 2018; Kumbure et al. 2022; Tran et al. 2024; Gulmez 2023</a:t>
            </a:r>
          </a:p>
        </p:txBody>
      </p:sp>
      <p:sp>
        <p:nvSpPr>
          <p:cNvPr name="TextBox 8" id="8"/>
          <p:cNvSpPr txBox="true"/>
          <p:nvPr/>
        </p:nvSpPr>
        <p:spPr>
          <a:xfrm rot="0">
            <a:off x="11572504" y="6611351"/>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04</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60384" y="1760534"/>
            <a:ext cx="10937872" cy="1336672"/>
          </a:xfrm>
          <a:custGeom>
            <a:avLst/>
            <a:gdLst/>
            <a:ahLst/>
            <a:cxnLst/>
            <a:rect r="r" b="b" t="t" l="l"/>
            <a:pathLst>
              <a:path h="1336672" w="10937872">
                <a:moveTo>
                  <a:pt x="0" y="0"/>
                </a:moveTo>
                <a:lnTo>
                  <a:pt x="10937872" y="0"/>
                </a:lnTo>
                <a:lnTo>
                  <a:pt x="10937872" y="1336672"/>
                </a:lnTo>
                <a:lnTo>
                  <a:pt x="0" y="13366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60384" y="3436934"/>
            <a:ext cx="10937872" cy="1336672"/>
          </a:xfrm>
          <a:custGeom>
            <a:avLst/>
            <a:gdLst/>
            <a:ahLst/>
            <a:cxnLst/>
            <a:rect r="r" b="b" t="t" l="l"/>
            <a:pathLst>
              <a:path h="1336672" w="10937872">
                <a:moveTo>
                  <a:pt x="0" y="0"/>
                </a:moveTo>
                <a:lnTo>
                  <a:pt x="10937872" y="0"/>
                </a:lnTo>
                <a:lnTo>
                  <a:pt x="10937872" y="1336672"/>
                </a:lnTo>
                <a:lnTo>
                  <a:pt x="0" y="1336672"/>
                </a:lnTo>
                <a:lnTo>
                  <a:pt x="0" y="0"/>
                </a:lnTo>
                <a:close/>
              </a:path>
            </a:pathLst>
          </a:custGeom>
          <a:blipFill>
            <a:blip r:embed="rId6">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838200" y="425596"/>
            <a:ext cx="1099985" cy="156801"/>
          </a:xfrm>
          <a:prstGeom prst="rect">
            <a:avLst/>
          </a:prstGeom>
        </p:spPr>
        <p:txBody>
          <a:bodyPr anchor="t" rtlCol="false" tIns="0" lIns="0" bIns="0" rIns="0">
            <a:spAutoFit/>
          </a:bodyPr>
          <a:lstStyle/>
          <a:p>
            <a:pPr algn="l">
              <a:lnSpc>
                <a:spcPts val="1260"/>
              </a:lnSpc>
            </a:pPr>
            <a:r>
              <a:rPr lang="en-US" sz="900">
                <a:solidFill>
                  <a:srgbClr val="0E7490"/>
                </a:solidFill>
                <a:latin typeface="Aptos"/>
                <a:ea typeface="Aptos"/>
                <a:cs typeface="Aptos"/>
                <a:sym typeface="Aptos"/>
              </a:rPr>
              <a:t>RESEARCH PIPELINE</a:t>
            </a:r>
          </a:p>
        </p:txBody>
      </p:sp>
      <p:sp>
        <p:nvSpPr>
          <p:cNvPr name="TextBox 7" id="7"/>
          <p:cNvSpPr txBox="true"/>
          <p:nvPr/>
        </p:nvSpPr>
        <p:spPr>
          <a:xfrm rot="0">
            <a:off x="533400" y="703164"/>
            <a:ext cx="10765631" cy="412750"/>
          </a:xfrm>
          <a:prstGeom prst="rect">
            <a:avLst/>
          </a:prstGeom>
        </p:spPr>
        <p:txBody>
          <a:bodyPr anchor="t" rtlCol="false" tIns="0" lIns="0" bIns="0" rIns="0">
            <a:spAutoFit/>
          </a:bodyPr>
          <a:lstStyle/>
          <a:p>
            <a:pPr algn="l">
              <a:lnSpc>
                <a:spcPts val="3499"/>
              </a:lnSpc>
            </a:pPr>
            <a:r>
              <a:rPr lang="en-US" sz="2499">
                <a:solidFill>
                  <a:srgbClr val="0F172A"/>
                </a:solidFill>
                <a:latin typeface="Aptos"/>
                <a:ea typeface="Aptos"/>
                <a:cs typeface="Aptos"/>
                <a:sym typeface="Aptos"/>
              </a:rPr>
              <a:t>The p</a:t>
            </a:r>
            <a:r>
              <a:rPr lang="en-US" sz="2499">
                <a:solidFill>
                  <a:srgbClr val="0F172A"/>
                </a:solidFill>
                <a:latin typeface="Aptos"/>
                <a:ea typeface="Aptos"/>
                <a:cs typeface="Aptos"/>
                <a:sym typeface="Aptos"/>
              </a:rPr>
              <a:t>ipeline is structured from raw data to rolling and SHAP BiLSTM evaluation.</a:t>
            </a:r>
          </a:p>
        </p:txBody>
      </p:sp>
      <p:sp>
        <p:nvSpPr>
          <p:cNvPr name="TextBox 8" id="8"/>
          <p:cNvSpPr txBox="true"/>
          <p:nvPr/>
        </p:nvSpPr>
        <p:spPr>
          <a:xfrm rot="0">
            <a:off x="752551" y="1902466"/>
            <a:ext cx="251993" cy="313973"/>
          </a:xfrm>
          <a:prstGeom prst="rect">
            <a:avLst/>
          </a:prstGeom>
        </p:spPr>
        <p:txBody>
          <a:bodyPr anchor="t" rtlCol="false" tIns="0" lIns="0" bIns="0" rIns="0">
            <a:spAutoFit/>
          </a:bodyPr>
          <a:lstStyle/>
          <a:p>
            <a:pPr algn="l">
              <a:lnSpc>
                <a:spcPts val="2523"/>
              </a:lnSpc>
            </a:pPr>
            <a:r>
              <a:rPr lang="en-US" sz="1802">
                <a:solidFill>
                  <a:srgbClr val="0E7490"/>
                </a:solidFill>
                <a:latin typeface="Aptos"/>
                <a:ea typeface="Aptos"/>
                <a:cs typeface="Aptos"/>
                <a:sym typeface="Aptos"/>
              </a:rPr>
              <a:t>01</a:t>
            </a:r>
          </a:p>
        </p:txBody>
      </p:sp>
      <p:sp>
        <p:nvSpPr>
          <p:cNvPr name="TextBox 9" id="9"/>
          <p:cNvSpPr txBox="true"/>
          <p:nvPr/>
        </p:nvSpPr>
        <p:spPr>
          <a:xfrm rot="0">
            <a:off x="752551" y="3579247"/>
            <a:ext cx="251993" cy="313973"/>
          </a:xfrm>
          <a:prstGeom prst="rect">
            <a:avLst/>
          </a:prstGeom>
        </p:spPr>
        <p:txBody>
          <a:bodyPr anchor="t" rtlCol="false" tIns="0" lIns="0" bIns="0" rIns="0">
            <a:spAutoFit/>
          </a:bodyPr>
          <a:lstStyle/>
          <a:p>
            <a:pPr algn="l">
              <a:lnSpc>
                <a:spcPts val="2523"/>
              </a:lnSpc>
            </a:pPr>
            <a:r>
              <a:rPr lang="en-US" sz="1802">
                <a:solidFill>
                  <a:srgbClr val="16A34A"/>
                </a:solidFill>
                <a:latin typeface="Aptos"/>
                <a:ea typeface="Aptos"/>
                <a:cs typeface="Aptos"/>
                <a:sym typeface="Aptos"/>
              </a:rPr>
              <a:t>05</a:t>
            </a:r>
          </a:p>
        </p:txBody>
      </p:sp>
      <p:sp>
        <p:nvSpPr>
          <p:cNvPr name="TextBox 10" id="10"/>
          <p:cNvSpPr txBox="true"/>
          <p:nvPr/>
        </p:nvSpPr>
        <p:spPr>
          <a:xfrm rot="0">
            <a:off x="3534156" y="1902466"/>
            <a:ext cx="251993" cy="313973"/>
          </a:xfrm>
          <a:prstGeom prst="rect">
            <a:avLst/>
          </a:prstGeom>
        </p:spPr>
        <p:txBody>
          <a:bodyPr anchor="t" rtlCol="false" tIns="0" lIns="0" bIns="0" rIns="0">
            <a:spAutoFit/>
          </a:bodyPr>
          <a:lstStyle/>
          <a:p>
            <a:pPr algn="l">
              <a:lnSpc>
                <a:spcPts val="2523"/>
              </a:lnSpc>
            </a:pPr>
            <a:r>
              <a:rPr lang="en-US" sz="1802">
                <a:solidFill>
                  <a:srgbClr val="0E7490"/>
                </a:solidFill>
                <a:latin typeface="Aptos"/>
                <a:ea typeface="Aptos"/>
                <a:cs typeface="Aptos"/>
                <a:sym typeface="Aptos"/>
              </a:rPr>
              <a:t>02</a:t>
            </a:r>
          </a:p>
        </p:txBody>
      </p:sp>
      <p:sp>
        <p:nvSpPr>
          <p:cNvPr name="TextBox 11" id="11"/>
          <p:cNvSpPr txBox="true"/>
          <p:nvPr/>
        </p:nvSpPr>
        <p:spPr>
          <a:xfrm rot="0">
            <a:off x="3909241" y="2304536"/>
            <a:ext cx="23984" cy="158639"/>
          </a:xfrm>
          <a:prstGeom prst="rect">
            <a:avLst/>
          </a:prstGeom>
        </p:spPr>
        <p:txBody>
          <a:bodyPr anchor="t" rtlCol="false" tIns="0" lIns="0" bIns="0" rIns="0">
            <a:spAutoFit/>
          </a:bodyPr>
          <a:lstStyle/>
          <a:p>
            <a:pPr algn="l">
              <a:lnSpc>
                <a:spcPts val="1276"/>
              </a:lnSpc>
            </a:pPr>
            <a:r>
              <a:rPr lang="en-US" sz="911">
                <a:solidFill>
                  <a:srgbClr val="475569"/>
                </a:solidFill>
                <a:latin typeface="Aptos"/>
                <a:ea typeface="Aptos"/>
                <a:cs typeface="Aptos"/>
                <a:sym typeface="Aptos"/>
              </a:rPr>
              <a:t> </a:t>
            </a:r>
          </a:p>
        </p:txBody>
      </p:sp>
      <p:sp>
        <p:nvSpPr>
          <p:cNvPr name="TextBox 12" id="12"/>
          <p:cNvSpPr txBox="true"/>
          <p:nvPr/>
        </p:nvSpPr>
        <p:spPr>
          <a:xfrm rot="0">
            <a:off x="3534156" y="3579247"/>
            <a:ext cx="251993" cy="313973"/>
          </a:xfrm>
          <a:prstGeom prst="rect">
            <a:avLst/>
          </a:prstGeom>
        </p:spPr>
        <p:txBody>
          <a:bodyPr anchor="t" rtlCol="false" tIns="0" lIns="0" bIns="0" rIns="0">
            <a:spAutoFit/>
          </a:bodyPr>
          <a:lstStyle/>
          <a:p>
            <a:pPr algn="l">
              <a:lnSpc>
                <a:spcPts val="2523"/>
              </a:lnSpc>
            </a:pPr>
            <a:r>
              <a:rPr lang="en-US" sz="1802">
                <a:solidFill>
                  <a:srgbClr val="16A34A"/>
                </a:solidFill>
                <a:latin typeface="Aptos"/>
                <a:ea typeface="Aptos"/>
                <a:cs typeface="Aptos"/>
                <a:sym typeface="Aptos"/>
              </a:rPr>
              <a:t>06</a:t>
            </a:r>
          </a:p>
        </p:txBody>
      </p:sp>
      <p:sp>
        <p:nvSpPr>
          <p:cNvPr name="TextBox 13" id="13"/>
          <p:cNvSpPr txBox="true"/>
          <p:nvPr/>
        </p:nvSpPr>
        <p:spPr>
          <a:xfrm rot="0">
            <a:off x="6315713" y="1902466"/>
            <a:ext cx="252308" cy="313973"/>
          </a:xfrm>
          <a:prstGeom prst="rect">
            <a:avLst/>
          </a:prstGeom>
        </p:spPr>
        <p:txBody>
          <a:bodyPr anchor="t" rtlCol="false" tIns="0" lIns="0" bIns="0" rIns="0">
            <a:spAutoFit/>
          </a:bodyPr>
          <a:lstStyle/>
          <a:p>
            <a:pPr algn="l">
              <a:lnSpc>
                <a:spcPts val="2523"/>
              </a:lnSpc>
            </a:pPr>
            <a:r>
              <a:rPr lang="en-US" sz="1802" spc="1">
                <a:solidFill>
                  <a:srgbClr val="0E7490"/>
                </a:solidFill>
                <a:latin typeface="Aptos"/>
                <a:ea typeface="Aptos"/>
                <a:cs typeface="Aptos"/>
                <a:sym typeface="Aptos"/>
              </a:rPr>
              <a:t>03</a:t>
            </a:r>
          </a:p>
        </p:txBody>
      </p:sp>
      <p:sp>
        <p:nvSpPr>
          <p:cNvPr name="TextBox 14" id="14"/>
          <p:cNvSpPr txBox="true"/>
          <p:nvPr/>
        </p:nvSpPr>
        <p:spPr>
          <a:xfrm rot="0">
            <a:off x="6488211" y="2304536"/>
            <a:ext cx="23984" cy="158639"/>
          </a:xfrm>
          <a:prstGeom prst="rect">
            <a:avLst/>
          </a:prstGeom>
        </p:spPr>
        <p:txBody>
          <a:bodyPr anchor="t" rtlCol="false" tIns="0" lIns="0" bIns="0" rIns="0">
            <a:spAutoFit/>
          </a:bodyPr>
          <a:lstStyle/>
          <a:p>
            <a:pPr algn="l">
              <a:lnSpc>
                <a:spcPts val="1276"/>
              </a:lnSpc>
            </a:pPr>
            <a:r>
              <a:rPr lang="en-US" sz="911">
                <a:solidFill>
                  <a:srgbClr val="475569"/>
                </a:solidFill>
                <a:latin typeface="Aptos"/>
                <a:ea typeface="Aptos"/>
                <a:cs typeface="Aptos"/>
                <a:sym typeface="Aptos"/>
              </a:rPr>
              <a:t> </a:t>
            </a:r>
          </a:p>
        </p:txBody>
      </p:sp>
      <p:sp>
        <p:nvSpPr>
          <p:cNvPr name="TextBox 15" id="15"/>
          <p:cNvSpPr txBox="true"/>
          <p:nvPr/>
        </p:nvSpPr>
        <p:spPr>
          <a:xfrm rot="0">
            <a:off x="6315713" y="3579247"/>
            <a:ext cx="252308" cy="313973"/>
          </a:xfrm>
          <a:prstGeom prst="rect">
            <a:avLst/>
          </a:prstGeom>
        </p:spPr>
        <p:txBody>
          <a:bodyPr anchor="t" rtlCol="false" tIns="0" lIns="0" bIns="0" rIns="0">
            <a:spAutoFit/>
          </a:bodyPr>
          <a:lstStyle/>
          <a:p>
            <a:pPr algn="l">
              <a:lnSpc>
                <a:spcPts val="2523"/>
              </a:lnSpc>
            </a:pPr>
            <a:r>
              <a:rPr lang="en-US" sz="1802" spc="1">
                <a:solidFill>
                  <a:srgbClr val="16A34A"/>
                </a:solidFill>
                <a:latin typeface="Aptos"/>
                <a:ea typeface="Aptos"/>
                <a:cs typeface="Aptos"/>
                <a:sym typeface="Aptos"/>
              </a:rPr>
              <a:t>07</a:t>
            </a:r>
          </a:p>
        </p:txBody>
      </p:sp>
      <p:sp>
        <p:nvSpPr>
          <p:cNvPr name="TextBox 16" id="16"/>
          <p:cNvSpPr txBox="true"/>
          <p:nvPr/>
        </p:nvSpPr>
        <p:spPr>
          <a:xfrm rot="0">
            <a:off x="6620837" y="3981193"/>
            <a:ext cx="23984" cy="158639"/>
          </a:xfrm>
          <a:prstGeom prst="rect">
            <a:avLst/>
          </a:prstGeom>
        </p:spPr>
        <p:txBody>
          <a:bodyPr anchor="t" rtlCol="false" tIns="0" lIns="0" bIns="0" rIns="0">
            <a:spAutoFit/>
          </a:bodyPr>
          <a:lstStyle/>
          <a:p>
            <a:pPr algn="l">
              <a:lnSpc>
                <a:spcPts val="1276"/>
              </a:lnSpc>
            </a:pPr>
            <a:r>
              <a:rPr lang="en-US" sz="911">
                <a:solidFill>
                  <a:srgbClr val="475569"/>
                </a:solidFill>
                <a:latin typeface="Aptos"/>
                <a:ea typeface="Aptos"/>
                <a:cs typeface="Aptos"/>
                <a:sym typeface="Aptos"/>
              </a:rPr>
              <a:t> </a:t>
            </a:r>
          </a:p>
        </p:txBody>
      </p:sp>
      <p:sp>
        <p:nvSpPr>
          <p:cNvPr name="TextBox 17" id="17"/>
          <p:cNvSpPr txBox="true"/>
          <p:nvPr/>
        </p:nvSpPr>
        <p:spPr>
          <a:xfrm rot="0">
            <a:off x="9097642" y="1902466"/>
            <a:ext cx="251993" cy="313973"/>
          </a:xfrm>
          <a:prstGeom prst="rect">
            <a:avLst/>
          </a:prstGeom>
        </p:spPr>
        <p:txBody>
          <a:bodyPr anchor="t" rtlCol="false" tIns="0" lIns="0" bIns="0" rIns="0">
            <a:spAutoFit/>
          </a:bodyPr>
          <a:lstStyle/>
          <a:p>
            <a:pPr algn="l">
              <a:lnSpc>
                <a:spcPts val="2523"/>
              </a:lnSpc>
            </a:pPr>
            <a:r>
              <a:rPr lang="en-US" sz="1802">
                <a:solidFill>
                  <a:srgbClr val="0E7490"/>
                </a:solidFill>
                <a:latin typeface="Aptos"/>
                <a:ea typeface="Aptos"/>
                <a:cs typeface="Aptos"/>
                <a:sym typeface="Aptos"/>
              </a:rPr>
              <a:t>04</a:t>
            </a:r>
          </a:p>
        </p:txBody>
      </p:sp>
      <p:sp>
        <p:nvSpPr>
          <p:cNvPr name="TextBox 18" id="18"/>
          <p:cNvSpPr txBox="true"/>
          <p:nvPr/>
        </p:nvSpPr>
        <p:spPr>
          <a:xfrm rot="0">
            <a:off x="9365571" y="2304536"/>
            <a:ext cx="23984" cy="158639"/>
          </a:xfrm>
          <a:prstGeom prst="rect">
            <a:avLst/>
          </a:prstGeom>
        </p:spPr>
        <p:txBody>
          <a:bodyPr anchor="t" rtlCol="false" tIns="0" lIns="0" bIns="0" rIns="0">
            <a:spAutoFit/>
          </a:bodyPr>
          <a:lstStyle/>
          <a:p>
            <a:pPr algn="l">
              <a:lnSpc>
                <a:spcPts val="1276"/>
              </a:lnSpc>
            </a:pPr>
            <a:r>
              <a:rPr lang="en-US" sz="911">
                <a:solidFill>
                  <a:srgbClr val="475569"/>
                </a:solidFill>
                <a:latin typeface="Aptos"/>
                <a:ea typeface="Aptos"/>
                <a:cs typeface="Aptos"/>
                <a:sym typeface="Aptos"/>
              </a:rPr>
              <a:t> </a:t>
            </a:r>
          </a:p>
        </p:txBody>
      </p:sp>
      <p:sp>
        <p:nvSpPr>
          <p:cNvPr name="TextBox 19" id="19"/>
          <p:cNvSpPr txBox="true"/>
          <p:nvPr/>
        </p:nvSpPr>
        <p:spPr>
          <a:xfrm rot="0">
            <a:off x="9097642" y="3579247"/>
            <a:ext cx="251993" cy="313973"/>
          </a:xfrm>
          <a:prstGeom prst="rect">
            <a:avLst/>
          </a:prstGeom>
        </p:spPr>
        <p:txBody>
          <a:bodyPr anchor="t" rtlCol="false" tIns="0" lIns="0" bIns="0" rIns="0">
            <a:spAutoFit/>
          </a:bodyPr>
          <a:lstStyle/>
          <a:p>
            <a:pPr algn="l">
              <a:lnSpc>
                <a:spcPts val="2523"/>
              </a:lnSpc>
            </a:pPr>
            <a:r>
              <a:rPr lang="en-US" sz="1802">
                <a:solidFill>
                  <a:srgbClr val="16A34A"/>
                </a:solidFill>
                <a:latin typeface="Aptos"/>
                <a:ea typeface="Aptos"/>
                <a:cs typeface="Aptos"/>
                <a:sym typeface="Aptos"/>
              </a:rPr>
              <a:t>08</a:t>
            </a:r>
          </a:p>
        </p:txBody>
      </p:sp>
      <p:sp>
        <p:nvSpPr>
          <p:cNvPr name="TextBox 20" id="20"/>
          <p:cNvSpPr txBox="true"/>
          <p:nvPr/>
        </p:nvSpPr>
        <p:spPr>
          <a:xfrm rot="0">
            <a:off x="9428226" y="3981193"/>
            <a:ext cx="23984" cy="158639"/>
          </a:xfrm>
          <a:prstGeom prst="rect">
            <a:avLst/>
          </a:prstGeom>
        </p:spPr>
        <p:txBody>
          <a:bodyPr anchor="t" rtlCol="false" tIns="0" lIns="0" bIns="0" rIns="0">
            <a:spAutoFit/>
          </a:bodyPr>
          <a:lstStyle/>
          <a:p>
            <a:pPr algn="l">
              <a:lnSpc>
                <a:spcPts val="1276"/>
              </a:lnSpc>
            </a:pPr>
            <a:r>
              <a:rPr lang="en-US" sz="911">
                <a:solidFill>
                  <a:srgbClr val="475569"/>
                </a:solidFill>
                <a:latin typeface="Aptos"/>
                <a:ea typeface="Aptos"/>
                <a:cs typeface="Aptos"/>
                <a:sym typeface="Aptos"/>
              </a:rPr>
              <a:t> </a:t>
            </a:r>
          </a:p>
        </p:txBody>
      </p:sp>
      <p:sp>
        <p:nvSpPr>
          <p:cNvPr name="TextBox 21" id="21"/>
          <p:cNvSpPr txBox="true"/>
          <p:nvPr/>
        </p:nvSpPr>
        <p:spPr>
          <a:xfrm rot="0">
            <a:off x="1124102" y="3637236"/>
            <a:ext cx="466496" cy="203083"/>
          </a:xfrm>
          <a:prstGeom prst="rect">
            <a:avLst/>
          </a:prstGeom>
        </p:spPr>
        <p:txBody>
          <a:bodyPr anchor="t" rtlCol="false" tIns="0" lIns="0" bIns="0" rIns="0">
            <a:spAutoFit/>
          </a:bodyPr>
          <a:lstStyle/>
          <a:p>
            <a:pPr algn="l">
              <a:lnSpc>
                <a:spcPts val="1683"/>
              </a:lnSpc>
            </a:pPr>
            <a:r>
              <a:rPr lang="en-US" sz="1202">
                <a:solidFill>
                  <a:srgbClr val="0F172A"/>
                </a:solidFill>
                <a:latin typeface="Aptos"/>
                <a:ea typeface="Aptos"/>
                <a:cs typeface="Aptos"/>
                <a:sym typeface="Aptos"/>
              </a:rPr>
              <a:t>Tuning</a:t>
            </a:r>
          </a:p>
        </p:txBody>
      </p:sp>
      <p:sp>
        <p:nvSpPr>
          <p:cNvPr name="TextBox 22" id="22"/>
          <p:cNvSpPr txBox="true"/>
          <p:nvPr/>
        </p:nvSpPr>
        <p:spPr>
          <a:xfrm rot="0">
            <a:off x="1124102" y="1960455"/>
            <a:ext cx="1030500" cy="203083"/>
          </a:xfrm>
          <a:prstGeom prst="rect">
            <a:avLst/>
          </a:prstGeom>
        </p:spPr>
        <p:txBody>
          <a:bodyPr anchor="t" rtlCol="false" tIns="0" lIns="0" bIns="0" rIns="0">
            <a:spAutoFit/>
          </a:bodyPr>
          <a:lstStyle/>
          <a:p>
            <a:pPr algn="l">
              <a:lnSpc>
                <a:spcPts val="1683"/>
              </a:lnSpc>
            </a:pPr>
            <a:r>
              <a:rPr lang="en-US" sz="1202">
                <a:solidFill>
                  <a:srgbClr val="0F172A"/>
                </a:solidFill>
                <a:latin typeface="Aptos"/>
                <a:ea typeface="Aptos"/>
                <a:cs typeface="Aptos"/>
                <a:sym typeface="Aptos"/>
              </a:rPr>
              <a:t>Data gathering</a:t>
            </a:r>
          </a:p>
        </p:txBody>
      </p:sp>
      <p:sp>
        <p:nvSpPr>
          <p:cNvPr name="TextBox 23" id="23"/>
          <p:cNvSpPr txBox="true"/>
          <p:nvPr/>
        </p:nvSpPr>
        <p:spPr>
          <a:xfrm rot="0">
            <a:off x="3905755" y="1960455"/>
            <a:ext cx="631136" cy="203083"/>
          </a:xfrm>
          <a:prstGeom prst="rect">
            <a:avLst/>
          </a:prstGeom>
        </p:spPr>
        <p:txBody>
          <a:bodyPr anchor="t" rtlCol="false" tIns="0" lIns="0" bIns="0" rIns="0">
            <a:spAutoFit/>
          </a:bodyPr>
          <a:lstStyle/>
          <a:p>
            <a:pPr algn="l">
              <a:lnSpc>
                <a:spcPts val="1683"/>
              </a:lnSpc>
            </a:pPr>
            <a:r>
              <a:rPr lang="en-US" sz="1202" spc="1">
                <a:solidFill>
                  <a:srgbClr val="0F172A"/>
                </a:solidFill>
                <a:latin typeface="Aptos"/>
                <a:ea typeface="Aptos"/>
                <a:cs typeface="Aptos"/>
                <a:sym typeface="Aptos"/>
              </a:rPr>
              <a:t>Cleaning</a:t>
            </a:r>
          </a:p>
        </p:txBody>
      </p:sp>
      <p:sp>
        <p:nvSpPr>
          <p:cNvPr name="TextBox 24" id="24"/>
          <p:cNvSpPr txBox="true"/>
          <p:nvPr/>
        </p:nvSpPr>
        <p:spPr>
          <a:xfrm rot="0">
            <a:off x="3905755" y="3637236"/>
            <a:ext cx="1235631" cy="203083"/>
          </a:xfrm>
          <a:prstGeom prst="rect">
            <a:avLst/>
          </a:prstGeom>
        </p:spPr>
        <p:txBody>
          <a:bodyPr anchor="t" rtlCol="false" tIns="0" lIns="0" bIns="0" rIns="0">
            <a:spAutoFit/>
          </a:bodyPr>
          <a:lstStyle/>
          <a:p>
            <a:pPr algn="l">
              <a:lnSpc>
                <a:spcPts val="1683"/>
              </a:lnSpc>
            </a:pPr>
            <a:r>
              <a:rPr lang="en-US" sz="1202">
                <a:solidFill>
                  <a:srgbClr val="0F172A"/>
                </a:solidFill>
                <a:latin typeface="Aptos"/>
                <a:ea typeface="Aptos"/>
                <a:cs typeface="Aptos"/>
                <a:sym typeface="Aptos"/>
              </a:rPr>
              <a:t>Feature selection</a:t>
            </a:r>
          </a:p>
        </p:txBody>
      </p:sp>
      <p:sp>
        <p:nvSpPr>
          <p:cNvPr name="TextBox 25" id="25"/>
          <p:cNvSpPr txBox="true"/>
          <p:nvPr/>
        </p:nvSpPr>
        <p:spPr>
          <a:xfrm rot="0">
            <a:off x="6687312" y="3637236"/>
            <a:ext cx="1215390" cy="203083"/>
          </a:xfrm>
          <a:prstGeom prst="rect">
            <a:avLst/>
          </a:prstGeom>
        </p:spPr>
        <p:txBody>
          <a:bodyPr anchor="t" rtlCol="false" tIns="0" lIns="0" bIns="0" rIns="0">
            <a:spAutoFit/>
          </a:bodyPr>
          <a:lstStyle/>
          <a:p>
            <a:pPr algn="l">
              <a:lnSpc>
                <a:spcPts val="1683"/>
              </a:lnSpc>
            </a:pPr>
            <a:r>
              <a:rPr lang="en-US" sz="1202">
                <a:solidFill>
                  <a:srgbClr val="0F172A"/>
                </a:solidFill>
                <a:latin typeface="Aptos"/>
                <a:ea typeface="Aptos"/>
                <a:cs typeface="Aptos"/>
                <a:sym typeface="Aptos"/>
              </a:rPr>
              <a:t>Model evaluation</a:t>
            </a:r>
          </a:p>
        </p:txBody>
      </p:sp>
      <p:sp>
        <p:nvSpPr>
          <p:cNvPr name="TextBox 26" id="26"/>
          <p:cNvSpPr txBox="true"/>
          <p:nvPr/>
        </p:nvSpPr>
        <p:spPr>
          <a:xfrm rot="0">
            <a:off x="6687312" y="1960455"/>
            <a:ext cx="1403385" cy="203083"/>
          </a:xfrm>
          <a:prstGeom prst="rect">
            <a:avLst/>
          </a:prstGeom>
        </p:spPr>
        <p:txBody>
          <a:bodyPr anchor="t" rtlCol="false" tIns="0" lIns="0" bIns="0" rIns="0">
            <a:spAutoFit/>
          </a:bodyPr>
          <a:lstStyle/>
          <a:p>
            <a:pPr algn="l">
              <a:lnSpc>
                <a:spcPts val="1683"/>
              </a:lnSpc>
            </a:pPr>
            <a:r>
              <a:rPr lang="en-US" sz="1202">
                <a:solidFill>
                  <a:srgbClr val="0F172A"/>
                </a:solidFill>
                <a:latin typeface="Aptos"/>
                <a:ea typeface="Aptos"/>
                <a:cs typeface="Aptos"/>
                <a:sym typeface="Aptos"/>
              </a:rPr>
              <a:t>Feature engineering</a:t>
            </a:r>
          </a:p>
        </p:txBody>
      </p:sp>
      <p:sp>
        <p:nvSpPr>
          <p:cNvPr name="TextBox 27" id="27"/>
          <p:cNvSpPr txBox="true"/>
          <p:nvPr/>
        </p:nvSpPr>
        <p:spPr>
          <a:xfrm rot="0">
            <a:off x="9469250" y="1960455"/>
            <a:ext cx="1169994" cy="203083"/>
          </a:xfrm>
          <a:prstGeom prst="rect">
            <a:avLst/>
          </a:prstGeom>
        </p:spPr>
        <p:txBody>
          <a:bodyPr anchor="t" rtlCol="false" tIns="0" lIns="0" bIns="0" rIns="0">
            <a:spAutoFit/>
          </a:bodyPr>
          <a:lstStyle/>
          <a:p>
            <a:pPr algn="l">
              <a:lnSpc>
                <a:spcPts val="1683"/>
              </a:lnSpc>
            </a:pPr>
            <a:r>
              <a:rPr lang="en-US" sz="1202">
                <a:solidFill>
                  <a:srgbClr val="0F172A"/>
                </a:solidFill>
                <a:latin typeface="Aptos"/>
                <a:ea typeface="Aptos"/>
                <a:cs typeface="Aptos"/>
                <a:sym typeface="Aptos"/>
              </a:rPr>
              <a:t>Split time-based</a:t>
            </a:r>
          </a:p>
        </p:txBody>
      </p:sp>
      <p:sp>
        <p:nvSpPr>
          <p:cNvPr name="TextBox 28" id="28"/>
          <p:cNvSpPr txBox="true"/>
          <p:nvPr/>
        </p:nvSpPr>
        <p:spPr>
          <a:xfrm rot="0">
            <a:off x="9469250" y="3637236"/>
            <a:ext cx="1173023" cy="203083"/>
          </a:xfrm>
          <a:prstGeom prst="rect">
            <a:avLst/>
          </a:prstGeom>
        </p:spPr>
        <p:txBody>
          <a:bodyPr anchor="t" rtlCol="false" tIns="0" lIns="0" bIns="0" rIns="0">
            <a:spAutoFit/>
          </a:bodyPr>
          <a:lstStyle/>
          <a:p>
            <a:pPr algn="l">
              <a:lnSpc>
                <a:spcPts val="1683"/>
              </a:lnSpc>
            </a:pPr>
            <a:r>
              <a:rPr lang="en-US" sz="1202" spc="1">
                <a:solidFill>
                  <a:srgbClr val="0F172A"/>
                </a:solidFill>
                <a:latin typeface="Aptos"/>
                <a:ea typeface="Aptos"/>
                <a:cs typeface="Aptos"/>
                <a:sym typeface="Aptos"/>
              </a:rPr>
              <a:t>XAI + conclusion</a:t>
            </a:r>
          </a:p>
        </p:txBody>
      </p:sp>
      <p:sp>
        <p:nvSpPr>
          <p:cNvPr name="TextBox 29" id="29"/>
          <p:cNvSpPr txBox="true"/>
          <p:nvPr/>
        </p:nvSpPr>
        <p:spPr>
          <a:xfrm rot="0">
            <a:off x="800100" y="3990718"/>
            <a:ext cx="1916240" cy="274951"/>
          </a:xfrm>
          <a:prstGeom prst="rect">
            <a:avLst/>
          </a:prstGeom>
        </p:spPr>
        <p:txBody>
          <a:bodyPr anchor="t" rtlCol="false" tIns="0" lIns="0" bIns="0" rIns="0">
            <a:spAutoFit/>
          </a:bodyPr>
          <a:lstStyle/>
          <a:p>
            <a:pPr algn="l">
              <a:lnSpc>
                <a:spcPts val="1104"/>
              </a:lnSpc>
            </a:pPr>
            <a:r>
              <a:rPr lang="en-US" sz="911" spc="1">
                <a:solidFill>
                  <a:srgbClr val="475569"/>
                </a:solidFill>
                <a:latin typeface="Aptos"/>
                <a:ea typeface="Aptos"/>
                <a:cs typeface="Aptos"/>
                <a:sym typeface="Aptos"/>
              </a:rPr>
              <a:t>Optuna for hyperparameters of each model family</a:t>
            </a:r>
          </a:p>
        </p:txBody>
      </p:sp>
      <p:sp>
        <p:nvSpPr>
          <p:cNvPr name="TextBox 30" id="30"/>
          <p:cNvSpPr txBox="true"/>
          <p:nvPr/>
        </p:nvSpPr>
        <p:spPr>
          <a:xfrm rot="0">
            <a:off x="800100" y="2314061"/>
            <a:ext cx="2165518" cy="289322"/>
          </a:xfrm>
          <a:prstGeom prst="rect">
            <a:avLst/>
          </a:prstGeom>
        </p:spPr>
        <p:txBody>
          <a:bodyPr anchor="t" rtlCol="false" tIns="0" lIns="0" bIns="0" rIns="0">
            <a:spAutoFit/>
          </a:bodyPr>
          <a:lstStyle/>
          <a:p>
            <a:pPr algn="l">
              <a:lnSpc>
                <a:spcPts val="1104"/>
              </a:lnSpc>
            </a:pPr>
            <a:r>
              <a:rPr lang="en-US" sz="911" spc="0">
                <a:solidFill>
                  <a:srgbClr val="475569"/>
                </a:solidFill>
                <a:latin typeface="Aptos"/>
                <a:ea typeface="Aptos"/>
                <a:cs typeface="Aptos"/>
                <a:sym typeface="Aptos"/>
              </a:rPr>
              <a:t>NVDA daily OHLCV via yfinance + VIX, SMH, SPY/QQQ context, earnings, IV proxy</a:t>
            </a:r>
          </a:p>
        </p:txBody>
      </p:sp>
      <p:sp>
        <p:nvSpPr>
          <p:cNvPr name="TextBox 31" id="31"/>
          <p:cNvSpPr txBox="true"/>
          <p:nvPr/>
        </p:nvSpPr>
        <p:spPr>
          <a:xfrm rot="0">
            <a:off x="3582038" y="2304536"/>
            <a:ext cx="1973560" cy="157810"/>
          </a:xfrm>
          <a:prstGeom prst="rect">
            <a:avLst/>
          </a:prstGeom>
        </p:spPr>
        <p:txBody>
          <a:bodyPr anchor="t" rtlCol="false" tIns="0" lIns="0" bIns="0" rIns="0">
            <a:spAutoFit/>
          </a:bodyPr>
          <a:lstStyle/>
          <a:p>
            <a:pPr algn="l">
              <a:lnSpc>
                <a:spcPts val="1276"/>
              </a:lnSpc>
            </a:pPr>
            <a:r>
              <a:rPr lang="en-US" sz="911">
                <a:solidFill>
                  <a:srgbClr val="475569"/>
                </a:solidFill>
                <a:latin typeface="Aptos"/>
                <a:ea typeface="Aptos"/>
                <a:cs typeface="Aptos"/>
                <a:sym typeface="Aptos"/>
              </a:rPr>
              <a:t>flattencolumns, align time index, delete</a:t>
            </a:r>
          </a:p>
        </p:txBody>
      </p:sp>
      <p:sp>
        <p:nvSpPr>
          <p:cNvPr name="TextBox 32" id="32"/>
          <p:cNvSpPr txBox="true"/>
          <p:nvPr/>
        </p:nvSpPr>
        <p:spPr>
          <a:xfrm rot="0">
            <a:off x="3582038" y="2444744"/>
            <a:ext cx="1446014" cy="157810"/>
          </a:xfrm>
          <a:prstGeom prst="rect">
            <a:avLst/>
          </a:prstGeom>
        </p:spPr>
        <p:txBody>
          <a:bodyPr anchor="t" rtlCol="false" tIns="0" lIns="0" bIns="0" rIns="0">
            <a:spAutoFit/>
          </a:bodyPr>
          <a:lstStyle/>
          <a:p>
            <a:pPr algn="l">
              <a:lnSpc>
                <a:spcPts val="1276"/>
              </a:lnSpc>
            </a:pPr>
            <a:r>
              <a:rPr lang="en-US" sz="911">
                <a:solidFill>
                  <a:srgbClr val="475569"/>
                </a:solidFill>
                <a:latin typeface="Aptos"/>
                <a:ea typeface="Aptos"/>
                <a:cs typeface="Aptos"/>
                <a:sym typeface="Aptos"/>
              </a:rPr>
              <a:t>NaNafter feature engineering</a:t>
            </a:r>
          </a:p>
        </p:txBody>
      </p:sp>
      <p:sp>
        <p:nvSpPr>
          <p:cNvPr name="TextBox 33" id="33"/>
          <p:cNvSpPr txBox="true"/>
          <p:nvPr/>
        </p:nvSpPr>
        <p:spPr>
          <a:xfrm rot="0">
            <a:off x="3582038" y="3990718"/>
            <a:ext cx="2130542" cy="408301"/>
          </a:xfrm>
          <a:prstGeom prst="rect">
            <a:avLst/>
          </a:prstGeom>
        </p:spPr>
        <p:txBody>
          <a:bodyPr anchor="t" rtlCol="false" tIns="0" lIns="0" bIns="0" rIns="0">
            <a:spAutoFit/>
          </a:bodyPr>
          <a:lstStyle/>
          <a:p>
            <a:pPr algn="l">
              <a:lnSpc>
                <a:spcPts val="1104"/>
              </a:lnSpc>
            </a:pPr>
            <a:r>
              <a:rPr lang="en-US" sz="911">
                <a:solidFill>
                  <a:srgbClr val="475569"/>
                </a:solidFill>
                <a:latin typeface="Aptos"/>
                <a:ea typeface="Aptos"/>
                <a:cs typeface="Aptos"/>
                <a:sym typeface="Aptos"/>
              </a:rPr>
              <a:t>Permutation importance in the validation set; Top-N fallback if the threshold is too strict</a:t>
            </a:r>
          </a:p>
        </p:txBody>
      </p:sp>
      <p:sp>
        <p:nvSpPr>
          <p:cNvPr name="TextBox 34" id="34"/>
          <p:cNvSpPr txBox="true"/>
          <p:nvPr/>
        </p:nvSpPr>
        <p:spPr>
          <a:xfrm rot="0">
            <a:off x="6363586" y="3981193"/>
            <a:ext cx="1666142" cy="158639"/>
          </a:xfrm>
          <a:prstGeom prst="rect">
            <a:avLst/>
          </a:prstGeom>
        </p:spPr>
        <p:txBody>
          <a:bodyPr anchor="t" rtlCol="false" tIns="0" lIns="0" bIns="0" rIns="0">
            <a:spAutoFit/>
          </a:bodyPr>
          <a:lstStyle/>
          <a:p>
            <a:pPr algn="l">
              <a:lnSpc>
                <a:spcPts val="1276"/>
              </a:lnSpc>
            </a:pPr>
            <a:r>
              <a:rPr lang="en-US" sz="911">
                <a:solidFill>
                  <a:srgbClr val="475569"/>
                </a:solidFill>
                <a:latin typeface="Aptos"/>
                <a:ea typeface="Aptos"/>
                <a:cs typeface="Aptos"/>
                <a:sym typeface="Aptos"/>
              </a:rPr>
              <a:t>MAE,RMSE, R2, DA, rolling price </a:t>
            </a:r>
          </a:p>
        </p:txBody>
      </p:sp>
      <p:sp>
        <p:nvSpPr>
          <p:cNvPr name="TextBox 35" id="35"/>
          <p:cNvSpPr txBox="true"/>
          <p:nvPr/>
        </p:nvSpPr>
        <p:spPr>
          <a:xfrm rot="0">
            <a:off x="6363586" y="4121401"/>
            <a:ext cx="1384201" cy="157810"/>
          </a:xfrm>
          <a:prstGeom prst="rect">
            <a:avLst/>
          </a:prstGeom>
        </p:spPr>
        <p:txBody>
          <a:bodyPr anchor="t" rtlCol="false" tIns="0" lIns="0" bIns="0" rIns="0">
            <a:spAutoFit/>
          </a:bodyPr>
          <a:lstStyle/>
          <a:p>
            <a:pPr algn="l">
              <a:lnSpc>
                <a:spcPts val="1276"/>
              </a:lnSpc>
            </a:pPr>
            <a:r>
              <a:rPr lang="en-US" sz="911" spc="0">
                <a:solidFill>
                  <a:srgbClr val="475569"/>
                </a:solidFill>
                <a:latin typeface="Aptos"/>
                <a:ea typeface="Aptos"/>
                <a:cs typeface="Aptos"/>
                <a:sym typeface="Aptos"/>
              </a:rPr>
              <a:t>MAE/MAPE, zoom 3 months</a:t>
            </a:r>
          </a:p>
        </p:txBody>
      </p:sp>
      <p:sp>
        <p:nvSpPr>
          <p:cNvPr name="TextBox 36" id="36"/>
          <p:cNvSpPr txBox="true"/>
          <p:nvPr/>
        </p:nvSpPr>
        <p:spPr>
          <a:xfrm rot="0">
            <a:off x="6363586" y="2304536"/>
            <a:ext cx="1577380" cy="157810"/>
          </a:xfrm>
          <a:prstGeom prst="rect">
            <a:avLst/>
          </a:prstGeom>
        </p:spPr>
        <p:txBody>
          <a:bodyPr anchor="t" rtlCol="false" tIns="0" lIns="0" bIns="0" rIns="0">
            <a:spAutoFit/>
          </a:bodyPr>
          <a:lstStyle/>
          <a:p>
            <a:pPr algn="l">
              <a:lnSpc>
                <a:spcPts val="1276"/>
              </a:lnSpc>
            </a:pPr>
            <a:r>
              <a:rPr lang="en-US" sz="911" spc="0">
                <a:solidFill>
                  <a:srgbClr val="475569"/>
                </a:solidFill>
                <a:latin typeface="Aptos"/>
                <a:ea typeface="Aptos"/>
                <a:cs typeface="Aptos"/>
                <a:sym typeface="Aptos"/>
              </a:rPr>
              <a:t>71features: technical, volatility,</a:t>
            </a:r>
          </a:p>
        </p:txBody>
      </p:sp>
      <p:sp>
        <p:nvSpPr>
          <p:cNvPr name="TextBox 37" id="37"/>
          <p:cNvSpPr txBox="true"/>
          <p:nvPr/>
        </p:nvSpPr>
        <p:spPr>
          <a:xfrm rot="0">
            <a:off x="6363586" y="2463794"/>
            <a:ext cx="1925336" cy="267047"/>
          </a:xfrm>
          <a:prstGeom prst="rect">
            <a:avLst/>
          </a:prstGeom>
        </p:spPr>
        <p:txBody>
          <a:bodyPr anchor="t" rtlCol="false" tIns="0" lIns="0" bIns="0" rIns="0">
            <a:spAutoFit/>
          </a:bodyPr>
          <a:lstStyle/>
          <a:p>
            <a:pPr algn="l">
              <a:lnSpc>
                <a:spcPts val="1091"/>
              </a:lnSpc>
            </a:pPr>
            <a:r>
              <a:rPr lang="en-US" sz="911">
                <a:solidFill>
                  <a:srgbClr val="475569"/>
                </a:solidFill>
                <a:latin typeface="Aptos"/>
                <a:ea typeface="Aptos"/>
                <a:cs typeface="Aptos"/>
                <a:sym typeface="Aptos"/>
              </a:rPr>
              <a:t>lag/momentum, volume flow, relative strength</a:t>
            </a:r>
          </a:p>
        </p:txBody>
      </p:sp>
      <p:sp>
        <p:nvSpPr>
          <p:cNvPr name="TextBox 38" id="38"/>
          <p:cNvSpPr txBox="true"/>
          <p:nvPr/>
        </p:nvSpPr>
        <p:spPr>
          <a:xfrm rot="0">
            <a:off x="9145267" y="3981193"/>
            <a:ext cx="2050653" cy="157810"/>
          </a:xfrm>
          <a:prstGeom prst="rect">
            <a:avLst/>
          </a:prstGeom>
        </p:spPr>
        <p:txBody>
          <a:bodyPr anchor="t" rtlCol="false" tIns="0" lIns="0" bIns="0" rIns="0">
            <a:spAutoFit/>
          </a:bodyPr>
          <a:lstStyle/>
          <a:p>
            <a:pPr algn="l">
              <a:lnSpc>
                <a:spcPts val="1276"/>
              </a:lnSpc>
            </a:pPr>
            <a:r>
              <a:rPr lang="en-US" sz="911" spc="0">
                <a:solidFill>
                  <a:srgbClr val="475569"/>
                </a:solidFill>
                <a:latin typeface="Aptos"/>
                <a:ea typeface="Aptos"/>
                <a:cs typeface="Aptos"/>
                <a:sym typeface="Aptos"/>
              </a:rPr>
              <a:t>SHAPBiLSTM from the request image and</a:t>
            </a:r>
          </a:p>
        </p:txBody>
      </p:sp>
      <p:sp>
        <p:nvSpPr>
          <p:cNvPr name="TextBox 39" id="39"/>
          <p:cNvSpPr txBox="true"/>
          <p:nvPr/>
        </p:nvSpPr>
        <p:spPr>
          <a:xfrm rot="0">
            <a:off x="9145267" y="4121401"/>
            <a:ext cx="1216422" cy="157810"/>
          </a:xfrm>
          <a:prstGeom prst="rect">
            <a:avLst/>
          </a:prstGeom>
        </p:spPr>
        <p:txBody>
          <a:bodyPr anchor="t" rtlCol="false" tIns="0" lIns="0" bIns="0" rIns="0">
            <a:spAutoFit/>
          </a:bodyPr>
          <a:lstStyle/>
          <a:p>
            <a:pPr algn="l">
              <a:lnSpc>
                <a:spcPts val="1276"/>
              </a:lnSpc>
            </a:pPr>
            <a:r>
              <a:rPr lang="en-US" sz="911">
                <a:solidFill>
                  <a:srgbClr val="475569"/>
                </a:solidFill>
                <a:latin typeface="Aptos"/>
                <a:ea typeface="Aptos"/>
                <a:cs typeface="Aptos"/>
                <a:sym typeface="Aptos"/>
              </a:rPr>
              <a:t>c</a:t>
            </a:r>
            <a:r>
              <a:rPr lang="en-US" sz="911">
                <a:solidFill>
                  <a:srgbClr val="475569"/>
                </a:solidFill>
                <a:latin typeface="Aptos"/>
                <a:ea typeface="Aptos"/>
                <a:cs typeface="Aptos"/>
                <a:sym typeface="Aptos"/>
              </a:rPr>
              <a:t>onservative conclusion</a:t>
            </a:r>
          </a:p>
        </p:txBody>
      </p:sp>
      <p:sp>
        <p:nvSpPr>
          <p:cNvPr name="TextBox 40" id="40"/>
          <p:cNvSpPr txBox="true"/>
          <p:nvPr/>
        </p:nvSpPr>
        <p:spPr>
          <a:xfrm rot="0">
            <a:off x="9145267" y="2304536"/>
            <a:ext cx="2189659" cy="157810"/>
          </a:xfrm>
          <a:prstGeom prst="rect">
            <a:avLst/>
          </a:prstGeom>
        </p:spPr>
        <p:txBody>
          <a:bodyPr anchor="t" rtlCol="false" tIns="0" lIns="0" bIns="0" rIns="0">
            <a:spAutoFit/>
          </a:bodyPr>
          <a:lstStyle/>
          <a:p>
            <a:pPr algn="l">
              <a:lnSpc>
                <a:spcPts val="1276"/>
              </a:lnSpc>
            </a:pPr>
            <a:r>
              <a:rPr lang="en-US" sz="911">
                <a:solidFill>
                  <a:srgbClr val="475569"/>
                </a:solidFill>
                <a:latin typeface="Aptos"/>
                <a:ea typeface="Aptos"/>
                <a:cs typeface="Aptos"/>
                <a:sym typeface="Aptos"/>
              </a:rPr>
              <a:t>70% train, 15% validation, 15% test; without</a:t>
            </a:r>
          </a:p>
        </p:txBody>
      </p:sp>
      <p:sp>
        <p:nvSpPr>
          <p:cNvPr name="TextBox 41" id="41"/>
          <p:cNvSpPr txBox="true"/>
          <p:nvPr/>
        </p:nvSpPr>
        <p:spPr>
          <a:xfrm rot="0">
            <a:off x="9145267" y="2444744"/>
            <a:ext cx="775240" cy="158639"/>
          </a:xfrm>
          <a:prstGeom prst="rect">
            <a:avLst/>
          </a:prstGeom>
        </p:spPr>
        <p:txBody>
          <a:bodyPr anchor="t" rtlCol="false" tIns="0" lIns="0" bIns="0" rIns="0">
            <a:spAutoFit/>
          </a:bodyPr>
          <a:lstStyle/>
          <a:p>
            <a:pPr algn="l">
              <a:lnSpc>
                <a:spcPts val="1276"/>
              </a:lnSpc>
            </a:pPr>
            <a:r>
              <a:rPr lang="en-US" sz="911">
                <a:solidFill>
                  <a:srgbClr val="475569"/>
                </a:solidFill>
                <a:latin typeface="Aptos"/>
                <a:ea typeface="Aptos"/>
                <a:cs typeface="Aptos"/>
                <a:sym typeface="Aptos"/>
              </a:rPr>
              <a:t>random shuffle</a:t>
            </a:r>
          </a:p>
        </p:txBody>
      </p:sp>
      <p:sp>
        <p:nvSpPr>
          <p:cNvPr name="TextBox 42" id="42"/>
          <p:cNvSpPr txBox="true"/>
          <p:nvPr/>
        </p:nvSpPr>
        <p:spPr>
          <a:xfrm rot="0">
            <a:off x="723900" y="5247723"/>
            <a:ext cx="8704755" cy="410608"/>
          </a:xfrm>
          <a:prstGeom prst="rect">
            <a:avLst/>
          </a:prstGeom>
        </p:spPr>
        <p:txBody>
          <a:bodyPr anchor="t" rtlCol="false" tIns="0" lIns="0" bIns="0" rIns="0">
            <a:spAutoFit/>
          </a:bodyPr>
          <a:lstStyle/>
          <a:p>
            <a:pPr algn="l">
              <a:lnSpc>
                <a:spcPts val="1619"/>
              </a:lnSpc>
            </a:pPr>
            <a:r>
              <a:rPr lang="en-US" sz="1356">
                <a:solidFill>
                  <a:srgbClr val="0F172A"/>
                </a:solidFill>
                <a:latin typeface="Aptos"/>
                <a:ea typeface="Aptos"/>
                <a:cs typeface="Aptos"/>
                <a:sym typeface="Aptos"/>
              </a:rPr>
              <a:t>The main v</a:t>
            </a:r>
            <a:r>
              <a:rPr lang="en-US" sz="1356">
                <a:solidFill>
                  <a:srgbClr val="0F172A"/>
                </a:solidFill>
                <a:latin typeface="Aptos"/>
                <a:ea typeface="Aptos"/>
                <a:cs typeface="Aptos"/>
                <a:sym typeface="Aptos"/>
              </a:rPr>
              <a:t>alidation is in the test future period and rolling one-step: predicted_price[t] = actual_price[t-1] x (1 + predicted_return[t]).</a:t>
            </a:r>
          </a:p>
        </p:txBody>
      </p:sp>
      <p:sp>
        <p:nvSpPr>
          <p:cNvPr name="TextBox 43" id="43"/>
          <p:cNvSpPr txBox="true"/>
          <p:nvPr/>
        </p:nvSpPr>
        <p:spPr>
          <a:xfrm rot="0">
            <a:off x="533400" y="6334506"/>
            <a:ext cx="1949148"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MachineLearningFinalBanget (1).ipynb</a:t>
            </a:r>
          </a:p>
        </p:txBody>
      </p:sp>
      <p:sp>
        <p:nvSpPr>
          <p:cNvPr name="Freeform 44" id="44"/>
          <p:cNvSpPr/>
          <p:nvPr/>
        </p:nvSpPr>
        <p:spPr>
          <a:xfrm flipH="false" flipV="false" rot="0">
            <a:off x="533400" y="1168405"/>
            <a:ext cx="10964856" cy="5373434"/>
          </a:xfrm>
          <a:custGeom>
            <a:avLst/>
            <a:gdLst/>
            <a:ahLst/>
            <a:cxnLst/>
            <a:rect r="r" b="b" t="t" l="l"/>
            <a:pathLst>
              <a:path h="5373434" w="10964856">
                <a:moveTo>
                  <a:pt x="0" y="0"/>
                </a:moveTo>
                <a:lnTo>
                  <a:pt x="10964856" y="0"/>
                </a:lnTo>
                <a:lnTo>
                  <a:pt x="10964856" y="5373434"/>
                </a:lnTo>
                <a:lnTo>
                  <a:pt x="0" y="5373434"/>
                </a:lnTo>
                <a:lnTo>
                  <a:pt x="0" y="0"/>
                </a:lnTo>
                <a:close/>
              </a:path>
            </a:pathLst>
          </a:custGeom>
          <a:blipFill>
            <a:blip r:embed="rId9"/>
            <a:stretch>
              <a:fillRect l="0" t="-9040" r="0" b="-2425"/>
            </a:stretch>
          </a:blipFill>
        </p:spPr>
      </p:sp>
      <p:sp>
        <p:nvSpPr>
          <p:cNvPr name="TextBox 45" id="45"/>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05</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79434" y="1779584"/>
            <a:ext cx="2422522" cy="1260472"/>
          </a:xfrm>
          <a:custGeom>
            <a:avLst/>
            <a:gdLst/>
            <a:ahLst/>
            <a:cxnLst/>
            <a:rect r="r" b="b" t="t" l="l"/>
            <a:pathLst>
              <a:path h="1260472" w="2422522">
                <a:moveTo>
                  <a:pt x="0" y="0"/>
                </a:moveTo>
                <a:lnTo>
                  <a:pt x="2422522" y="0"/>
                </a:lnTo>
                <a:lnTo>
                  <a:pt x="2422522" y="1260472"/>
                </a:lnTo>
                <a:lnTo>
                  <a:pt x="0" y="12604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79434" y="3113084"/>
            <a:ext cx="2422522" cy="1260472"/>
          </a:xfrm>
          <a:custGeom>
            <a:avLst/>
            <a:gdLst/>
            <a:ahLst/>
            <a:cxnLst/>
            <a:rect r="r" b="b" t="t" l="l"/>
            <a:pathLst>
              <a:path h="1260472" w="2422522">
                <a:moveTo>
                  <a:pt x="0" y="0"/>
                </a:moveTo>
                <a:lnTo>
                  <a:pt x="2422522" y="0"/>
                </a:lnTo>
                <a:lnTo>
                  <a:pt x="2422522" y="1260472"/>
                </a:lnTo>
                <a:lnTo>
                  <a:pt x="0" y="1260472"/>
                </a:lnTo>
                <a:lnTo>
                  <a:pt x="0" y="0"/>
                </a:lnTo>
                <a:close/>
              </a:path>
            </a:pathLst>
          </a:custGeom>
          <a:blipFill>
            <a:blip r:embed="rId4">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579434" y="4446584"/>
            <a:ext cx="2422522" cy="1260472"/>
          </a:xfrm>
          <a:custGeom>
            <a:avLst/>
            <a:gdLst/>
            <a:ahLst/>
            <a:cxnLst/>
            <a:rect r="r" b="b" t="t" l="l"/>
            <a:pathLst>
              <a:path h="1260472" w="2422522">
                <a:moveTo>
                  <a:pt x="0" y="0"/>
                </a:moveTo>
                <a:lnTo>
                  <a:pt x="2422522" y="0"/>
                </a:lnTo>
                <a:lnTo>
                  <a:pt x="2422522" y="1260472"/>
                </a:lnTo>
                <a:lnTo>
                  <a:pt x="0" y="1260472"/>
                </a:lnTo>
                <a:lnTo>
                  <a:pt x="0" y="0"/>
                </a:lnTo>
                <a:close/>
              </a:path>
            </a:pathLst>
          </a:custGeom>
          <a:blipFill>
            <a:blip r:embed="rId4">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3308347" y="1746247"/>
            <a:ext cx="7861297" cy="1193797"/>
          </a:xfrm>
          <a:custGeom>
            <a:avLst/>
            <a:gdLst/>
            <a:ahLst/>
            <a:cxnLst/>
            <a:rect r="r" b="b" t="t" l="l"/>
            <a:pathLst>
              <a:path h="1193797" w="7861297">
                <a:moveTo>
                  <a:pt x="0" y="0"/>
                </a:moveTo>
                <a:lnTo>
                  <a:pt x="7861297" y="0"/>
                </a:lnTo>
                <a:lnTo>
                  <a:pt x="7861297" y="1193797"/>
                </a:lnTo>
                <a:lnTo>
                  <a:pt x="0" y="119379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3308347" y="3317872"/>
            <a:ext cx="7861297" cy="650872"/>
          </a:xfrm>
          <a:custGeom>
            <a:avLst/>
            <a:gdLst/>
            <a:ahLst/>
            <a:cxnLst/>
            <a:rect r="r" b="b" t="t" l="l"/>
            <a:pathLst>
              <a:path h="650872" w="7861297">
                <a:moveTo>
                  <a:pt x="0" y="0"/>
                </a:moveTo>
                <a:lnTo>
                  <a:pt x="7861297" y="0"/>
                </a:lnTo>
                <a:lnTo>
                  <a:pt x="7861297" y="650872"/>
                </a:lnTo>
                <a:lnTo>
                  <a:pt x="0" y="6508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3308347" y="4346572"/>
            <a:ext cx="7861297" cy="650872"/>
          </a:xfrm>
          <a:custGeom>
            <a:avLst/>
            <a:gdLst/>
            <a:ahLst/>
            <a:cxnLst/>
            <a:rect r="r" b="b" t="t" l="l"/>
            <a:pathLst>
              <a:path h="650872" w="7861297">
                <a:moveTo>
                  <a:pt x="0" y="0"/>
                </a:moveTo>
                <a:lnTo>
                  <a:pt x="7861297" y="0"/>
                </a:lnTo>
                <a:lnTo>
                  <a:pt x="7861297" y="650872"/>
                </a:lnTo>
                <a:lnTo>
                  <a:pt x="0" y="650872"/>
                </a:lnTo>
                <a:lnTo>
                  <a:pt x="0" y="0"/>
                </a:lnTo>
                <a:close/>
              </a:path>
            </a:pathLst>
          </a:custGeom>
          <a:blipFill>
            <a:blip r:embed="rId12">
              <a:extLst>
                <a:ext uri="{96DAC541-7B7A-43D3-8B79-37D633B846F1}">
                  <asvg:svgBlip xmlns:asvg="http://schemas.microsoft.com/office/drawing/2016/SVG/main" r:embed="rId14"/>
                </a:ext>
              </a:extLst>
            </a:blip>
            <a:stretch>
              <a:fillRect l="0" t="0" r="0" b="0"/>
            </a:stretch>
          </a:blipFill>
        </p:spPr>
      </p:sp>
      <p:sp>
        <p:nvSpPr>
          <p:cNvPr name="TextBox 10" id="10"/>
          <p:cNvSpPr txBox="true"/>
          <p:nvPr/>
        </p:nvSpPr>
        <p:spPr>
          <a:xfrm rot="0">
            <a:off x="838200" y="425596"/>
            <a:ext cx="955072" cy="156801"/>
          </a:xfrm>
          <a:prstGeom prst="rect">
            <a:avLst/>
          </a:prstGeom>
        </p:spPr>
        <p:txBody>
          <a:bodyPr anchor="t" rtlCol="false" tIns="0" lIns="0" bIns="0" rIns="0">
            <a:spAutoFit/>
          </a:bodyPr>
          <a:lstStyle/>
          <a:p>
            <a:pPr algn="l">
              <a:lnSpc>
                <a:spcPts val="1260"/>
              </a:lnSpc>
            </a:pPr>
            <a:r>
              <a:rPr lang="en-US" sz="900" spc="1">
                <a:solidFill>
                  <a:srgbClr val="0E7490"/>
                </a:solidFill>
                <a:latin typeface="Aptos"/>
                <a:ea typeface="Aptos"/>
                <a:cs typeface="Aptos"/>
                <a:sym typeface="Aptos"/>
              </a:rPr>
              <a:t>DATA GATHERING</a:t>
            </a:r>
          </a:p>
        </p:txBody>
      </p:sp>
      <p:sp>
        <p:nvSpPr>
          <p:cNvPr name="TextBox 11" id="11"/>
          <p:cNvSpPr txBox="true"/>
          <p:nvPr/>
        </p:nvSpPr>
        <p:spPr>
          <a:xfrm rot="0">
            <a:off x="533400" y="693639"/>
            <a:ext cx="9740998" cy="824865"/>
          </a:xfrm>
          <a:prstGeom prst="rect">
            <a:avLst/>
          </a:prstGeom>
        </p:spPr>
        <p:txBody>
          <a:bodyPr anchor="t" rtlCol="false" tIns="0" lIns="0" bIns="0" rIns="0">
            <a:spAutoFit/>
          </a:bodyPr>
          <a:lstStyle/>
          <a:p>
            <a:pPr algn="l">
              <a:lnSpc>
                <a:spcPts val="3359"/>
              </a:lnSpc>
            </a:pPr>
            <a:r>
              <a:rPr lang="en-US" sz="2400">
                <a:solidFill>
                  <a:srgbClr val="0F172A"/>
                </a:solidFill>
                <a:latin typeface="Aptos"/>
                <a:ea typeface="Aptos"/>
                <a:cs typeface="Aptos"/>
                <a:sym typeface="Aptos"/>
              </a:rPr>
              <a:t>Th</a:t>
            </a:r>
            <a:r>
              <a:rPr lang="en-US" sz="2400">
                <a:solidFill>
                  <a:srgbClr val="0F172A"/>
                </a:solidFill>
                <a:latin typeface="Aptos"/>
                <a:ea typeface="Aptos"/>
                <a:cs typeface="Aptos"/>
                <a:sym typeface="Aptos"/>
              </a:rPr>
              <a:t>e main dataset is NVDA daily data, then expanded with market signals and risks.</a:t>
            </a:r>
          </a:p>
        </p:txBody>
      </p:sp>
      <p:sp>
        <p:nvSpPr>
          <p:cNvPr name="TextBox 12" id="12"/>
          <p:cNvSpPr txBox="true"/>
          <p:nvPr/>
        </p:nvSpPr>
        <p:spPr>
          <a:xfrm rot="0">
            <a:off x="800100" y="4590040"/>
            <a:ext cx="707874" cy="523875"/>
          </a:xfrm>
          <a:prstGeom prst="rect">
            <a:avLst/>
          </a:prstGeom>
        </p:spPr>
        <p:txBody>
          <a:bodyPr anchor="t" rtlCol="false" tIns="0" lIns="0" bIns="0" rIns="0">
            <a:spAutoFit/>
          </a:bodyPr>
          <a:lstStyle/>
          <a:p>
            <a:pPr algn="l">
              <a:lnSpc>
                <a:spcPts val="2839"/>
              </a:lnSpc>
            </a:pPr>
            <a:r>
              <a:rPr lang="en-US" sz="2028">
                <a:solidFill>
                  <a:srgbClr val="7C3AED"/>
                </a:solidFill>
                <a:latin typeface="Aptos"/>
                <a:ea typeface="Aptos"/>
                <a:cs typeface="Aptos"/>
                <a:sym typeface="Aptos"/>
              </a:rPr>
              <a:t>71</a:t>
            </a:r>
            <a:r>
              <a:rPr lang="en-US" sz="2028">
                <a:solidFill>
                  <a:srgbClr val="0F172A"/>
                </a:solidFill>
                <a:latin typeface="Aptos"/>
                <a:ea typeface="Aptos"/>
                <a:cs typeface="Aptos"/>
                <a:sym typeface="Aptos"/>
              </a:rPr>
              <a:t> </a:t>
            </a:r>
          </a:p>
          <a:p>
            <a:pPr algn="l">
              <a:lnSpc>
                <a:spcPts val="1360"/>
              </a:lnSpc>
            </a:pPr>
            <a:r>
              <a:rPr lang="en-US" sz="972" spc="0">
                <a:solidFill>
                  <a:srgbClr val="0F172A"/>
                </a:solidFill>
                <a:latin typeface="Aptos"/>
                <a:ea typeface="Aptos"/>
                <a:cs typeface="Aptos"/>
                <a:sym typeface="Aptos"/>
              </a:rPr>
              <a:t>final feature</a:t>
            </a:r>
          </a:p>
        </p:txBody>
      </p:sp>
      <p:sp>
        <p:nvSpPr>
          <p:cNvPr name="TextBox 13" id="13"/>
          <p:cNvSpPr txBox="true"/>
          <p:nvPr/>
        </p:nvSpPr>
        <p:spPr>
          <a:xfrm rot="0">
            <a:off x="800100" y="1922536"/>
            <a:ext cx="634965" cy="348501"/>
          </a:xfrm>
          <a:prstGeom prst="rect">
            <a:avLst/>
          </a:prstGeom>
        </p:spPr>
        <p:txBody>
          <a:bodyPr anchor="t" rtlCol="false" tIns="0" lIns="0" bIns="0" rIns="0">
            <a:spAutoFit/>
          </a:bodyPr>
          <a:lstStyle/>
          <a:p>
            <a:pPr algn="l">
              <a:lnSpc>
                <a:spcPts val="2839"/>
              </a:lnSpc>
            </a:pPr>
            <a:r>
              <a:rPr lang="en-US" sz="2028">
                <a:solidFill>
                  <a:srgbClr val="0E7490"/>
                </a:solidFill>
                <a:latin typeface="Aptos"/>
                <a:ea typeface="Aptos"/>
                <a:cs typeface="Aptos"/>
                <a:sym typeface="Aptos"/>
              </a:rPr>
              <a:t>6,870</a:t>
            </a:r>
          </a:p>
        </p:txBody>
      </p:sp>
      <p:sp>
        <p:nvSpPr>
          <p:cNvPr name="TextBox 14" id="14"/>
          <p:cNvSpPr txBox="true"/>
          <p:nvPr/>
        </p:nvSpPr>
        <p:spPr>
          <a:xfrm rot="0">
            <a:off x="1019337" y="2305069"/>
            <a:ext cx="25556" cy="167821"/>
          </a:xfrm>
          <a:prstGeom prst="rect">
            <a:avLst/>
          </a:prstGeom>
        </p:spPr>
        <p:txBody>
          <a:bodyPr anchor="t" rtlCol="false" tIns="0" lIns="0" bIns="0" rIns="0">
            <a:spAutoFit/>
          </a:bodyPr>
          <a:lstStyle/>
          <a:p>
            <a:pPr algn="l">
              <a:lnSpc>
                <a:spcPts val="1360"/>
              </a:lnSpc>
            </a:pPr>
            <a:r>
              <a:rPr lang="en-US" sz="972">
                <a:solidFill>
                  <a:srgbClr val="0F172A"/>
                </a:solidFill>
                <a:latin typeface="Aptos"/>
                <a:ea typeface="Aptos"/>
                <a:cs typeface="Aptos"/>
                <a:sym typeface="Aptos"/>
              </a:rPr>
              <a:t> </a:t>
            </a:r>
          </a:p>
        </p:txBody>
      </p:sp>
      <p:sp>
        <p:nvSpPr>
          <p:cNvPr name="TextBox 15" id="15"/>
          <p:cNvSpPr txBox="true"/>
          <p:nvPr/>
        </p:nvSpPr>
        <p:spPr>
          <a:xfrm rot="0">
            <a:off x="800100" y="3256283"/>
            <a:ext cx="634965" cy="549145"/>
          </a:xfrm>
          <a:prstGeom prst="rect">
            <a:avLst/>
          </a:prstGeom>
        </p:spPr>
        <p:txBody>
          <a:bodyPr anchor="t" rtlCol="false" tIns="0" lIns="0" bIns="0" rIns="0">
            <a:spAutoFit/>
          </a:bodyPr>
          <a:lstStyle/>
          <a:p>
            <a:pPr algn="l">
              <a:lnSpc>
                <a:spcPts val="2839"/>
              </a:lnSpc>
            </a:pPr>
            <a:r>
              <a:rPr lang="en-US" sz="2028">
                <a:solidFill>
                  <a:srgbClr val="16A34A"/>
                </a:solidFill>
                <a:latin typeface="Aptos"/>
                <a:ea typeface="Aptos"/>
                <a:cs typeface="Aptos"/>
                <a:sym typeface="Aptos"/>
              </a:rPr>
              <a:t>6,529</a:t>
            </a:r>
          </a:p>
        </p:txBody>
      </p:sp>
      <p:sp>
        <p:nvSpPr>
          <p:cNvPr name="TextBox 16" id="16"/>
          <p:cNvSpPr txBox="true"/>
          <p:nvPr/>
        </p:nvSpPr>
        <p:spPr>
          <a:xfrm rot="0">
            <a:off x="1113777" y="3886210"/>
            <a:ext cx="20193" cy="127073"/>
          </a:xfrm>
          <a:prstGeom prst="rect">
            <a:avLst/>
          </a:prstGeom>
        </p:spPr>
        <p:txBody>
          <a:bodyPr anchor="t" rtlCol="false" tIns="0" lIns="0" bIns="0" rIns="0">
            <a:spAutoFit/>
          </a:bodyPr>
          <a:lstStyle/>
          <a:p>
            <a:pPr algn="l">
              <a:lnSpc>
                <a:spcPts val="1075"/>
              </a:lnSpc>
            </a:pPr>
            <a:r>
              <a:rPr lang="en-US" sz="767">
                <a:solidFill>
                  <a:srgbClr val="475569"/>
                </a:solidFill>
                <a:latin typeface="Aptos"/>
                <a:ea typeface="Aptos"/>
                <a:cs typeface="Aptos"/>
                <a:sym typeface="Aptos"/>
              </a:rPr>
              <a:t> </a:t>
            </a:r>
          </a:p>
        </p:txBody>
      </p:sp>
      <p:sp>
        <p:nvSpPr>
          <p:cNvPr name="TextBox 17" id="17"/>
          <p:cNvSpPr txBox="true"/>
          <p:nvPr/>
        </p:nvSpPr>
        <p:spPr>
          <a:xfrm rot="0">
            <a:off x="1312164" y="5219957"/>
            <a:ext cx="20193" cy="127073"/>
          </a:xfrm>
          <a:prstGeom prst="rect">
            <a:avLst/>
          </a:prstGeom>
        </p:spPr>
        <p:txBody>
          <a:bodyPr anchor="t" rtlCol="false" tIns="0" lIns="0" bIns="0" rIns="0">
            <a:spAutoFit/>
          </a:bodyPr>
          <a:lstStyle/>
          <a:p>
            <a:pPr algn="l">
              <a:lnSpc>
                <a:spcPts val="1075"/>
              </a:lnSpc>
            </a:pPr>
            <a:r>
              <a:rPr lang="en-US" sz="767">
                <a:solidFill>
                  <a:srgbClr val="475569"/>
                </a:solidFill>
                <a:latin typeface="Aptos"/>
                <a:ea typeface="Aptos"/>
                <a:cs typeface="Aptos"/>
                <a:sym typeface="Aptos"/>
              </a:rPr>
              <a:t> </a:t>
            </a:r>
          </a:p>
        </p:txBody>
      </p:sp>
      <p:sp>
        <p:nvSpPr>
          <p:cNvPr name="TextBox 18" id="18"/>
          <p:cNvSpPr txBox="true"/>
          <p:nvPr/>
        </p:nvSpPr>
        <p:spPr>
          <a:xfrm rot="0">
            <a:off x="800100" y="2305069"/>
            <a:ext cx="1896113" cy="435102"/>
          </a:xfrm>
          <a:prstGeom prst="rect">
            <a:avLst/>
          </a:prstGeom>
        </p:spPr>
        <p:txBody>
          <a:bodyPr anchor="t" rtlCol="false" tIns="0" lIns="0" bIns="0" rIns="0">
            <a:spAutoFit/>
          </a:bodyPr>
          <a:lstStyle/>
          <a:p>
            <a:pPr algn="l">
              <a:lnSpc>
                <a:spcPts val="1360"/>
              </a:lnSpc>
            </a:pPr>
            <a:r>
              <a:rPr lang="en-US" sz="972">
                <a:solidFill>
                  <a:srgbClr val="0F172A"/>
                </a:solidFill>
                <a:latin typeface="Aptos"/>
                <a:ea typeface="Aptos"/>
                <a:cs typeface="Aptos"/>
                <a:sym typeface="Aptos"/>
              </a:rPr>
              <a:t>t</a:t>
            </a:r>
            <a:r>
              <a:rPr lang="en-US" sz="972">
                <a:solidFill>
                  <a:srgbClr val="0F172A"/>
                </a:solidFill>
                <a:latin typeface="Aptos"/>
                <a:ea typeface="Aptos"/>
                <a:cs typeface="Aptos"/>
                <a:sym typeface="Aptos"/>
              </a:rPr>
              <a:t>rading day</a:t>
            </a:r>
          </a:p>
          <a:p>
            <a:pPr algn="l">
              <a:lnSpc>
                <a:spcPts val="1075"/>
              </a:lnSpc>
            </a:pPr>
            <a:r>
              <a:rPr lang="en-US" sz="767">
                <a:solidFill>
                  <a:srgbClr val="0F172A"/>
                </a:solidFill>
                <a:latin typeface="Aptos"/>
                <a:ea typeface="Aptos"/>
                <a:cs typeface="Aptos"/>
                <a:sym typeface="Aptos"/>
              </a:rPr>
              <a:t>download historical NVDA from Yahoo Finance</a:t>
            </a:r>
          </a:p>
        </p:txBody>
      </p:sp>
      <p:sp>
        <p:nvSpPr>
          <p:cNvPr name="TextBox 19" id="19"/>
          <p:cNvSpPr txBox="true"/>
          <p:nvPr/>
        </p:nvSpPr>
        <p:spPr>
          <a:xfrm rot="0">
            <a:off x="1828133" y="2552329"/>
            <a:ext cx="20193" cy="127073"/>
          </a:xfrm>
          <a:prstGeom prst="rect">
            <a:avLst/>
          </a:prstGeom>
        </p:spPr>
        <p:txBody>
          <a:bodyPr anchor="t" rtlCol="false" tIns="0" lIns="0" bIns="0" rIns="0">
            <a:spAutoFit/>
          </a:bodyPr>
          <a:lstStyle/>
          <a:p>
            <a:pPr algn="l">
              <a:lnSpc>
                <a:spcPts val="1075"/>
              </a:lnSpc>
            </a:pPr>
            <a:r>
              <a:rPr lang="en-US" sz="767">
                <a:solidFill>
                  <a:srgbClr val="475569"/>
                </a:solidFill>
                <a:latin typeface="Aptos"/>
                <a:ea typeface="Aptos"/>
                <a:cs typeface="Aptos"/>
                <a:sym typeface="Aptos"/>
              </a:rPr>
              <a:t> </a:t>
            </a:r>
          </a:p>
        </p:txBody>
      </p:sp>
      <p:sp>
        <p:nvSpPr>
          <p:cNvPr name="TextBox 20" id="20"/>
          <p:cNvSpPr txBox="true"/>
          <p:nvPr/>
        </p:nvSpPr>
        <p:spPr>
          <a:xfrm rot="0">
            <a:off x="800100" y="5219957"/>
            <a:ext cx="1384895" cy="123368"/>
          </a:xfrm>
          <a:prstGeom prst="rect">
            <a:avLst/>
          </a:prstGeom>
        </p:spPr>
        <p:txBody>
          <a:bodyPr anchor="t" rtlCol="false" tIns="0" lIns="0" bIns="0" rIns="0">
            <a:spAutoFit/>
          </a:bodyPr>
          <a:lstStyle/>
          <a:p>
            <a:pPr algn="l">
              <a:lnSpc>
                <a:spcPts val="1075"/>
              </a:lnSpc>
            </a:pPr>
            <a:r>
              <a:rPr lang="en-US" sz="767">
                <a:solidFill>
                  <a:srgbClr val="475569"/>
                </a:solidFill>
                <a:latin typeface="Aptos"/>
                <a:ea typeface="Aptos"/>
                <a:cs typeface="Aptos"/>
                <a:sym typeface="Aptos"/>
              </a:rPr>
              <a:t>22original+49 feature engineered</a:t>
            </a:r>
          </a:p>
        </p:txBody>
      </p:sp>
      <p:sp>
        <p:nvSpPr>
          <p:cNvPr name="TextBox 21" id="21"/>
          <p:cNvSpPr txBox="true"/>
          <p:nvPr/>
        </p:nvSpPr>
        <p:spPr>
          <a:xfrm rot="0">
            <a:off x="3477130" y="1965769"/>
            <a:ext cx="368598" cy="166421"/>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Source</a:t>
            </a:r>
          </a:p>
        </p:txBody>
      </p:sp>
      <p:sp>
        <p:nvSpPr>
          <p:cNvPr name="TextBox 22" id="22"/>
          <p:cNvSpPr txBox="true"/>
          <p:nvPr/>
        </p:nvSpPr>
        <p:spPr>
          <a:xfrm rot="0">
            <a:off x="3477130" y="3494970"/>
            <a:ext cx="443198" cy="173669"/>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IV proxy</a:t>
            </a:r>
          </a:p>
        </p:txBody>
      </p:sp>
      <p:sp>
        <p:nvSpPr>
          <p:cNvPr name="TextBox 23" id="23"/>
          <p:cNvSpPr txBox="true"/>
          <p:nvPr/>
        </p:nvSpPr>
        <p:spPr>
          <a:xfrm rot="0">
            <a:off x="3477130" y="4009453"/>
            <a:ext cx="484832" cy="173669"/>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Earnings</a:t>
            </a:r>
          </a:p>
        </p:txBody>
      </p:sp>
      <p:sp>
        <p:nvSpPr>
          <p:cNvPr name="TextBox 24" id="24"/>
          <p:cNvSpPr txBox="true"/>
          <p:nvPr/>
        </p:nvSpPr>
        <p:spPr>
          <a:xfrm rot="0">
            <a:off x="3477130" y="2980496"/>
            <a:ext cx="561708" cy="173669"/>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VIX + SMH</a:t>
            </a:r>
          </a:p>
        </p:txBody>
      </p:sp>
      <p:sp>
        <p:nvSpPr>
          <p:cNvPr name="TextBox 25" id="25"/>
          <p:cNvSpPr txBox="true"/>
          <p:nvPr/>
        </p:nvSpPr>
        <p:spPr>
          <a:xfrm rot="0">
            <a:off x="3477130" y="2466023"/>
            <a:ext cx="756352" cy="173669"/>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NVDA OHLCV</a:t>
            </a:r>
          </a:p>
        </p:txBody>
      </p:sp>
      <p:sp>
        <p:nvSpPr>
          <p:cNvPr name="TextBox 26" id="26"/>
          <p:cNvSpPr txBox="true"/>
          <p:nvPr/>
        </p:nvSpPr>
        <p:spPr>
          <a:xfrm rot="0">
            <a:off x="3477130" y="4524051"/>
            <a:ext cx="946080" cy="173669"/>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Relative strength</a:t>
            </a:r>
          </a:p>
        </p:txBody>
      </p:sp>
      <p:sp>
        <p:nvSpPr>
          <p:cNvPr name="TextBox 27" id="27"/>
          <p:cNvSpPr txBox="true"/>
          <p:nvPr/>
        </p:nvSpPr>
        <p:spPr>
          <a:xfrm rot="0">
            <a:off x="5170675" y="1965769"/>
            <a:ext cx="873621" cy="166421"/>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Feature Example</a:t>
            </a:r>
          </a:p>
        </p:txBody>
      </p:sp>
      <p:sp>
        <p:nvSpPr>
          <p:cNvPr name="TextBox 28" id="28"/>
          <p:cNvSpPr txBox="true"/>
          <p:nvPr/>
        </p:nvSpPr>
        <p:spPr>
          <a:xfrm rot="0">
            <a:off x="5170675" y="2466023"/>
            <a:ext cx="1706356" cy="173669"/>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Open, High, Low, Close, Volume</a:t>
            </a:r>
          </a:p>
        </p:txBody>
      </p:sp>
      <p:sp>
        <p:nvSpPr>
          <p:cNvPr name="TextBox 29" id="29"/>
          <p:cNvSpPr txBox="true"/>
          <p:nvPr/>
        </p:nvSpPr>
        <p:spPr>
          <a:xfrm rot="0">
            <a:off x="5170675" y="2980496"/>
            <a:ext cx="1831991" cy="173669"/>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VIX_Close, VIX_spike, SMH_Return</a:t>
            </a:r>
          </a:p>
        </p:txBody>
      </p:sp>
      <p:sp>
        <p:nvSpPr>
          <p:cNvPr name="TextBox 30" id="30"/>
          <p:cNvSpPr txBox="true"/>
          <p:nvPr/>
        </p:nvSpPr>
        <p:spPr>
          <a:xfrm rot="0">
            <a:off x="5170675" y="4009453"/>
            <a:ext cx="1829410" cy="173669"/>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is_earnings_day, days_to_earnings</a:t>
            </a:r>
          </a:p>
        </p:txBody>
      </p:sp>
      <p:sp>
        <p:nvSpPr>
          <p:cNvPr name="TextBox 31" id="31"/>
          <p:cNvSpPr txBox="true"/>
          <p:nvPr/>
        </p:nvSpPr>
        <p:spPr>
          <a:xfrm rot="0">
            <a:off x="5170675" y="3494970"/>
            <a:ext cx="2036331" cy="173669"/>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HV_10, HV_20, HV_30, Vol_term_slope</a:t>
            </a:r>
          </a:p>
        </p:txBody>
      </p:sp>
      <p:sp>
        <p:nvSpPr>
          <p:cNvPr name="TextBox 32" id="32"/>
          <p:cNvSpPr txBox="true"/>
          <p:nvPr/>
        </p:nvSpPr>
        <p:spPr>
          <a:xfrm rot="0">
            <a:off x="5170675" y="4524051"/>
            <a:ext cx="2318166" cy="173669"/>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alpha_vs_SPY, alpha_vs_QQQ, beta_vs_SPY</a:t>
            </a:r>
          </a:p>
        </p:txBody>
      </p:sp>
      <p:sp>
        <p:nvSpPr>
          <p:cNvPr name="TextBox 33" id="33"/>
          <p:cNvSpPr txBox="true"/>
          <p:nvPr/>
        </p:nvSpPr>
        <p:spPr>
          <a:xfrm rot="0">
            <a:off x="8087230" y="1965769"/>
            <a:ext cx="460276" cy="166421"/>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Function</a:t>
            </a:r>
          </a:p>
        </p:txBody>
      </p:sp>
      <p:sp>
        <p:nvSpPr>
          <p:cNvPr name="TextBox 34" id="34"/>
          <p:cNvSpPr txBox="true"/>
          <p:nvPr/>
        </p:nvSpPr>
        <p:spPr>
          <a:xfrm rot="0">
            <a:off x="8087230" y="4524051"/>
            <a:ext cx="2395934" cy="166421"/>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NVDA's </a:t>
            </a:r>
            <a:r>
              <a:rPr lang="en-US" sz="947">
                <a:solidFill>
                  <a:srgbClr val="0F172A"/>
                </a:solidFill>
                <a:latin typeface="Aptos"/>
                <a:ea typeface="Aptos"/>
                <a:cs typeface="Aptos"/>
                <a:sym typeface="Aptos"/>
              </a:rPr>
              <a:t>position relative to the broader market</a:t>
            </a:r>
          </a:p>
        </p:txBody>
      </p:sp>
      <p:sp>
        <p:nvSpPr>
          <p:cNvPr name="TextBox 35" id="35"/>
          <p:cNvSpPr txBox="true"/>
          <p:nvPr/>
        </p:nvSpPr>
        <p:spPr>
          <a:xfrm rot="0">
            <a:off x="8087230" y="2980496"/>
            <a:ext cx="2021086" cy="166421"/>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risk regime and semiconductor context</a:t>
            </a:r>
          </a:p>
        </p:txBody>
      </p:sp>
      <p:sp>
        <p:nvSpPr>
          <p:cNvPr name="TextBox 36" id="36"/>
          <p:cNvSpPr txBox="true"/>
          <p:nvPr/>
        </p:nvSpPr>
        <p:spPr>
          <a:xfrm rot="0">
            <a:off x="8087230" y="3494970"/>
            <a:ext cx="1691878" cy="166421"/>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historical volatility and risk slope</a:t>
            </a:r>
          </a:p>
        </p:txBody>
      </p:sp>
      <p:sp>
        <p:nvSpPr>
          <p:cNvPr name="TextBox 37" id="37"/>
          <p:cNvSpPr txBox="true"/>
          <p:nvPr/>
        </p:nvSpPr>
        <p:spPr>
          <a:xfrm rot="0">
            <a:off x="8087230" y="4009453"/>
            <a:ext cx="1898948" cy="166421"/>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event timing that can trigger volatility</a:t>
            </a:r>
          </a:p>
        </p:txBody>
      </p:sp>
      <p:sp>
        <p:nvSpPr>
          <p:cNvPr name="TextBox 38" id="38"/>
          <p:cNvSpPr txBox="true"/>
          <p:nvPr/>
        </p:nvSpPr>
        <p:spPr>
          <a:xfrm rot="0">
            <a:off x="8087230" y="2466023"/>
            <a:ext cx="2521049" cy="166421"/>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basis return, price level, and technical indicators</a:t>
            </a:r>
          </a:p>
        </p:txBody>
      </p:sp>
      <p:sp>
        <p:nvSpPr>
          <p:cNvPr name="TextBox 39" id="39"/>
          <p:cNvSpPr txBox="true"/>
          <p:nvPr/>
        </p:nvSpPr>
        <p:spPr>
          <a:xfrm rot="0">
            <a:off x="533400" y="6334506"/>
            <a:ext cx="1949148"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MachineLearningFinalBanget (1).ipynb</a:t>
            </a:r>
          </a:p>
        </p:txBody>
      </p:sp>
      <p:sp>
        <p:nvSpPr>
          <p:cNvPr name="TextBox 40" id="40"/>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06</a:t>
            </a:r>
          </a:p>
        </p:txBody>
      </p:sp>
      <p:sp>
        <p:nvSpPr>
          <p:cNvPr name="TextBox 41" id="41"/>
          <p:cNvSpPr txBox="true"/>
          <p:nvPr/>
        </p:nvSpPr>
        <p:spPr>
          <a:xfrm rot="0">
            <a:off x="800100" y="3649589"/>
            <a:ext cx="1896113" cy="301752"/>
          </a:xfrm>
          <a:prstGeom prst="rect">
            <a:avLst/>
          </a:prstGeom>
        </p:spPr>
        <p:txBody>
          <a:bodyPr anchor="t" rtlCol="false" tIns="0" lIns="0" bIns="0" rIns="0">
            <a:spAutoFit/>
          </a:bodyPr>
          <a:lstStyle/>
          <a:p>
            <a:pPr algn="l">
              <a:lnSpc>
                <a:spcPts val="1360"/>
              </a:lnSpc>
            </a:pPr>
            <a:r>
              <a:rPr lang="en-US" sz="972">
                <a:solidFill>
                  <a:srgbClr val="0F172A"/>
                </a:solidFill>
                <a:latin typeface="Aptos"/>
                <a:ea typeface="Aptos"/>
                <a:cs typeface="Aptos"/>
                <a:sym typeface="Aptos"/>
              </a:rPr>
              <a:t>rows final</a:t>
            </a:r>
          </a:p>
          <a:p>
            <a:pPr algn="l">
              <a:lnSpc>
                <a:spcPts val="1075"/>
              </a:lnSpc>
            </a:pPr>
            <a:r>
              <a:rPr lang="en-US" sz="767">
                <a:solidFill>
                  <a:srgbClr val="0F172A"/>
                </a:solidFill>
                <a:latin typeface="Aptos"/>
                <a:ea typeface="Aptos"/>
                <a:cs typeface="Aptos"/>
                <a:sym typeface="Aptos"/>
              </a:rPr>
              <a:t>after feature engineering and drop NaN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047" y="1631947"/>
            <a:ext cx="5575297" cy="1231897"/>
          </a:xfrm>
          <a:custGeom>
            <a:avLst/>
            <a:gdLst/>
            <a:ahLst/>
            <a:cxnLst/>
            <a:rect r="r" b="b" t="t" l="l"/>
            <a:pathLst>
              <a:path h="1231897" w="5575297">
                <a:moveTo>
                  <a:pt x="0" y="0"/>
                </a:moveTo>
                <a:lnTo>
                  <a:pt x="5575297" y="0"/>
                </a:lnTo>
                <a:lnTo>
                  <a:pt x="5575297" y="1231897"/>
                </a:lnTo>
                <a:lnTo>
                  <a:pt x="0" y="12318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27047" y="3260722"/>
            <a:ext cx="5575297" cy="669922"/>
          </a:xfrm>
          <a:custGeom>
            <a:avLst/>
            <a:gdLst/>
            <a:ahLst/>
            <a:cxnLst/>
            <a:rect r="r" b="b" t="t" l="l"/>
            <a:pathLst>
              <a:path h="669922" w="5575297">
                <a:moveTo>
                  <a:pt x="0" y="0"/>
                </a:moveTo>
                <a:lnTo>
                  <a:pt x="5575297" y="0"/>
                </a:lnTo>
                <a:lnTo>
                  <a:pt x="5575297" y="669922"/>
                </a:lnTo>
                <a:lnTo>
                  <a:pt x="0" y="6699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27047" y="4327522"/>
            <a:ext cx="5575297" cy="669922"/>
          </a:xfrm>
          <a:custGeom>
            <a:avLst/>
            <a:gdLst/>
            <a:ahLst/>
            <a:cxnLst/>
            <a:rect r="r" b="b" t="t" l="l"/>
            <a:pathLst>
              <a:path h="669922" w="5575297">
                <a:moveTo>
                  <a:pt x="0" y="0"/>
                </a:moveTo>
                <a:lnTo>
                  <a:pt x="5575297" y="0"/>
                </a:lnTo>
                <a:lnTo>
                  <a:pt x="5575297" y="669922"/>
                </a:lnTo>
                <a:lnTo>
                  <a:pt x="0" y="669922"/>
                </a:lnTo>
                <a:lnTo>
                  <a:pt x="0" y="0"/>
                </a:lnTo>
                <a:close/>
              </a:path>
            </a:pathLst>
          </a:custGeom>
          <a:blipFill>
            <a:blip r:embed="rId6">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527047" y="5394322"/>
            <a:ext cx="5575297" cy="669922"/>
          </a:xfrm>
          <a:custGeom>
            <a:avLst/>
            <a:gdLst/>
            <a:ahLst/>
            <a:cxnLst/>
            <a:rect r="r" b="b" t="t" l="l"/>
            <a:pathLst>
              <a:path h="669922" w="5575297">
                <a:moveTo>
                  <a:pt x="0" y="0"/>
                </a:moveTo>
                <a:lnTo>
                  <a:pt x="5575297" y="0"/>
                </a:lnTo>
                <a:lnTo>
                  <a:pt x="5575297" y="669922"/>
                </a:lnTo>
                <a:lnTo>
                  <a:pt x="0" y="669922"/>
                </a:lnTo>
                <a:lnTo>
                  <a:pt x="0" y="0"/>
                </a:lnTo>
                <a:close/>
              </a:path>
            </a:pathLst>
          </a:custGeom>
          <a:blipFill>
            <a:blip r:embed="rId6">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6561134" y="1741484"/>
            <a:ext cx="4232272" cy="3146422"/>
          </a:xfrm>
          <a:custGeom>
            <a:avLst/>
            <a:gdLst/>
            <a:ahLst/>
            <a:cxnLst/>
            <a:rect r="r" b="b" t="t" l="l"/>
            <a:pathLst>
              <a:path h="3146422" w="4232272">
                <a:moveTo>
                  <a:pt x="0" y="0"/>
                </a:moveTo>
                <a:lnTo>
                  <a:pt x="4232272" y="0"/>
                </a:lnTo>
                <a:lnTo>
                  <a:pt x="4232272" y="3146422"/>
                </a:lnTo>
                <a:lnTo>
                  <a:pt x="0" y="314642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838200" y="425596"/>
            <a:ext cx="1269387" cy="156801"/>
          </a:xfrm>
          <a:prstGeom prst="rect">
            <a:avLst/>
          </a:prstGeom>
        </p:spPr>
        <p:txBody>
          <a:bodyPr anchor="t" rtlCol="false" tIns="0" lIns="0" bIns="0" rIns="0">
            <a:spAutoFit/>
          </a:bodyPr>
          <a:lstStyle/>
          <a:p>
            <a:pPr algn="l">
              <a:lnSpc>
                <a:spcPts val="1260"/>
              </a:lnSpc>
            </a:pPr>
            <a:r>
              <a:rPr lang="en-US" sz="900">
                <a:solidFill>
                  <a:srgbClr val="0E7490"/>
                </a:solidFill>
                <a:latin typeface="Aptos"/>
                <a:ea typeface="Aptos"/>
                <a:cs typeface="Aptos"/>
                <a:sym typeface="Aptos"/>
              </a:rPr>
              <a:t>FEATURE ENGINEERING</a:t>
            </a:r>
          </a:p>
        </p:txBody>
      </p:sp>
      <p:sp>
        <p:nvSpPr>
          <p:cNvPr name="TextBox 10" id="10"/>
          <p:cNvSpPr txBox="true"/>
          <p:nvPr/>
        </p:nvSpPr>
        <p:spPr>
          <a:xfrm rot="0">
            <a:off x="533400" y="693639"/>
            <a:ext cx="9616380" cy="405765"/>
          </a:xfrm>
          <a:prstGeom prst="rect">
            <a:avLst/>
          </a:prstGeom>
        </p:spPr>
        <p:txBody>
          <a:bodyPr anchor="t" rtlCol="false" tIns="0" lIns="0" bIns="0" rIns="0">
            <a:spAutoFit/>
          </a:bodyPr>
          <a:lstStyle/>
          <a:p>
            <a:pPr algn="l">
              <a:lnSpc>
                <a:spcPts val="3359"/>
              </a:lnSpc>
            </a:pPr>
            <a:r>
              <a:rPr lang="en-US" sz="2400">
                <a:solidFill>
                  <a:srgbClr val="0F172A"/>
                </a:solidFill>
                <a:latin typeface="Aptos"/>
                <a:ea typeface="Aptos"/>
                <a:cs typeface="Aptos"/>
                <a:sym typeface="Aptos"/>
              </a:rPr>
              <a:t>71 features created from legacy indicators and additional market context.</a:t>
            </a:r>
          </a:p>
        </p:txBody>
      </p:sp>
      <p:sp>
        <p:nvSpPr>
          <p:cNvPr name="TextBox 11" id="11"/>
          <p:cNvSpPr txBox="true"/>
          <p:nvPr/>
        </p:nvSpPr>
        <p:spPr>
          <a:xfrm rot="0">
            <a:off x="695554" y="3461042"/>
            <a:ext cx="415604" cy="154962"/>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IV proxy</a:t>
            </a:r>
          </a:p>
        </p:txBody>
      </p:sp>
      <p:sp>
        <p:nvSpPr>
          <p:cNvPr name="TextBox 12" id="12"/>
          <p:cNvSpPr txBox="true"/>
          <p:nvPr/>
        </p:nvSpPr>
        <p:spPr>
          <a:xfrm rot="0">
            <a:off x="695554" y="2927261"/>
            <a:ext cx="543639" cy="154962"/>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VIX &amp; SMH</a:t>
            </a:r>
          </a:p>
        </p:txBody>
      </p:sp>
      <p:sp>
        <p:nvSpPr>
          <p:cNvPr name="TextBox 13" id="13"/>
          <p:cNvSpPr txBox="true"/>
          <p:nvPr/>
        </p:nvSpPr>
        <p:spPr>
          <a:xfrm rot="0">
            <a:off x="695554" y="5061499"/>
            <a:ext cx="651539" cy="154962"/>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Volume flow</a:t>
            </a:r>
          </a:p>
        </p:txBody>
      </p:sp>
      <p:sp>
        <p:nvSpPr>
          <p:cNvPr name="TextBox 14" id="14"/>
          <p:cNvSpPr txBox="true"/>
          <p:nvPr/>
        </p:nvSpPr>
        <p:spPr>
          <a:xfrm rot="0">
            <a:off x="695554" y="1874815"/>
            <a:ext cx="733723" cy="148895"/>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F</a:t>
            </a:r>
            <a:r>
              <a:rPr lang="en-US" sz="888">
                <a:solidFill>
                  <a:srgbClr val="0F172A"/>
                </a:solidFill>
                <a:latin typeface="Aptos"/>
                <a:ea typeface="Aptos"/>
                <a:cs typeface="Aptos"/>
                <a:sym typeface="Aptos"/>
              </a:rPr>
              <a:t>eature groups</a:t>
            </a:r>
          </a:p>
        </p:txBody>
      </p:sp>
      <p:sp>
        <p:nvSpPr>
          <p:cNvPr name="TextBox 15" id="15"/>
          <p:cNvSpPr txBox="true"/>
          <p:nvPr/>
        </p:nvSpPr>
        <p:spPr>
          <a:xfrm rot="0">
            <a:off x="695554" y="4527842"/>
            <a:ext cx="913581" cy="154962"/>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Lag &amp; momentum</a:t>
            </a:r>
          </a:p>
        </p:txBody>
      </p:sp>
      <p:sp>
        <p:nvSpPr>
          <p:cNvPr name="TextBox 16" id="16"/>
          <p:cNvSpPr txBox="true"/>
          <p:nvPr/>
        </p:nvSpPr>
        <p:spPr>
          <a:xfrm rot="0">
            <a:off x="695554" y="5594928"/>
            <a:ext cx="884244" cy="154962"/>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Relative strength</a:t>
            </a:r>
          </a:p>
        </p:txBody>
      </p:sp>
      <p:sp>
        <p:nvSpPr>
          <p:cNvPr name="TextBox 17" id="17"/>
          <p:cNvSpPr txBox="true"/>
          <p:nvPr/>
        </p:nvSpPr>
        <p:spPr>
          <a:xfrm rot="0">
            <a:off x="695554" y="3994442"/>
            <a:ext cx="940270" cy="154962"/>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Earnings calendar</a:t>
            </a:r>
          </a:p>
        </p:txBody>
      </p:sp>
      <p:sp>
        <p:nvSpPr>
          <p:cNvPr name="TextBox 18" id="18"/>
          <p:cNvSpPr txBox="true"/>
          <p:nvPr/>
        </p:nvSpPr>
        <p:spPr>
          <a:xfrm rot="0">
            <a:off x="695554" y="2393861"/>
            <a:ext cx="1085751" cy="148895"/>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N</a:t>
            </a:r>
            <a:r>
              <a:rPr lang="en-US" sz="888">
                <a:solidFill>
                  <a:srgbClr val="0F172A"/>
                </a:solidFill>
                <a:latin typeface="Aptos"/>
                <a:ea typeface="Aptos"/>
                <a:cs typeface="Aptos"/>
                <a:sym typeface="Aptos"/>
              </a:rPr>
              <a:t>otebook old features</a:t>
            </a:r>
          </a:p>
        </p:txBody>
      </p:sp>
      <p:sp>
        <p:nvSpPr>
          <p:cNvPr name="TextBox 19" id="19"/>
          <p:cNvSpPr txBox="true"/>
          <p:nvPr/>
        </p:nvSpPr>
        <p:spPr>
          <a:xfrm rot="0">
            <a:off x="2946530" y="2927261"/>
            <a:ext cx="61427" cy="154962"/>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7</a:t>
            </a:r>
          </a:p>
        </p:txBody>
      </p:sp>
      <p:sp>
        <p:nvSpPr>
          <p:cNvPr name="TextBox 20" id="20"/>
          <p:cNvSpPr txBox="true"/>
          <p:nvPr/>
        </p:nvSpPr>
        <p:spPr>
          <a:xfrm rot="0">
            <a:off x="2946530" y="3461042"/>
            <a:ext cx="61427" cy="154962"/>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5</a:t>
            </a:r>
          </a:p>
        </p:txBody>
      </p:sp>
      <p:sp>
        <p:nvSpPr>
          <p:cNvPr name="TextBox 21" id="21"/>
          <p:cNvSpPr txBox="true"/>
          <p:nvPr/>
        </p:nvSpPr>
        <p:spPr>
          <a:xfrm rot="0">
            <a:off x="2946530" y="3994442"/>
            <a:ext cx="61427" cy="154962"/>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4</a:t>
            </a:r>
          </a:p>
        </p:txBody>
      </p:sp>
      <p:sp>
        <p:nvSpPr>
          <p:cNvPr name="TextBox 22" id="22"/>
          <p:cNvSpPr txBox="true"/>
          <p:nvPr/>
        </p:nvSpPr>
        <p:spPr>
          <a:xfrm rot="0">
            <a:off x="2946530" y="5061499"/>
            <a:ext cx="61427" cy="154962"/>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8</a:t>
            </a:r>
          </a:p>
        </p:txBody>
      </p:sp>
      <p:sp>
        <p:nvSpPr>
          <p:cNvPr name="TextBox 23" id="23"/>
          <p:cNvSpPr txBox="true"/>
          <p:nvPr/>
        </p:nvSpPr>
        <p:spPr>
          <a:xfrm rot="0">
            <a:off x="2946530" y="5594928"/>
            <a:ext cx="61427" cy="154962"/>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7</a:t>
            </a:r>
          </a:p>
        </p:txBody>
      </p:sp>
      <p:sp>
        <p:nvSpPr>
          <p:cNvPr name="TextBox 24" id="24"/>
          <p:cNvSpPr txBox="true"/>
          <p:nvPr/>
        </p:nvSpPr>
        <p:spPr>
          <a:xfrm rot="0">
            <a:off x="2648969" y="1874815"/>
            <a:ext cx="386556" cy="148895"/>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A</a:t>
            </a:r>
            <a:r>
              <a:rPr lang="en-US" sz="888">
                <a:solidFill>
                  <a:srgbClr val="0F172A"/>
                </a:solidFill>
                <a:latin typeface="Aptos"/>
                <a:ea typeface="Aptos"/>
                <a:cs typeface="Aptos"/>
                <a:sym typeface="Aptos"/>
              </a:rPr>
              <a:t>mount</a:t>
            </a:r>
          </a:p>
        </p:txBody>
      </p:sp>
      <p:sp>
        <p:nvSpPr>
          <p:cNvPr name="TextBox 25" id="25"/>
          <p:cNvSpPr txBox="true"/>
          <p:nvPr/>
        </p:nvSpPr>
        <p:spPr>
          <a:xfrm rot="0">
            <a:off x="2916050" y="2393861"/>
            <a:ext cx="123606" cy="154962"/>
          </a:xfrm>
          <a:prstGeom prst="rect">
            <a:avLst/>
          </a:prstGeom>
        </p:spPr>
        <p:txBody>
          <a:bodyPr anchor="t" rtlCol="false" tIns="0" lIns="0" bIns="0" rIns="0">
            <a:spAutoFit/>
          </a:bodyPr>
          <a:lstStyle/>
          <a:p>
            <a:pPr algn="l">
              <a:lnSpc>
                <a:spcPts val="1243"/>
              </a:lnSpc>
            </a:pPr>
            <a:r>
              <a:rPr lang="en-US" sz="888" spc="6">
                <a:solidFill>
                  <a:srgbClr val="0F172A"/>
                </a:solidFill>
                <a:latin typeface="Aptos"/>
                <a:ea typeface="Aptos"/>
                <a:cs typeface="Aptos"/>
                <a:sym typeface="Aptos"/>
              </a:rPr>
              <a:t>22</a:t>
            </a:r>
          </a:p>
        </p:txBody>
      </p:sp>
      <p:sp>
        <p:nvSpPr>
          <p:cNvPr name="TextBox 26" id="26"/>
          <p:cNvSpPr txBox="true"/>
          <p:nvPr/>
        </p:nvSpPr>
        <p:spPr>
          <a:xfrm rot="0">
            <a:off x="2916050" y="4527842"/>
            <a:ext cx="123606" cy="154962"/>
          </a:xfrm>
          <a:prstGeom prst="rect">
            <a:avLst/>
          </a:prstGeom>
        </p:spPr>
        <p:txBody>
          <a:bodyPr anchor="t" rtlCol="false" tIns="0" lIns="0" bIns="0" rIns="0">
            <a:spAutoFit/>
          </a:bodyPr>
          <a:lstStyle/>
          <a:p>
            <a:pPr algn="l">
              <a:lnSpc>
                <a:spcPts val="1243"/>
              </a:lnSpc>
            </a:pPr>
            <a:r>
              <a:rPr lang="en-US" sz="888" spc="6">
                <a:solidFill>
                  <a:srgbClr val="0F172A"/>
                </a:solidFill>
                <a:latin typeface="Aptos"/>
                <a:ea typeface="Aptos"/>
                <a:cs typeface="Aptos"/>
                <a:sym typeface="Aptos"/>
              </a:rPr>
              <a:t>18</a:t>
            </a:r>
          </a:p>
        </p:txBody>
      </p:sp>
      <p:sp>
        <p:nvSpPr>
          <p:cNvPr name="TextBox 27" id="27"/>
          <p:cNvSpPr txBox="true"/>
          <p:nvPr/>
        </p:nvSpPr>
        <p:spPr>
          <a:xfrm rot="0">
            <a:off x="3400301" y="1874815"/>
            <a:ext cx="420787" cy="148895"/>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Example</a:t>
            </a:r>
          </a:p>
        </p:txBody>
      </p:sp>
      <p:sp>
        <p:nvSpPr>
          <p:cNvPr name="TextBox 28" id="28"/>
          <p:cNvSpPr txBox="true"/>
          <p:nvPr/>
        </p:nvSpPr>
        <p:spPr>
          <a:xfrm rot="0">
            <a:off x="3400301" y="5061499"/>
            <a:ext cx="1323899" cy="154962"/>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OBV, CMF, MFI, AD_zscore</a:t>
            </a:r>
          </a:p>
        </p:txBody>
      </p:sp>
      <p:sp>
        <p:nvSpPr>
          <p:cNvPr name="TextBox 29" id="29"/>
          <p:cNvSpPr txBox="true"/>
          <p:nvPr/>
        </p:nvSpPr>
        <p:spPr>
          <a:xfrm rot="0">
            <a:off x="3400301" y="5594928"/>
            <a:ext cx="1490577" cy="154962"/>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RS_SPY, RS_QQQ, alpha, beta</a:t>
            </a:r>
          </a:p>
        </p:txBody>
      </p:sp>
      <p:sp>
        <p:nvSpPr>
          <p:cNvPr name="TextBox 30" id="30"/>
          <p:cNvSpPr txBox="true"/>
          <p:nvPr/>
        </p:nvSpPr>
        <p:spPr>
          <a:xfrm rot="0">
            <a:off x="3400301" y="3994442"/>
            <a:ext cx="1551080" cy="154962"/>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earnings day, pre/post earnings</a:t>
            </a:r>
          </a:p>
        </p:txBody>
      </p:sp>
      <p:sp>
        <p:nvSpPr>
          <p:cNvPr name="TextBox 31" id="31"/>
          <p:cNvSpPr txBox="true"/>
          <p:nvPr/>
        </p:nvSpPr>
        <p:spPr>
          <a:xfrm rot="0">
            <a:off x="3400301" y="2927261"/>
            <a:ext cx="1664160" cy="154962"/>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VIX_Close, VIX_MA5, SMH_Return</a:t>
            </a:r>
          </a:p>
        </p:txBody>
      </p:sp>
      <p:sp>
        <p:nvSpPr>
          <p:cNvPr name="TextBox 32" id="32"/>
          <p:cNvSpPr txBox="true"/>
          <p:nvPr/>
        </p:nvSpPr>
        <p:spPr>
          <a:xfrm rot="0">
            <a:off x="3400301" y="3461042"/>
            <a:ext cx="1772983" cy="154962"/>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HV_10, HV_30, HV_ratio, term slope</a:t>
            </a:r>
          </a:p>
        </p:txBody>
      </p:sp>
      <p:sp>
        <p:nvSpPr>
          <p:cNvPr name="TextBox 33" id="33"/>
          <p:cNvSpPr txBox="true"/>
          <p:nvPr/>
        </p:nvSpPr>
        <p:spPr>
          <a:xfrm rot="0">
            <a:off x="3400301" y="2393861"/>
            <a:ext cx="1909058" cy="154962"/>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return, RSI, MACD, Bollinger, SMA, ATR</a:t>
            </a:r>
          </a:p>
        </p:txBody>
      </p:sp>
      <p:sp>
        <p:nvSpPr>
          <p:cNvPr name="TextBox 34" id="34"/>
          <p:cNvSpPr txBox="true"/>
          <p:nvPr/>
        </p:nvSpPr>
        <p:spPr>
          <a:xfrm rot="0">
            <a:off x="3400301" y="4527842"/>
            <a:ext cx="1945986" cy="154962"/>
          </a:xfrm>
          <a:prstGeom prst="rect">
            <a:avLst/>
          </a:prstGeom>
        </p:spPr>
        <p:txBody>
          <a:bodyPr anchor="t" rtlCol="false" tIns="0" lIns="0" bIns="0" rIns="0">
            <a:spAutoFit/>
          </a:bodyPr>
          <a:lstStyle/>
          <a:p>
            <a:pPr algn="l">
              <a:lnSpc>
                <a:spcPts val="1243"/>
              </a:lnSpc>
            </a:pPr>
            <a:r>
              <a:rPr lang="en-US" sz="888">
                <a:solidFill>
                  <a:srgbClr val="0F172A"/>
                </a:solidFill>
                <a:latin typeface="Aptos"/>
                <a:ea typeface="Aptos"/>
                <a:cs typeface="Aptos"/>
                <a:sym typeface="Aptos"/>
              </a:rPr>
              <a:t>lag_close, lag_return, momentum, ROC</a:t>
            </a:r>
          </a:p>
        </p:txBody>
      </p:sp>
      <p:sp>
        <p:nvSpPr>
          <p:cNvPr name="TextBox 35" id="35"/>
          <p:cNvSpPr txBox="true"/>
          <p:nvPr/>
        </p:nvSpPr>
        <p:spPr>
          <a:xfrm rot="0">
            <a:off x="6896986" y="2036359"/>
            <a:ext cx="1516658" cy="306705"/>
          </a:xfrm>
          <a:prstGeom prst="rect">
            <a:avLst/>
          </a:prstGeom>
        </p:spPr>
        <p:txBody>
          <a:bodyPr anchor="t" rtlCol="false" tIns="0" lIns="0" bIns="0" rIns="0">
            <a:spAutoFit/>
          </a:bodyPr>
          <a:lstStyle/>
          <a:p>
            <a:pPr algn="l">
              <a:lnSpc>
                <a:spcPts val="2520"/>
              </a:lnSpc>
            </a:pPr>
            <a:r>
              <a:rPr lang="en-US" sz="1800">
                <a:solidFill>
                  <a:srgbClr val="0F172A"/>
                </a:solidFill>
                <a:latin typeface="Aptos"/>
                <a:ea typeface="Aptos"/>
                <a:cs typeface="Aptos"/>
                <a:sym typeface="Aptos"/>
              </a:rPr>
              <a:t>Principles used</a:t>
            </a:r>
          </a:p>
        </p:txBody>
      </p:sp>
      <p:sp>
        <p:nvSpPr>
          <p:cNvPr name="TextBox 36" id="36"/>
          <p:cNvSpPr txBox="true"/>
          <p:nvPr/>
        </p:nvSpPr>
        <p:spPr>
          <a:xfrm rot="0">
            <a:off x="7106669" y="2676068"/>
            <a:ext cx="3296812" cy="1773592"/>
          </a:xfrm>
          <a:prstGeom prst="rect">
            <a:avLst/>
          </a:prstGeom>
        </p:spPr>
        <p:txBody>
          <a:bodyPr anchor="t" rtlCol="false" tIns="0" lIns="0" bIns="0" rIns="0">
            <a:spAutoFit/>
          </a:bodyPr>
          <a:lstStyle/>
          <a:p>
            <a:pPr algn="l">
              <a:lnSpc>
                <a:spcPts val="1295"/>
              </a:lnSpc>
            </a:pPr>
            <a:r>
              <a:rPr lang="en-US" sz="1092">
                <a:solidFill>
                  <a:srgbClr val="0F172A"/>
                </a:solidFill>
                <a:latin typeface="Aptos"/>
                <a:ea typeface="Aptos"/>
                <a:cs typeface="Aptos"/>
                <a:sym typeface="Aptos"/>
              </a:rPr>
              <a:t>Add</a:t>
            </a:r>
            <a:r>
              <a:rPr lang="en-US" sz="1092">
                <a:solidFill>
                  <a:srgbClr val="0F172A"/>
                </a:solidFill>
                <a:latin typeface="Aptos"/>
                <a:ea typeface="Aptos"/>
                <a:cs typeface="Aptos"/>
                <a:sym typeface="Aptos"/>
              </a:rPr>
              <a:t>itional features do not replace technical indicators, but they add context.</a:t>
            </a:r>
          </a:p>
          <a:p>
            <a:pPr algn="l">
              <a:lnSpc>
                <a:spcPts val="1295"/>
              </a:lnSpc>
            </a:pPr>
          </a:p>
          <a:p>
            <a:pPr algn="l">
              <a:lnSpc>
                <a:spcPts val="1295"/>
              </a:lnSpc>
            </a:pPr>
            <a:r>
              <a:rPr lang="en-US" sz="1092">
                <a:solidFill>
                  <a:srgbClr val="0F172A"/>
                </a:solidFill>
                <a:latin typeface="Aptos"/>
                <a:ea typeface="Aptos"/>
                <a:cs typeface="Aptos"/>
                <a:sym typeface="Aptos"/>
              </a:rPr>
              <a:t>L</a:t>
            </a:r>
            <a:r>
              <a:rPr lang="en-US" sz="1092">
                <a:solidFill>
                  <a:srgbClr val="0F172A"/>
                </a:solidFill>
                <a:latin typeface="Aptos"/>
                <a:ea typeface="Aptos"/>
                <a:cs typeface="Aptos"/>
                <a:sym typeface="Aptos"/>
              </a:rPr>
              <a:t>ow individual correlations are considered normal for stock returns.</a:t>
            </a:r>
          </a:p>
          <a:p>
            <a:pPr algn="l">
              <a:lnSpc>
                <a:spcPts val="1295"/>
              </a:lnSpc>
            </a:pPr>
          </a:p>
          <a:p>
            <a:pPr algn="l">
              <a:lnSpc>
                <a:spcPts val="1295"/>
              </a:lnSpc>
            </a:pPr>
            <a:r>
              <a:rPr lang="en-US" sz="1092">
                <a:solidFill>
                  <a:srgbClr val="0F172A"/>
                </a:solidFill>
                <a:latin typeface="Aptos"/>
                <a:ea typeface="Aptos"/>
                <a:cs typeface="Aptos"/>
                <a:sym typeface="Aptos"/>
              </a:rPr>
              <a:t>T</a:t>
            </a:r>
            <a:r>
              <a:rPr lang="en-US" sz="1092">
                <a:solidFill>
                  <a:srgbClr val="0F172A"/>
                </a:solidFill>
                <a:latin typeface="Aptos"/>
                <a:ea typeface="Aptos"/>
                <a:cs typeface="Aptos"/>
                <a:sym typeface="Aptos"/>
              </a:rPr>
              <a:t>ree-based and deep learning models are used to capture non-linear interactions.</a:t>
            </a:r>
          </a:p>
          <a:p>
            <a:pPr algn="l">
              <a:lnSpc>
                <a:spcPts val="1295"/>
              </a:lnSpc>
            </a:pPr>
          </a:p>
          <a:p>
            <a:pPr algn="l">
              <a:lnSpc>
                <a:spcPts val="1295"/>
              </a:lnSpc>
            </a:pPr>
            <a:r>
              <a:rPr lang="en-US" sz="1092">
                <a:solidFill>
                  <a:srgbClr val="0F172A"/>
                </a:solidFill>
                <a:latin typeface="Aptos"/>
                <a:ea typeface="Aptos"/>
                <a:cs typeface="Aptos"/>
                <a:sym typeface="Aptos"/>
              </a:rPr>
              <a:t>Feature selection is performed per algorithm to avoid forcing subsets to be identical.</a:t>
            </a:r>
          </a:p>
        </p:txBody>
      </p:sp>
      <p:sp>
        <p:nvSpPr>
          <p:cNvPr name="TextBox 37" id="37"/>
          <p:cNvSpPr txBox="true"/>
          <p:nvPr/>
        </p:nvSpPr>
        <p:spPr>
          <a:xfrm rot="0">
            <a:off x="533400" y="6334506"/>
            <a:ext cx="1949148"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MachineLearningFinalBanget (1).ipynb</a:t>
            </a:r>
          </a:p>
        </p:txBody>
      </p:sp>
      <p:sp>
        <p:nvSpPr>
          <p:cNvPr name="TextBox 38" id="38"/>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07</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65147" y="1746247"/>
            <a:ext cx="5432422" cy="1308097"/>
          </a:xfrm>
          <a:custGeom>
            <a:avLst/>
            <a:gdLst/>
            <a:ahLst/>
            <a:cxnLst/>
            <a:rect r="r" b="b" t="t" l="l"/>
            <a:pathLst>
              <a:path h="1308097" w="5432422">
                <a:moveTo>
                  <a:pt x="0" y="0"/>
                </a:moveTo>
                <a:lnTo>
                  <a:pt x="5432422" y="0"/>
                </a:lnTo>
                <a:lnTo>
                  <a:pt x="5432422" y="1308097"/>
                </a:lnTo>
                <a:lnTo>
                  <a:pt x="0" y="13080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65147" y="3489322"/>
            <a:ext cx="5432422" cy="708022"/>
          </a:xfrm>
          <a:custGeom>
            <a:avLst/>
            <a:gdLst/>
            <a:ahLst/>
            <a:cxnLst/>
            <a:rect r="r" b="b" t="t" l="l"/>
            <a:pathLst>
              <a:path h="708022" w="5432422">
                <a:moveTo>
                  <a:pt x="0" y="0"/>
                </a:moveTo>
                <a:lnTo>
                  <a:pt x="5432422" y="0"/>
                </a:lnTo>
                <a:lnTo>
                  <a:pt x="5432422" y="708022"/>
                </a:lnTo>
                <a:lnTo>
                  <a:pt x="0" y="7080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65147" y="4632322"/>
            <a:ext cx="5432422" cy="708022"/>
          </a:xfrm>
          <a:custGeom>
            <a:avLst/>
            <a:gdLst/>
            <a:ahLst/>
            <a:cxnLst/>
            <a:rect r="r" b="b" t="t" l="l"/>
            <a:pathLst>
              <a:path h="708022" w="5432422">
                <a:moveTo>
                  <a:pt x="0" y="0"/>
                </a:moveTo>
                <a:lnTo>
                  <a:pt x="5432422" y="0"/>
                </a:lnTo>
                <a:lnTo>
                  <a:pt x="5432422" y="708022"/>
                </a:lnTo>
                <a:lnTo>
                  <a:pt x="0" y="708022"/>
                </a:lnTo>
                <a:lnTo>
                  <a:pt x="0" y="0"/>
                </a:lnTo>
                <a:close/>
              </a:path>
            </a:pathLst>
          </a:custGeom>
          <a:blipFill>
            <a:blip r:embed="rId6">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6497373" y="1872167"/>
            <a:ext cx="4294672" cy="2121737"/>
          </a:xfrm>
          <a:custGeom>
            <a:avLst/>
            <a:gdLst/>
            <a:ahLst/>
            <a:cxnLst/>
            <a:rect r="r" b="b" t="t" l="l"/>
            <a:pathLst>
              <a:path h="2121737" w="4294672">
                <a:moveTo>
                  <a:pt x="0" y="0"/>
                </a:moveTo>
                <a:lnTo>
                  <a:pt x="4294671" y="0"/>
                </a:lnTo>
                <a:lnTo>
                  <a:pt x="4294671" y="2121737"/>
                </a:lnTo>
                <a:lnTo>
                  <a:pt x="0" y="2121737"/>
                </a:lnTo>
                <a:lnTo>
                  <a:pt x="0" y="0"/>
                </a:lnTo>
                <a:close/>
              </a:path>
            </a:pathLst>
          </a:custGeom>
          <a:blipFill>
            <a:blip r:embed="rId11">
              <a:extLst>
                <a:ext uri="{96DAC541-7B7A-43D3-8B79-37D633B846F1}">
                  <asvg:svgBlip xmlns:asvg="http://schemas.microsoft.com/office/drawing/2016/SVG/main" r:embed="rId12"/>
                </a:ext>
              </a:extLst>
            </a:blip>
            <a:stretch>
              <a:fillRect l="-764" t="0" r="0" b="-41111"/>
            </a:stretch>
          </a:blipFill>
        </p:spPr>
      </p:sp>
      <p:sp>
        <p:nvSpPr>
          <p:cNvPr name="TextBox 8" id="8"/>
          <p:cNvSpPr txBox="true"/>
          <p:nvPr/>
        </p:nvSpPr>
        <p:spPr>
          <a:xfrm rot="0">
            <a:off x="838200" y="425596"/>
            <a:ext cx="1075620" cy="156801"/>
          </a:xfrm>
          <a:prstGeom prst="rect">
            <a:avLst/>
          </a:prstGeom>
        </p:spPr>
        <p:txBody>
          <a:bodyPr anchor="t" rtlCol="false" tIns="0" lIns="0" bIns="0" rIns="0">
            <a:spAutoFit/>
          </a:bodyPr>
          <a:lstStyle/>
          <a:p>
            <a:pPr algn="l">
              <a:lnSpc>
                <a:spcPts val="1260"/>
              </a:lnSpc>
            </a:pPr>
            <a:r>
              <a:rPr lang="en-US" sz="900" spc="0">
                <a:solidFill>
                  <a:srgbClr val="0E7490"/>
                </a:solidFill>
                <a:latin typeface="Aptos"/>
                <a:ea typeface="Aptos"/>
                <a:cs typeface="Aptos"/>
                <a:sym typeface="Aptos"/>
              </a:rPr>
              <a:t>DATA PREPARATION</a:t>
            </a:r>
          </a:p>
        </p:txBody>
      </p:sp>
      <p:sp>
        <p:nvSpPr>
          <p:cNvPr name="TextBox 9" id="9"/>
          <p:cNvSpPr txBox="true"/>
          <p:nvPr/>
        </p:nvSpPr>
        <p:spPr>
          <a:xfrm rot="0">
            <a:off x="533400" y="693639"/>
            <a:ext cx="7813080" cy="405765"/>
          </a:xfrm>
          <a:prstGeom prst="rect">
            <a:avLst/>
          </a:prstGeom>
        </p:spPr>
        <p:txBody>
          <a:bodyPr anchor="t" rtlCol="false" tIns="0" lIns="0" bIns="0" rIns="0">
            <a:spAutoFit/>
          </a:bodyPr>
          <a:lstStyle/>
          <a:p>
            <a:pPr algn="l">
              <a:lnSpc>
                <a:spcPts val="3359"/>
              </a:lnSpc>
            </a:pPr>
            <a:r>
              <a:rPr lang="en-US" sz="2400">
                <a:solidFill>
                  <a:srgbClr val="0F172A"/>
                </a:solidFill>
                <a:latin typeface="Aptos"/>
                <a:ea typeface="Aptos"/>
                <a:cs typeface="Aptos"/>
                <a:sym typeface="Aptos"/>
              </a:rPr>
              <a:t>Cl</a:t>
            </a:r>
            <a:r>
              <a:rPr lang="en-US" sz="2400">
                <a:solidFill>
                  <a:srgbClr val="0F172A"/>
                </a:solidFill>
                <a:latin typeface="Aptos"/>
                <a:ea typeface="Aptos"/>
                <a:cs typeface="Aptos"/>
                <a:sym typeface="Aptos"/>
              </a:rPr>
              <a:t>eanups and splits are made to maintain temporal validity.</a:t>
            </a:r>
          </a:p>
        </p:txBody>
      </p:sp>
      <p:sp>
        <p:nvSpPr>
          <p:cNvPr name="TextBox 10" id="10"/>
          <p:cNvSpPr txBox="true"/>
          <p:nvPr/>
        </p:nvSpPr>
        <p:spPr>
          <a:xfrm rot="0">
            <a:off x="733654" y="4266114"/>
            <a:ext cx="256784" cy="173669"/>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Split</a:t>
            </a:r>
          </a:p>
        </p:txBody>
      </p:sp>
      <p:sp>
        <p:nvSpPr>
          <p:cNvPr name="TextBox 11" id="11"/>
          <p:cNvSpPr txBox="true"/>
          <p:nvPr/>
        </p:nvSpPr>
        <p:spPr>
          <a:xfrm rot="0">
            <a:off x="733654" y="4837614"/>
            <a:ext cx="349501" cy="173669"/>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Target</a:t>
            </a:r>
          </a:p>
        </p:txBody>
      </p:sp>
      <p:sp>
        <p:nvSpPr>
          <p:cNvPr name="TextBox 12" id="12"/>
          <p:cNvSpPr txBox="true"/>
          <p:nvPr/>
        </p:nvSpPr>
        <p:spPr>
          <a:xfrm rot="0">
            <a:off x="733654" y="1993830"/>
            <a:ext cx="239415" cy="166421"/>
          </a:xfrm>
          <a:prstGeom prst="rect">
            <a:avLst/>
          </a:prstGeom>
        </p:spPr>
        <p:txBody>
          <a:bodyPr anchor="t" rtlCol="false" tIns="0" lIns="0" bIns="0" rIns="0">
            <a:spAutoFit/>
          </a:bodyPr>
          <a:lstStyle/>
          <a:p>
            <a:pPr algn="l">
              <a:lnSpc>
                <a:spcPts val="1327"/>
              </a:lnSpc>
            </a:pPr>
            <a:r>
              <a:rPr lang="en-US" sz="947" spc="2">
                <a:solidFill>
                  <a:srgbClr val="0F172A"/>
                </a:solidFill>
                <a:latin typeface="Aptos"/>
                <a:ea typeface="Aptos"/>
                <a:cs typeface="Aptos"/>
                <a:sym typeface="Aptos"/>
              </a:rPr>
              <a:t>Step</a:t>
            </a:r>
          </a:p>
        </p:txBody>
      </p:sp>
      <p:sp>
        <p:nvSpPr>
          <p:cNvPr name="TextBox 13" id="13"/>
          <p:cNvSpPr txBox="true"/>
          <p:nvPr/>
        </p:nvSpPr>
        <p:spPr>
          <a:xfrm rot="0">
            <a:off x="733654" y="3694367"/>
            <a:ext cx="410661" cy="173669"/>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Scaling</a:t>
            </a:r>
          </a:p>
        </p:txBody>
      </p:sp>
      <p:sp>
        <p:nvSpPr>
          <p:cNvPr name="TextBox 14" id="14"/>
          <p:cNvSpPr txBox="true"/>
          <p:nvPr/>
        </p:nvSpPr>
        <p:spPr>
          <a:xfrm rot="0">
            <a:off x="733654" y="2551367"/>
            <a:ext cx="497605" cy="173669"/>
          </a:xfrm>
          <a:prstGeom prst="rect">
            <a:avLst/>
          </a:prstGeom>
        </p:spPr>
        <p:txBody>
          <a:bodyPr anchor="t" rtlCol="false" tIns="0" lIns="0" bIns="0" rIns="0">
            <a:spAutoFit/>
          </a:bodyPr>
          <a:lstStyle/>
          <a:p>
            <a:pPr algn="l">
              <a:lnSpc>
                <a:spcPts val="1327"/>
              </a:lnSpc>
            </a:pPr>
            <a:r>
              <a:rPr lang="en-US" sz="947" spc="0">
                <a:solidFill>
                  <a:srgbClr val="0F172A"/>
                </a:solidFill>
                <a:latin typeface="Aptos"/>
                <a:ea typeface="Aptos"/>
                <a:cs typeface="Aptos"/>
                <a:sym typeface="Aptos"/>
              </a:rPr>
              <a:t>Cleaning</a:t>
            </a:r>
          </a:p>
        </p:txBody>
      </p:sp>
      <p:sp>
        <p:nvSpPr>
          <p:cNvPr name="TextBox 15" id="15"/>
          <p:cNvSpPr txBox="true"/>
          <p:nvPr/>
        </p:nvSpPr>
        <p:spPr>
          <a:xfrm rot="0">
            <a:off x="733654" y="3122867"/>
            <a:ext cx="570176" cy="173669"/>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Alignment</a:t>
            </a:r>
          </a:p>
        </p:txBody>
      </p:sp>
      <p:sp>
        <p:nvSpPr>
          <p:cNvPr name="TextBox 16" id="16"/>
          <p:cNvSpPr txBox="true"/>
          <p:nvPr/>
        </p:nvSpPr>
        <p:spPr>
          <a:xfrm rot="0">
            <a:off x="2229612" y="1993830"/>
            <a:ext cx="979785" cy="166421"/>
          </a:xfrm>
          <a:prstGeom prst="rect">
            <a:avLst/>
          </a:prstGeom>
        </p:spPr>
        <p:txBody>
          <a:bodyPr anchor="t" rtlCol="false" tIns="0" lIns="0" bIns="0" rIns="0">
            <a:spAutoFit/>
          </a:bodyPr>
          <a:lstStyle/>
          <a:p>
            <a:pPr algn="l">
              <a:lnSpc>
                <a:spcPts val="1327"/>
              </a:lnSpc>
            </a:pPr>
            <a:r>
              <a:rPr lang="en-US" sz="947">
                <a:solidFill>
                  <a:srgbClr val="0F172A"/>
                </a:solidFill>
                <a:latin typeface="Aptos"/>
                <a:ea typeface="Aptos"/>
                <a:cs typeface="Aptos"/>
                <a:sym typeface="Aptos"/>
              </a:rPr>
              <a:t>N</a:t>
            </a:r>
            <a:r>
              <a:rPr lang="en-US" sz="947">
                <a:solidFill>
                  <a:srgbClr val="0F172A"/>
                </a:solidFill>
                <a:latin typeface="Aptos"/>
                <a:ea typeface="Aptos"/>
                <a:cs typeface="Aptos"/>
                <a:sym typeface="Aptos"/>
              </a:rPr>
              <a:t>otebook decision</a:t>
            </a:r>
          </a:p>
        </p:txBody>
      </p:sp>
      <p:sp>
        <p:nvSpPr>
          <p:cNvPr name="TextBox 17" id="17"/>
          <p:cNvSpPr txBox="true"/>
          <p:nvPr/>
        </p:nvSpPr>
        <p:spPr>
          <a:xfrm rot="0">
            <a:off x="2229612" y="4837614"/>
            <a:ext cx="2056011" cy="166421"/>
          </a:xfrm>
          <a:prstGeom prst="rect">
            <a:avLst/>
          </a:prstGeom>
        </p:spPr>
        <p:txBody>
          <a:bodyPr anchor="t" rtlCol="false" tIns="0" lIns="0" bIns="0" rIns="0">
            <a:spAutoFit/>
          </a:bodyPr>
          <a:lstStyle/>
          <a:p>
            <a:pPr algn="l">
              <a:lnSpc>
                <a:spcPts val="1327"/>
              </a:lnSpc>
            </a:pPr>
            <a:r>
              <a:rPr lang="en-US" sz="947" spc="1">
                <a:solidFill>
                  <a:srgbClr val="0F172A"/>
                </a:solidFill>
                <a:latin typeface="Aptos"/>
                <a:ea typeface="Aptos"/>
                <a:cs typeface="Aptos"/>
                <a:sym typeface="Aptos"/>
              </a:rPr>
              <a:t>Tomorrow's </a:t>
            </a:r>
            <a:r>
              <a:rPr lang="en-US" sz="947" spc="1">
                <a:solidFill>
                  <a:srgbClr val="0F172A"/>
                </a:solidFill>
                <a:latin typeface="Aptos"/>
                <a:ea typeface="Aptos"/>
                <a:cs typeface="Aptos"/>
                <a:sym typeface="Aptos"/>
              </a:rPr>
              <a:t>Target_Return (Percentage)</a:t>
            </a:r>
          </a:p>
        </p:txBody>
      </p:sp>
      <p:sp>
        <p:nvSpPr>
          <p:cNvPr name="TextBox 18" id="18"/>
          <p:cNvSpPr txBox="true"/>
          <p:nvPr/>
        </p:nvSpPr>
        <p:spPr>
          <a:xfrm rot="0">
            <a:off x="2229612" y="2551367"/>
            <a:ext cx="2645470" cy="166421"/>
          </a:xfrm>
          <a:prstGeom prst="rect">
            <a:avLst/>
          </a:prstGeom>
        </p:spPr>
        <p:txBody>
          <a:bodyPr anchor="t" rtlCol="false" tIns="0" lIns="0" bIns="0" rIns="0">
            <a:spAutoFit/>
          </a:bodyPr>
          <a:lstStyle/>
          <a:p>
            <a:pPr algn="l">
              <a:lnSpc>
                <a:spcPts val="1327"/>
              </a:lnSpc>
            </a:pPr>
            <a:r>
              <a:rPr lang="en-US" sz="947" spc="2">
                <a:solidFill>
                  <a:srgbClr val="0F172A"/>
                </a:solidFill>
                <a:latin typeface="Aptos"/>
                <a:ea typeface="Aptos"/>
                <a:cs typeface="Aptos"/>
                <a:sym typeface="Aptos"/>
              </a:rPr>
              <a:t>291 NaN rows removed after new feature is formed</a:t>
            </a:r>
          </a:p>
        </p:txBody>
      </p:sp>
      <p:sp>
        <p:nvSpPr>
          <p:cNvPr name="TextBox 19" id="19"/>
          <p:cNvSpPr txBox="true"/>
          <p:nvPr/>
        </p:nvSpPr>
        <p:spPr>
          <a:xfrm rot="0">
            <a:off x="2229612" y="4266114"/>
            <a:ext cx="2941340" cy="166421"/>
          </a:xfrm>
          <a:prstGeom prst="rect">
            <a:avLst/>
          </a:prstGeom>
        </p:spPr>
        <p:txBody>
          <a:bodyPr anchor="t" rtlCol="false" tIns="0" lIns="0" bIns="0" rIns="0">
            <a:spAutoFit/>
          </a:bodyPr>
          <a:lstStyle/>
          <a:p>
            <a:pPr algn="l">
              <a:lnSpc>
                <a:spcPts val="1327"/>
              </a:lnSpc>
            </a:pPr>
            <a:r>
              <a:rPr lang="en-US" sz="947" spc="2">
                <a:solidFill>
                  <a:srgbClr val="0F172A"/>
                </a:solidFill>
                <a:latin typeface="Aptos"/>
                <a:ea typeface="Aptos"/>
                <a:cs typeface="Aptos"/>
                <a:sym typeface="Aptos"/>
              </a:rPr>
              <a:t>Train 4,570 | validation 979 | test 980 with time sequence</a:t>
            </a:r>
          </a:p>
        </p:txBody>
      </p:sp>
      <p:sp>
        <p:nvSpPr>
          <p:cNvPr name="TextBox 20" id="20"/>
          <p:cNvSpPr txBox="true"/>
          <p:nvPr/>
        </p:nvSpPr>
        <p:spPr>
          <a:xfrm rot="0">
            <a:off x="2229612" y="3069393"/>
            <a:ext cx="3517716" cy="150594"/>
          </a:xfrm>
          <a:prstGeom prst="rect">
            <a:avLst/>
          </a:prstGeom>
        </p:spPr>
        <p:txBody>
          <a:bodyPr anchor="t" rtlCol="false" tIns="0" lIns="0" bIns="0" rIns="0">
            <a:spAutoFit/>
          </a:bodyPr>
          <a:lstStyle/>
          <a:p>
            <a:pPr algn="l">
              <a:lnSpc>
                <a:spcPts val="1151"/>
              </a:lnSpc>
            </a:pPr>
            <a:r>
              <a:rPr lang="en-US" sz="947" spc="1">
                <a:solidFill>
                  <a:srgbClr val="0F172A"/>
                </a:solidFill>
                <a:latin typeface="Aptos"/>
                <a:ea typeface="Aptos"/>
                <a:cs typeface="Aptos"/>
                <a:sym typeface="Aptos"/>
              </a:rPr>
              <a:t>al</a:t>
            </a:r>
            <a:r>
              <a:rPr lang="en-US" sz="947" spc="1">
                <a:solidFill>
                  <a:srgbClr val="0F172A"/>
                </a:solidFill>
                <a:latin typeface="Aptos"/>
                <a:ea typeface="Aptos"/>
                <a:cs typeface="Aptos"/>
                <a:sym typeface="Aptos"/>
              </a:rPr>
              <a:t>igned date index for NVDA, VIX, SMH, SPY, QQQ, and target</a:t>
            </a:r>
          </a:p>
        </p:txBody>
      </p:sp>
      <p:sp>
        <p:nvSpPr>
          <p:cNvPr name="TextBox 21" id="21"/>
          <p:cNvSpPr txBox="true"/>
          <p:nvPr/>
        </p:nvSpPr>
        <p:spPr>
          <a:xfrm rot="0">
            <a:off x="2229612" y="3640893"/>
            <a:ext cx="3448460" cy="293469"/>
          </a:xfrm>
          <a:prstGeom prst="rect">
            <a:avLst/>
          </a:prstGeom>
        </p:spPr>
        <p:txBody>
          <a:bodyPr anchor="t" rtlCol="false" tIns="0" lIns="0" bIns="0" rIns="0">
            <a:spAutoFit/>
          </a:bodyPr>
          <a:lstStyle/>
          <a:p>
            <a:pPr algn="l">
              <a:lnSpc>
                <a:spcPts val="1151"/>
              </a:lnSpc>
            </a:pPr>
            <a:r>
              <a:rPr lang="en-US" sz="947" spc="0">
                <a:solidFill>
                  <a:srgbClr val="0F172A"/>
                </a:solidFill>
                <a:latin typeface="Aptos"/>
                <a:ea typeface="Aptos"/>
                <a:cs typeface="Aptos"/>
                <a:sym typeface="Aptos"/>
              </a:rPr>
              <a:t>RobustScaler on BiLSTM sequences; other model pipelines as needed</a:t>
            </a:r>
          </a:p>
        </p:txBody>
      </p:sp>
      <p:sp>
        <p:nvSpPr>
          <p:cNvPr name="TextBox 22" id="22"/>
          <p:cNvSpPr txBox="true"/>
          <p:nvPr/>
        </p:nvSpPr>
        <p:spPr>
          <a:xfrm rot="0">
            <a:off x="6801612" y="2112559"/>
            <a:ext cx="1566682" cy="313601"/>
          </a:xfrm>
          <a:prstGeom prst="rect">
            <a:avLst/>
          </a:prstGeom>
        </p:spPr>
        <p:txBody>
          <a:bodyPr anchor="t" rtlCol="false" tIns="0" lIns="0" bIns="0" rIns="0">
            <a:spAutoFit/>
          </a:bodyPr>
          <a:lstStyle/>
          <a:p>
            <a:pPr algn="l">
              <a:lnSpc>
                <a:spcPts val="2520"/>
              </a:lnSpc>
            </a:pPr>
            <a:r>
              <a:rPr lang="en-US" sz="1800">
                <a:solidFill>
                  <a:srgbClr val="0F172A"/>
                </a:solidFill>
                <a:latin typeface="Aptos"/>
                <a:ea typeface="Aptos"/>
                <a:cs typeface="Aptos"/>
                <a:sym typeface="Aptos"/>
              </a:rPr>
              <a:t>Leakage control</a:t>
            </a:r>
          </a:p>
        </p:txBody>
      </p:sp>
      <p:sp>
        <p:nvSpPr>
          <p:cNvPr name="TextBox 23" id="23"/>
          <p:cNvSpPr txBox="true"/>
          <p:nvPr/>
        </p:nvSpPr>
        <p:spPr>
          <a:xfrm rot="0">
            <a:off x="819302" y="5238312"/>
            <a:ext cx="7182247" cy="274396"/>
          </a:xfrm>
          <a:prstGeom prst="rect">
            <a:avLst/>
          </a:prstGeom>
        </p:spPr>
        <p:txBody>
          <a:bodyPr anchor="t" rtlCol="false" tIns="0" lIns="0" bIns="0" rIns="0">
            <a:spAutoFit/>
          </a:bodyPr>
          <a:lstStyle/>
          <a:p>
            <a:pPr algn="l">
              <a:lnSpc>
                <a:spcPts val="2200"/>
              </a:lnSpc>
            </a:pPr>
            <a:r>
              <a:rPr lang="en-US" sz="1572">
                <a:solidFill>
                  <a:srgbClr val="0F172A"/>
                </a:solidFill>
                <a:latin typeface="Aptos"/>
                <a:ea typeface="Aptos"/>
                <a:cs typeface="Aptos"/>
                <a:sym typeface="Aptos"/>
              </a:rPr>
              <a:t>Implication: more conservative results, but better suited for time-series forecasting.</a:t>
            </a:r>
          </a:p>
        </p:txBody>
      </p:sp>
      <p:sp>
        <p:nvSpPr>
          <p:cNvPr name="TextBox 24" id="24"/>
          <p:cNvSpPr txBox="true"/>
          <p:nvPr/>
        </p:nvSpPr>
        <p:spPr>
          <a:xfrm rot="0">
            <a:off x="533400" y="6334506"/>
            <a:ext cx="1949148"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MachineLearningFinalBanget (1).ipynb</a:t>
            </a:r>
          </a:p>
        </p:txBody>
      </p:sp>
      <p:sp>
        <p:nvSpPr>
          <p:cNvPr name="TextBox 25" id="25"/>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08</a:t>
            </a:r>
          </a:p>
        </p:txBody>
      </p:sp>
      <p:sp>
        <p:nvSpPr>
          <p:cNvPr name="TextBox 26" id="26"/>
          <p:cNvSpPr txBox="true"/>
          <p:nvPr/>
        </p:nvSpPr>
        <p:spPr>
          <a:xfrm rot="0">
            <a:off x="7083419" y="2850176"/>
            <a:ext cx="3296812" cy="1287817"/>
          </a:xfrm>
          <a:prstGeom prst="rect">
            <a:avLst/>
          </a:prstGeom>
        </p:spPr>
        <p:txBody>
          <a:bodyPr anchor="t" rtlCol="false" tIns="0" lIns="0" bIns="0" rIns="0">
            <a:spAutoFit/>
          </a:bodyPr>
          <a:lstStyle/>
          <a:p>
            <a:pPr algn="l">
              <a:lnSpc>
                <a:spcPts val="1295"/>
              </a:lnSpc>
            </a:pPr>
            <a:r>
              <a:rPr lang="en-US" sz="1092">
                <a:solidFill>
                  <a:srgbClr val="0F172A"/>
                </a:solidFill>
                <a:latin typeface="Aptos"/>
                <a:ea typeface="Aptos"/>
                <a:cs typeface="Aptos"/>
                <a:sym typeface="Aptos"/>
              </a:rPr>
              <a:t>No random spl</a:t>
            </a:r>
            <a:r>
              <a:rPr lang="en-US" sz="1092">
                <a:solidFill>
                  <a:srgbClr val="0F172A"/>
                </a:solidFill>
                <a:latin typeface="Aptos"/>
                <a:ea typeface="Aptos"/>
                <a:cs typeface="Aptos"/>
                <a:sym typeface="Aptos"/>
              </a:rPr>
              <a:t>it is used.</a:t>
            </a:r>
          </a:p>
          <a:p>
            <a:pPr algn="l">
              <a:lnSpc>
                <a:spcPts val="1295"/>
              </a:lnSpc>
            </a:pPr>
          </a:p>
          <a:p>
            <a:pPr algn="l">
              <a:lnSpc>
                <a:spcPts val="1295"/>
              </a:lnSpc>
            </a:pPr>
            <a:r>
              <a:rPr lang="en-US" sz="1092">
                <a:solidFill>
                  <a:srgbClr val="0F172A"/>
                </a:solidFill>
                <a:latin typeface="Aptos"/>
                <a:ea typeface="Aptos"/>
                <a:cs typeface="Aptos"/>
                <a:sym typeface="Aptos"/>
              </a:rPr>
              <a:t>Permutation importance is calculated on the validation set. </a:t>
            </a:r>
            <a:r>
              <a:rPr lang="en-US" sz="1092">
                <a:solidFill>
                  <a:srgbClr val="0F172A"/>
                </a:solidFill>
                <a:latin typeface="Aptos"/>
                <a:ea typeface="Aptos"/>
                <a:cs typeface="Aptos"/>
                <a:sym typeface="Aptos"/>
              </a:rPr>
              <a:t>Th</a:t>
            </a:r>
            <a:r>
              <a:rPr lang="en-US" sz="1092">
                <a:solidFill>
                  <a:srgbClr val="0F172A"/>
                </a:solidFill>
                <a:latin typeface="Aptos"/>
                <a:ea typeface="Aptos"/>
                <a:cs typeface="Aptos"/>
                <a:sym typeface="Aptos"/>
              </a:rPr>
              <a:t>e test set is used only for final evaluation.</a:t>
            </a:r>
          </a:p>
          <a:p>
            <a:pPr algn="l">
              <a:lnSpc>
                <a:spcPts val="1295"/>
              </a:lnSpc>
            </a:pPr>
          </a:p>
          <a:p>
            <a:pPr algn="l">
              <a:lnSpc>
                <a:spcPts val="1295"/>
              </a:lnSpc>
            </a:pPr>
            <a:r>
              <a:rPr lang="en-US" sz="1092">
                <a:solidFill>
                  <a:srgbClr val="0F172A"/>
                </a:solidFill>
                <a:latin typeface="Aptos"/>
                <a:ea typeface="Aptos"/>
                <a:cs typeface="Aptos"/>
                <a:sym typeface="Aptos"/>
              </a:rPr>
              <a:t>Rolling prices use yesterday's actual prices, not chained cumulative predictions.</a:t>
            </a:r>
          </a:p>
          <a:p>
            <a:pPr algn="l">
              <a:lnSpc>
                <a:spcPts val="1295"/>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50847" y="1650997"/>
            <a:ext cx="11290297" cy="1193797"/>
          </a:xfrm>
          <a:custGeom>
            <a:avLst/>
            <a:gdLst/>
            <a:ahLst/>
            <a:cxnLst/>
            <a:rect r="r" b="b" t="t" l="l"/>
            <a:pathLst>
              <a:path h="1193797" w="11290297">
                <a:moveTo>
                  <a:pt x="0" y="0"/>
                </a:moveTo>
                <a:lnTo>
                  <a:pt x="11290297" y="0"/>
                </a:lnTo>
                <a:lnTo>
                  <a:pt x="11290297" y="1193797"/>
                </a:lnTo>
                <a:lnTo>
                  <a:pt x="0" y="11937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450847" y="3222622"/>
            <a:ext cx="11290297" cy="650872"/>
          </a:xfrm>
          <a:custGeom>
            <a:avLst/>
            <a:gdLst/>
            <a:ahLst/>
            <a:cxnLst/>
            <a:rect r="r" b="b" t="t" l="l"/>
            <a:pathLst>
              <a:path h="650872" w="11290297">
                <a:moveTo>
                  <a:pt x="0" y="0"/>
                </a:moveTo>
                <a:lnTo>
                  <a:pt x="11290297" y="0"/>
                </a:lnTo>
                <a:lnTo>
                  <a:pt x="11290297" y="650872"/>
                </a:lnTo>
                <a:lnTo>
                  <a:pt x="0" y="6508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450847" y="4251322"/>
            <a:ext cx="11290297" cy="650872"/>
          </a:xfrm>
          <a:custGeom>
            <a:avLst/>
            <a:gdLst/>
            <a:ahLst/>
            <a:cxnLst/>
            <a:rect r="r" b="b" t="t" l="l"/>
            <a:pathLst>
              <a:path h="650872" w="11290297">
                <a:moveTo>
                  <a:pt x="0" y="0"/>
                </a:moveTo>
                <a:lnTo>
                  <a:pt x="11290297" y="0"/>
                </a:lnTo>
                <a:lnTo>
                  <a:pt x="11290297" y="650872"/>
                </a:lnTo>
                <a:lnTo>
                  <a:pt x="0" y="650872"/>
                </a:lnTo>
                <a:lnTo>
                  <a:pt x="0" y="0"/>
                </a:lnTo>
                <a:close/>
              </a:path>
            </a:pathLst>
          </a:custGeom>
          <a:blipFill>
            <a:blip r:embed="rId8">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450847" y="5280022"/>
            <a:ext cx="11290297" cy="650872"/>
          </a:xfrm>
          <a:custGeom>
            <a:avLst/>
            <a:gdLst/>
            <a:ahLst/>
            <a:cxnLst/>
            <a:rect r="r" b="b" t="t" l="l"/>
            <a:pathLst>
              <a:path h="650872" w="11290297">
                <a:moveTo>
                  <a:pt x="0" y="0"/>
                </a:moveTo>
                <a:lnTo>
                  <a:pt x="11290297" y="0"/>
                </a:lnTo>
                <a:lnTo>
                  <a:pt x="11290297" y="650872"/>
                </a:lnTo>
                <a:lnTo>
                  <a:pt x="0" y="65087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8" id="8"/>
          <p:cNvSpPr txBox="true"/>
          <p:nvPr/>
        </p:nvSpPr>
        <p:spPr>
          <a:xfrm rot="0">
            <a:off x="838200" y="425596"/>
            <a:ext cx="941318" cy="156801"/>
          </a:xfrm>
          <a:prstGeom prst="rect">
            <a:avLst/>
          </a:prstGeom>
        </p:spPr>
        <p:txBody>
          <a:bodyPr anchor="t" rtlCol="false" tIns="0" lIns="0" bIns="0" rIns="0">
            <a:spAutoFit/>
          </a:bodyPr>
          <a:lstStyle/>
          <a:p>
            <a:pPr algn="l">
              <a:lnSpc>
                <a:spcPts val="1260"/>
              </a:lnSpc>
            </a:pPr>
            <a:r>
              <a:rPr lang="en-US" sz="900" spc="0">
                <a:solidFill>
                  <a:srgbClr val="0E7490"/>
                </a:solidFill>
                <a:latin typeface="Aptos"/>
                <a:ea typeface="Aptos"/>
                <a:cs typeface="Aptos"/>
                <a:sym typeface="Aptos"/>
              </a:rPr>
              <a:t>MODEL TRAINING</a:t>
            </a:r>
          </a:p>
        </p:txBody>
      </p:sp>
      <p:sp>
        <p:nvSpPr>
          <p:cNvPr name="TextBox 9" id="9"/>
          <p:cNvSpPr txBox="true"/>
          <p:nvPr/>
        </p:nvSpPr>
        <p:spPr>
          <a:xfrm rot="0">
            <a:off x="533400" y="693639"/>
            <a:ext cx="9265634" cy="824865"/>
          </a:xfrm>
          <a:prstGeom prst="rect">
            <a:avLst/>
          </a:prstGeom>
        </p:spPr>
        <p:txBody>
          <a:bodyPr anchor="t" rtlCol="false" tIns="0" lIns="0" bIns="0" rIns="0">
            <a:spAutoFit/>
          </a:bodyPr>
          <a:lstStyle/>
          <a:p>
            <a:pPr algn="l">
              <a:lnSpc>
                <a:spcPts val="3359"/>
              </a:lnSpc>
            </a:pPr>
            <a:r>
              <a:rPr lang="en-US" sz="2400">
                <a:solidFill>
                  <a:srgbClr val="0F172A"/>
                </a:solidFill>
                <a:latin typeface="Aptos"/>
                <a:ea typeface="Aptos"/>
                <a:cs typeface="Aptos"/>
                <a:sym typeface="Aptos"/>
              </a:rPr>
              <a:t>Experiments compare tree, sequence, linear, kernel, and ensemble models.</a:t>
            </a:r>
          </a:p>
        </p:txBody>
      </p:sp>
      <p:sp>
        <p:nvSpPr>
          <p:cNvPr name="TextBox 10" id="10"/>
          <p:cNvSpPr txBox="true"/>
          <p:nvPr/>
        </p:nvSpPr>
        <p:spPr>
          <a:xfrm rot="0">
            <a:off x="619354" y="2371430"/>
            <a:ext cx="240192" cy="171841"/>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Tree</a:t>
            </a:r>
          </a:p>
        </p:txBody>
      </p:sp>
      <p:sp>
        <p:nvSpPr>
          <p:cNvPr name="TextBox 11" id="11"/>
          <p:cNvSpPr txBox="true"/>
          <p:nvPr/>
        </p:nvSpPr>
        <p:spPr>
          <a:xfrm rot="0">
            <a:off x="619354" y="4429077"/>
            <a:ext cx="343262" cy="171841"/>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Linear</a:t>
            </a:r>
          </a:p>
        </p:txBody>
      </p:sp>
      <p:sp>
        <p:nvSpPr>
          <p:cNvPr name="TextBox 12" id="12"/>
          <p:cNvSpPr txBox="true"/>
          <p:nvPr/>
        </p:nvSpPr>
        <p:spPr>
          <a:xfrm rot="0">
            <a:off x="619354" y="4943561"/>
            <a:ext cx="360597" cy="171841"/>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Kernel</a:t>
            </a:r>
          </a:p>
        </p:txBody>
      </p:sp>
      <p:sp>
        <p:nvSpPr>
          <p:cNvPr name="TextBox 13" id="13"/>
          <p:cNvSpPr txBox="true"/>
          <p:nvPr/>
        </p:nvSpPr>
        <p:spPr>
          <a:xfrm rot="0">
            <a:off x="619354" y="1871177"/>
            <a:ext cx="339824" cy="166726"/>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F</a:t>
            </a:r>
            <a:r>
              <a:rPr lang="en-US" sz="935">
                <a:solidFill>
                  <a:srgbClr val="0F172A"/>
                </a:solidFill>
                <a:latin typeface="Aptos"/>
                <a:ea typeface="Aptos"/>
                <a:cs typeface="Aptos"/>
                <a:sym typeface="Aptos"/>
              </a:rPr>
              <a:t>amily</a:t>
            </a:r>
          </a:p>
        </p:txBody>
      </p:sp>
      <p:sp>
        <p:nvSpPr>
          <p:cNvPr name="TextBox 14" id="14"/>
          <p:cNvSpPr txBox="true"/>
          <p:nvPr/>
        </p:nvSpPr>
        <p:spPr>
          <a:xfrm rot="0">
            <a:off x="619354" y="2885646"/>
            <a:ext cx="484508" cy="171841"/>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Boosting</a:t>
            </a:r>
          </a:p>
        </p:txBody>
      </p:sp>
      <p:sp>
        <p:nvSpPr>
          <p:cNvPr name="TextBox 15" id="15"/>
          <p:cNvSpPr txBox="true"/>
          <p:nvPr/>
        </p:nvSpPr>
        <p:spPr>
          <a:xfrm rot="0">
            <a:off x="619354" y="3400130"/>
            <a:ext cx="484508" cy="171841"/>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Boosting</a:t>
            </a:r>
          </a:p>
        </p:txBody>
      </p:sp>
      <p:sp>
        <p:nvSpPr>
          <p:cNvPr name="TextBox 16" id="16"/>
          <p:cNvSpPr txBox="true"/>
          <p:nvPr/>
        </p:nvSpPr>
        <p:spPr>
          <a:xfrm rot="0">
            <a:off x="619354" y="5458111"/>
            <a:ext cx="550840" cy="171841"/>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Ensemble</a:t>
            </a:r>
          </a:p>
        </p:txBody>
      </p:sp>
      <p:sp>
        <p:nvSpPr>
          <p:cNvPr name="TextBox 17" id="17"/>
          <p:cNvSpPr txBox="true"/>
          <p:nvPr/>
        </p:nvSpPr>
        <p:spPr>
          <a:xfrm rot="0">
            <a:off x="619354" y="3914604"/>
            <a:ext cx="552174" cy="171841"/>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Sequence</a:t>
            </a:r>
          </a:p>
        </p:txBody>
      </p:sp>
      <p:sp>
        <p:nvSpPr>
          <p:cNvPr name="TextBox 18" id="18"/>
          <p:cNvSpPr txBox="true"/>
          <p:nvPr/>
        </p:nvSpPr>
        <p:spPr>
          <a:xfrm rot="0">
            <a:off x="2240918" y="4943561"/>
            <a:ext cx="213036" cy="171841"/>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SVR</a:t>
            </a:r>
          </a:p>
        </p:txBody>
      </p:sp>
      <p:sp>
        <p:nvSpPr>
          <p:cNvPr name="TextBox 19" id="19"/>
          <p:cNvSpPr txBox="true"/>
          <p:nvPr/>
        </p:nvSpPr>
        <p:spPr>
          <a:xfrm rot="0">
            <a:off x="2240918" y="1871177"/>
            <a:ext cx="343376" cy="171841"/>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Model</a:t>
            </a:r>
          </a:p>
        </p:txBody>
      </p:sp>
      <p:sp>
        <p:nvSpPr>
          <p:cNvPr name="TextBox 20" id="20"/>
          <p:cNvSpPr txBox="true"/>
          <p:nvPr/>
        </p:nvSpPr>
        <p:spPr>
          <a:xfrm rot="0">
            <a:off x="2240918" y="2885646"/>
            <a:ext cx="457476" cy="171841"/>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XGBoost</a:t>
            </a:r>
          </a:p>
        </p:txBody>
      </p:sp>
      <p:sp>
        <p:nvSpPr>
          <p:cNvPr name="TextBox 21" id="21"/>
          <p:cNvSpPr txBox="true"/>
          <p:nvPr/>
        </p:nvSpPr>
        <p:spPr>
          <a:xfrm rot="0">
            <a:off x="2240918" y="3400130"/>
            <a:ext cx="509245" cy="171841"/>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LightGBM</a:t>
            </a:r>
          </a:p>
        </p:txBody>
      </p:sp>
      <p:sp>
        <p:nvSpPr>
          <p:cNvPr name="TextBox 22" id="22"/>
          <p:cNvSpPr txBox="true"/>
          <p:nvPr/>
        </p:nvSpPr>
        <p:spPr>
          <a:xfrm rot="0">
            <a:off x="2240918" y="2371430"/>
            <a:ext cx="799033" cy="171841"/>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Random Forest</a:t>
            </a:r>
          </a:p>
        </p:txBody>
      </p:sp>
      <p:sp>
        <p:nvSpPr>
          <p:cNvPr name="TextBox 23" id="23"/>
          <p:cNvSpPr txBox="true"/>
          <p:nvPr/>
        </p:nvSpPr>
        <p:spPr>
          <a:xfrm rot="0">
            <a:off x="2240918" y="4429077"/>
            <a:ext cx="898217" cy="171841"/>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Ridge Regression</a:t>
            </a:r>
          </a:p>
        </p:txBody>
      </p:sp>
      <p:sp>
        <p:nvSpPr>
          <p:cNvPr name="TextBox 24" id="24"/>
          <p:cNvSpPr txBox="true"/>
          <p:nvPr/>
        </p:nvSpPr>
        <p:spPr>
          <a:xfrm rot="0">
            <a:off x="2240918" y="3914604"/>
            <a:ext cx="909323" cy="171841"/>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BiLSTM-Attention</a:t>
            </a:r>
          </a:p>
        </p:txBody>
      </p:sp>
      <p:sp>
        <p:nvSpPr>
          <p:cNvPr name="TextBox 25" id="25"/>
          <p:cNvSpPr txBox="true"/>
          <p:nvPr/>
        </p:nvSpPr>
        <p:spPr>
          <a:xfrm rot="0">
            <a:off x="2240918" y="5458111"/>
            <a:ext cx="2612529" cy="166726"/>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Stacking Ridge Meta (RF, XGB, LGBM, BiLSTM; SVR)</a:t>
            </a:r>
          </a:p>
        </p:txBody>
      </p:sp>
      <p:sp>
        <p:nvSpPr>
          <p:cNvPr name="TextBox 26" id="26"/>
          <p:cNvSpPr txBox="true"/>
          <p:nvPr/>
        </p:nvSpPr>
        <p:spPr>
          <a:xfrm rot="0">
            <a:off x="5003292" y="1871177"/>
            <a:ext cx="905966" cy="166726"/>
          </a:xfrm>
          <a:prstGeom prst="rect">
            <a:avLst/>
          </a:prstGeom>
        </p:spPr>
        <p:txBody>
          <a:bodyPr anchor="t" rtlCol="false" tIns="0" lIns="0" bIns="0" rIns="0">
            <a:spAutoFit/>
          </a:bodyPr>
          <a:lstStyle/>
          <a:p>
            <a:pPr algn="l">
              <a:lnSpc>
                <a:spcPts val="1310"/>
              </a:lnSpc>
            </a:pPr>
            <a:r>
              <a:rPr lang="en-US" sz="935" spc="0">
                <a:solidFill>
                  <a:srgbClr val="0F172A"/>
                </a:solidFill>
                <a:latin typeface="Aptos"/>
                <a:ea typeface="Aptos"/>
                <a:cs typeface="Aptos"/>
                <a:sym typeface="Aptos"/>
              </a:rPr>
              <a:t>Selected fea</a:t>
            </a:r>
            <a:r>
              <a:rPr lang="en-US" sz="935" spc="0">
                <a:solidFill>
                  <a:srgbClr val="0F172A"/>
                </a:solidFill>
                <a:latin typeface="Aptos"/>
                <a:ea typeface="Aptos"/>
                <a:cs typeface="Aptos"/>
                <a:sym typeface="Aptos"/>
              </a:rPr>
              <a:t>tures</a:t>
            </a:r>
          </a:p>
        </p:txBody>
      </p:sp>
      <p:sp>
        <p:nvSpPr>
          <p:cNvPr name="TextBox 27" id="27"/>
          <p:cNvSpPr txBox="true"/>
          <p:nvPr/>
        </p:nvSpPr>
        <p:spPr>
          <a:xfrm rot="0">
            <a:off x="5701541" y="2371430"/>
            <a:ext cx="130035" cy="171841"/>
          </a:xfrm>
          <a:prstGeom prst="rect">
            <a:avLst/>
          </a:prstGeom>
        </p:spPr>
        <p:txBody>
          <a:bodyPr anchor="t" rtlCol="false" tIns="0" lIns="0" bIns="0" rIns="0">
            <a:spAutoFit/>
          </a:bodyPr>
          <a:lstStyle/>
          <a:p>
            <a:pPr algn="l">
              <a:lnSpc>
                <a:spcPts val="1310"/>
              </a:lnSpc>
            </a:pPr>
            <a:r>
              <a:rPr lang="en-US" sz="935" spc="3">
                <a:solidFill>
                  <a:srgbClr val="0F172A"/>
                </a:solidFill>
                <a:latin typeface="Aptos"/>
                <a:ea typeface="Aptos"/>
                <a:cs typeface="Aptos"/>
                <a:sym typeface="Aptos"/>
              </a:rPr>
              <a:t>20</a:t>
            </a:r>
          </a:p>
        </p:txBody>
      </p:sp>
      <p:sp>
        <p:nvSpPr>
          <p:cNvPr name="TextBox 28" id="28"/>
          <p:cNvSpPr txBox="true"/>
          <p:nvPr/>
        </p:nvSpPr>
        <p:spPr>
          <a:xfrm rot="0">
            <a:off x="5701541" y="2885646"/>
            <a:ext cx="130035" cy="171841"/>
          </a:xfrm>
          <a:prstGeom prst="rect">
            <a:avLst/>
          </a:prstGeom>
        </p:spPr>
        <p:txBody>
          <a:bodyPr anchor="t" rtlCol="false" tIns="0" lIns="0" bIns="0" rIns="0">
            <a:spAutoFit/>
          </a:bodyPr>
          <a:lstStyle/>
          <a:p>
            <a:pPr algn="l">
              <a:lnSpc>
                <a:spcPts val="1310"/>
              </a:lnSpc>
            </a:pPr>
            <a:r>
              <a:rPr lang="en-US" sz="935" spc="3">
                <a:solidFill>
                  <a:srgbClr val="0F172A"/>
                </a:solidFill>
                <a:latin typeface="Aptos"/>
                <a:ea typeface="Aptos"/>
                <a:cs typeface="Aptos"/>
                <a:sym typeface="Aptos"/>
              </a:rPr>
              <a:t>20</a:t>
            </a:r>
          </a:p>
        </p:txBody>
      </p:sp>
      <p:sp>
        <p:nvSpPr>
          <p:cNvPr name="TextBox 29" id="29"/>
          <p:cNvSpPr txBox="true"/>
          <p:nvPr/>
        </p:nvSpPr>
        <p:spPr>
          <a:xfrm rot="0">
            <a:off x="5701541" y="3400130"/>
            <a:ext cx="130035" cy="171841"/>
          </a:xfrm>
          <a:prstGeom prst="rect">
            <a:avLst/>
          </a:prstGeom>
        </p:spPr>
        <p:txBody>
          <a:bodyPr anchor="t" rtlCol="false" tIns="0" lIns="0" bIns="0" rIns="0">
            <a:spAutoFit/>
          </a:bodyPr>
          <a:lstStyle/>
          <a:p>
            <a:pPr algn="l">
              <a:lnSpc>
                <a:spcPts val="1310"/>
              </a:lnSpc>
            </a:pPr>
            <a:r>
              <a:rPr lang="en-US" sz="935" spc="3">
                <a:solidFill>
                  <a:srgbClr val="0F172A"/>
                </a:solidFill>
                <a:latin typeface="Aptos"/>
                <a:ea typeface="Aptos"/>
                <a:cs typeface="Aptos"/>
                <a:sym typeface="Aptos"/>
              </a:rPr>
              <a:t>20</a:t>
            </a:r>
          </a:p>
        </p:txBody>
      </p:sp>
      <p:sp>
        <p:nvSpPr>
          <p:cNvPr name="TextBox 30" id="30"/>
          <p:cNvSpPr txBox="true"/>
          <p:nvPr/>
        </p:nvSpPr>
        <p:spPr>
          <a:xfrm rot="0">
            <a:off x="5701541" y="3914604"/>
            <a:ext cx="130035" cy="171841"/>
          </a:xfrm>
          <a:prstGeom prst="rect">
            <a:avLst/>
          </a:prstGeom>
        </p:spPr>
        <p:txBody>
          <a:bodyPr anchor="t" rtlCol="false" tIns="0" lIns="0" bIns="0" rIns="0">
            <a:spAutoFit/>
          </a:bodyPr>
          <a:lstStyle/>
          <a:p>
            <a:pPr algn="l">
              <a:lnSpc>
                <a:spcPts val="1310"/>
              </a:lnSpc>
            </a:pPr>
            <a:r>
              <a:rPr lang="en-US" sz="935" spc="3">
                <a:solidFill>
                  <a:srgbClr val="0F172A"/>
                </a:solidFill>
                <a:latin typeface="Aptos"/>
                <a:ea typeface="Aptos"/>
                <a:cs typeface="Aptos"/>
                <a:sym typeface="Aptos"/>
              </a:rPr>
              <a:t>20</a:t>
            </a:r>
          </a:p>
        </p:txBody>
      </p:sp>
      <p:sp>
        <p:nvSpPr>
          <p:cNvPr name="TextBox 31" id="31"/>
          <p:cNvSpPr txBox="true"/>
          <p:nvPr/>
        </p:nvSpPr>
        <p:spPr>
          <a:xfrm rot="0">
            <a:off x="5701541" y="4429077"/>
            <a:ext cx="130035" cy="171841"/>
          </a:xfrm>
          <a:prstGeom prst="rect">
            <a:avLst/>
          </a:prstGeom>
        </p:spPr>
        <p:txBody>
          <a:bodyPr anchor="t" rtlCol="false" tIns="0" lIns="0" bIns="0" rIns="0">
            <a:spAutoFit/>
          </a:bodyPr>
          <a:lstStyle/>
          <a:p>
            <a:pPr algn="l">
              <a:lnSpc>
                <a:spcPts val="1310"/>
              </a:lnSpc>
            </a:pPr>
            <a:r>
              <a:rPr lang="en-US" sz="935" spc="3">
                <a:solidFill>
                  <a:srgbClr val="0F172A"/>
                </a:solidFill>
                <a:latin typeface="Aptos"/>
                <a:ea typeface="Aptos"/>
                <a:cs typeface="Aptos"/>
                <a:sym typeface="Aptos"/>
              </a:rPr>
              <a:t>20</a:t>
            </a:r>
          </a:p>
        </p:txBody>
      </p:sp>
      <p:sp>
        <p:nvSpPr>
          <p:cNvPr name="TextBox 32" id="32"/>
          <p:cNvSpPr txBox="true"/>
          <p:nvPr/>
        </p:nvSpPr>
        <p:spPr>
          <a:xfrm rot="0">
            <a:off x="5701541" y="4943561"/>
            <a:ext cx="130035" cy="171841"/>
          </a:xfrm>
          <a:prstGeom prst="rect">
            <a:avLst/>
          </a:prstGeom>
        </p:spPr>
        <p:txBody>
          <a:bodyPr anchor="t" rtlCol="false" tIns="0" lIns="0" bIns="0" rIns="0">
            <a:spAutoFit/>
          </a:bodyPr>
          <a:lstStyle/>
          <a:p>
            <a:pPr algn="l">
              <a:lnSpc>
                <a:spcPts val="1310"/>
              </a:lnSpc>
            </a:pPr>
            <a:r>
              <a:rPr lang="en-US" sz="935" spc="3">
                <a:solidFill>
                  <a:srgbClr val="0F172A"/>
                </a:solidFill>
                <a:latin typeface="Aptos"/>
                <a:ea typeface="Aptos"/>
                <a:cs typeface="Aptos"/>
                <a:sym typeface="Aptos"/>
              </a:rPr>
              <a:t>15</a:t>
            </a:r>
          </a:p>
        </p:txBody>
      </p:sp>
      <p:sp>
        <p:nvSpPr>
          <p:cNvPr name="TextBox 33" id="33"/>
          <p:cNvSpPr txBox="true"/>
          <p:nvPr/>
        </p:nvSpPr>
        <p:spPr>
          <a:xfrm rot="0">
            <a:off x="5591813" y="5458111"/>
            <a:ext cx="356235" cy="171841"/>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4 base</a:t>
            </a:r>
          </a:p>
        </p:txBody>
      </p:sp>
      <p:sp>
        <p:nvSpPr>
          <p:cNvPr name="TextBox 34" id="34"/>
          <p:cNvSpPr txBox="true"/>
          <p:nvPr/>
        </p:nvSpPr>
        <p:spPr>
          <a:xfrm rot="0">
            <a:off x="6624828" y="1871177"/>
            <a:ext cx="490141" cy="166726"/>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Ob</a:t>
            </a:r>
            <a:r>
              <a:rPr lang="en-US" sz="935">
                <a:solidFill>
                  <a:srgbClr val="0F172A"/>
                </a:solidFill>
                <a:latin typeface="Aptos"/>
                <a:ea typeface="Aptos"/>
                <a:cs typeface="Aptos"/>
                <a:sym typeface="Aptos"/>
              </a:rPr>
              <a:t>jective</a:t>
            </a:r>
          </a:p>
        </p:txBody>
      </p:sp>
      <p:sp>
        <p:nvSpPr>
          <p:cNvPr name="TextBox 35" id="35"/>
          <p:cNvSpPr txBox="true"/>
          <p:nvPr/>
        </p:nvSpPr>
        <p:spPr>
          <a:xfrm rot="0">
            <a:off x="6624828" y="4429077"/>
            <a:ext cx="1345704" cy="166726"/>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r</a:t>
            </a:r>
            <a:r>
              <a:rPr lang="en-US" sz="935">
                <a:solidFill>
                  <a:srgbClr val="0F172A"/>
                </a:solidFill>
                <a:latin typeface="Aptos"/>
                <a:ea typeface="Aptos"/>
                <a:cs typeface="Aptos"/>
                <a:sym typeface="Aptos"/>
              </a:rPr>
              <a:t>egularized linear baseline</a:t>
            </a:r>
          </a:p>
        </p:txBody>
      </p:sp>
      <p:sp>
        <p:nvSpPr>
          <p:cNvPr name="TextBox 36" id="36"/>
          <p:cNvSpPr txBox="true"/>
          <p:nvPr/>
        </p:nvSpPr>
        <p:spPr>
          <a:xfrm rot="0">
            <a:off x="6624828" y="2371430"/>
            <a:ext cx="2025749" cy="166726"/>
          </a:xfrm>
          <a:prstGeom prst="rect">
            <a:avLst/>
          </a:prstGeom>
        </p:spPr>
        <p:txBody>
          <a:bodyPr anchor="t" rtlCol="false" tIns="0" lIns="0" bIns="0" rIns="0">
            <a:spAutoFit/>
          </a:bodyPr>
          <a:lstStyle/>
          <a:p>
            <a:pPr algn="l">
              <a:lnSpc>
                <a:spcPts val="1310"/>
              </a:lnSpc>
            </a:pPr>
            <a:r>
              <a:rPr lang="en-US" sz="935" spc="0">
                <a:solidFill>
                  <a:srgbClr val="0F172A"/>
                </a:solidFill>
                <a:latin typeface="Aptos"/>
                <a:ea typeface="Aptos"/>
                <a:cs typeface="Aptos"/>
                <a:sym typeface="Aptos"/>
              </a:rPr>
              <a:t>N</a:t>
            </a:r>
            <a:r>
              <a:rPr lang="en-US" sz="935" spc="0">
                <a:solidFill>
                  <a:srgbClr val="0F172A"/>
                </a:solidFill>
                <a:latin typeface="Aptos"/>
                <a:ea typeface="Aptos"/>
                <a:cs typeface="Aptos"/>
                <a:sym typeface="Aptos"/>
              </a:rPr>
              <a:t>on-linear baseline and feature ranking</a:t>
            </a:r>
          </a:p>
        </p:txBody>
      </p:sp>
      <p:sp>
        <p:nvSpPr>
          <p:cNvPr name="TextBox 37" id="37"/>
          <p:cNvSpPr txBox="true"/>
          <p:nvPr/>
        </p:nvSpPr>
        <p:spPr>
          <a:xfrm rot="0">
            <a:off x="6624828" y="2885646"/>
            <a:ext cx="2455267" cy="166726"/>
          </a:xfrm>
          <a:prstGeom prst="rect">
            <a:avLst/>
          </a:prstGeom>
        </p:spPr>
        <p:txBody>
          <a:bodyPr anchor="t" rtlCol="false" tIns="0" lIns="0" bIns="0" rIns="0">
            <a:spAutoFit/>
          </a:bodyPr>
          <a:lstStyle/>
          <a:p>
            <a:pPr algn="l">
              <a:lnSpc>
                <a:spcPts val="1310"/>
              </a:lnSpc>
            </a:pPr>
            <a:r>
              <a:rPr lang="en-US" sz="935" spc="0">
                <a:solidFill>
                  <a:srgbClr val="0F172A"/>
                </a:solidFill>
                <a:latin typeface="Aptos"/>
                <a:ea typeface="Aptos"/>
                <a:cs typeface="Aptos"/>
                <a:sym typeface="Aptos"/>
              </a:rPr>
              <a:t>non-linear interactions and regularized boosting</a:t>
            </a:r>
          </a:p>
        </p:txBody>
      </p:sp>
      <p:sp>
        <p:nvSpPr>
          <p:cNvPr name="TextBox 38" id="38"/>
          <p:cNvSpPr txBox="true"/>
          <p:nvPr/>
        </p:nvSpPr>
        <p:spPr>
          <a:xfrm rot="0">
            <a:off x="6624828" y="3400130"/>
            <a:ext cx="2299990" cy="166726"/>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fast </a:t>
            </a:r>
            <a:r>
              <a:rPr lang="en-US" sz="935">
                <a:solidFill>
                  <a:srgbClr val="0F172A"/>
                </a:solidFill>
                <a:latin typeface="Aptos"/>
                <a:ea typeface="Aptos"/>
                <a:cs typeface="Aptos"/>
                <a:sym typeface="Aptos"/>
              </a:rPr>
              <a:t>tree boosting and baseline interpretation</a:t>
            </a:r>
          </a:p>
        </p:txBody>
      </p:sp>
      <p:sp>
        <p:nvSpPr>
          <p:cNvPr name="TextBox 39" id="39"/>
          <p:cNvSpPr txBox="true"/>
          <p:nvPr/>
        </p:nvSpPr>
        <p:spPr>
          <a:xfrm rot="0">
            <a:off x="6624828" y="5458111"/>
            <a:ext cx="2886174" cy="166726"/>
          </a:xfrm>
          <a:prstGeom prst="rect">
            <a:avLst/>
          </a:prstGeom>
        </p:spPr>
        <p:txBody>
          <a:bodyPr anchor="t" rtlCol="false" tIns="0" lIns="0" bIns="0" rIns="0">
            <a:spAutoFit/>
          </a:bodyPr>
          <a:lstStyle/>
          <a:p>
            <a:pPr algn="l">
              <a:lnSpc>
                <a:spcPts val="1310"/>
              </a:lnSpc>
            </a:pPr>
            <a:r>
              <a:rPr lang="en-US" sz="935" spc="0">
                <a:solidFill>
                  <a:srgbClr val="0F172A"/>
                </a:solidFill>
                <a:latin typeface="Aptos"/>
                <a:ea typeface="Aptos"/>
                <a:cs typeface="Aptos"/>
                <a:sym typeface="Aptos"/>
              </a:rPr>
              <a:t>test</a:t>
            </a:r>
            <a:r>
              <a:rPr lang="en-US" sz="935" spc="0">
                <a:solidFill>
                  <a:srgbClr val="0F172A"/>
                </a:solidFill>
                <a:latin typeface="Aptos"/>
                <a:ea typeface="Aptos"/>
                <a:cs typeface="Aptos"/>
                <a:sym typeface="Aptos"/>
              </a:rPr>
              <a:t> whether the base learner combination gives an edge</a:t>
            </a:r>
          </a:p>
        </p:txBody>
      </p:sp>
      <p:sp>
        <p:nvSpPr>
          <p:cNvPr name="TextBox 40" id="40"/>
          <p:cNvSpPr txBox="true"/>
          <p:nvPr/>
        </p:nvSpPr>
        <p:spPr>
          <a:xfrm rot="0">
            <a:off x="6624828" y="3914604"/>
            <a:ext cx="3131741" cy="166726"/>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temporal pattern with attention and sequence time_steps=10</a:t>
            </a:r>
          </a:p>
        </p:txBody>
      </p:sp>
      <p:sp>
        <p:nvSpPr>
          <p:cNvPr name="TextBox 41" id="41"/>
          <p:cNvSpPr txBox="true"/>
          <p:nvPr/>
        </p:nvSpPr>
        <p:spPr>
          <a:xfrm rot="0">
            <a:off x="6624828" y="4943561"/>
            <a:ext cx="2479774" cy="166726"/>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kernel/linear model compared directly with CEEJ</a:t>
            </a:r>
          </a:p>
        </p:txBody>
      </p:sp>
      <p:sp>
        <p:nvSpPr>
          <p:cNvPr name="TextBox 42" id="42"/>
          <p:cNvSpPr txBox="true"/>
          <p:nvPr/>
        </p:nvSpPr>
        <p:spPr>
          <a:xfrm rot="0">
            <a:off x="533400" y="6334506"/>
            <a:ext cx="1949148"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MachineLearningFinalBanget (1).ipynb</a:t>
            </a:r>
          </a:p>
        </p:txBody>
      </p:sp>
      <p:sp>
        <p:nvSpPr>
          <p:cNvPr name="TextBox 43" id="43"/>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09</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3734" y="1798634"/>
            <a:ext cx="4899022" cy="3165472"/>
          </a:xfrm>
          <a:custGeom>
            <a:avLst/>
            <a:gdLst/>
            <a:ahLst/>
            <a:cxnLst/>
            <a:rect r="r" b="b" t="t" l="l"/>
            <a:pathLst>
              <a:path h="3165472" w="4899022">
                <a:moveTo>
                  <a:pt x="0" y="0"/>
                </a:moveTo>
                <a:lnTo>
                  <a:pt x="4899022" y="0"/>
                </a:lnTo>
                <a:lnTo>
                  <a:pt x="4899022" y="3165472"/>
                </a:lnTo>
                <a:lnTo>
                  <a:pt x="0" y="31654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6503984" y="1798634"/>
            <a:ext cx="4613272" cy="3165472"/>
          </a:xfrm>
          <a:custGeom>
            <a:avLst/>
            <a:gdLst/>
            <a:ahLst/>
            <a:cxnLst/>
            <a:rect r="r" b="b" t="t" l="l"/>
            <a:pathLst>
              <a:path h="3165472" w="4613272">
                <a:moveTo>
                  <a:pt x="0" y="0"/>
                </a:moveTo>
                <a:lnTo>
                  <a:pt x="4613272" y="0"/>
                </a:lnTo>
                <a:lnTo>
                  <a:pt x="4613272" y="3165472"/>
                </a:lnTo>
                <a:lnTo>
                  <a:pt x="0" y="31654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838200" y="425596"/>
            <a:ext cx="1123652" cy="148590"/>
          </a:xfrm>
          <a:prstGeom prst="rect">
            <a:avLst/>
          </a:prstGeom>
        </p:spPr>
        <p:txBody>
          <a:bodyPr anchor="t" rtlCol="false" tIns="0" lIns="0" bIns="0" rIns="0">
            <a:spAutoFit/>
          </a:bodyPr>
          <a:lstStyle/>
          <a:p>
            <a:pPr algn="l">
              <a:lnSpc>
                <a:spcPts val="1260"/>
              </a:lnSpc>
            </a:pPr>
            <a:r>
              <a:rPr lang="en-US" sz="900">
                <a:solidFill>
                  <a:srgbClr val="0E7490"/>
                </a:solidFill>
                <a:latin typeface="Aptos"/>
                <a:ea typeface="Aptos"/>
                <a:cs typeface="Aptos"/>
                <a:sym typeface="Aptos"/>
              </a:rPr>
              <a:t>EVALUATION METRICS</a:t>
            </a:r>
          </a:p>
        </p:txBody>
      </p:sp>
      <p:sp>
        <p:nvSpPr>
          <p:cNvPr name="TextBox 7" id="7"/>
          <p:cNvSpPr txBox="true"/>
          <p:nvPr/>
        </p:nvSpPr>
        <p:spPr>
          <a:xfrm rot="0">
            <a:off x="533400" y="693639"/>
            <a:ext cx="9695458" cy="405765"/>
          </a:xfrm>
          <a:prstGeom prst="rect">
            <a:avLst/>
          </a:prstGeom>
        </p:spPr>
        <p:txBody>
          <a:bodyPr anchor="t" rtlCol="false" tIns="0" lIns="0" bIns="0" rIns="0">
            <a:spAutoFit/>
          </a:bodyPr>
          <a:lstStyle/>
          <a:p>
            <a:pPr algn="l">
              <a:lnSpc>
                <a:spcPts val="3359"/>
              </a:lnSpc>
            </a:pPr>
            <a:r>
              <a:rPr lang="en-US" sz="2400">
                <a:solidFill>
                  <a:srgbClr val="0F172A"/>
                </a:solidFill>
                <a:latin typeface="Aptos"/>
                <a:ea typeface="Aptos"/>
                <a:cs typeface="Aptos"/>
                <a:sym typeface="Aptos"/>
              </a:rPr>
              <a:t>The re</a:t>
            </a:r>
            <a:r>
              <a:rPr lang="en-US" sz="2400">
                <a:solidFill>
                  <a:srgbClr val="0F172A"/>
                </a:solidFill>
                <a:latin typeface="Aptos"/>
                <a:ea typeface="Aptos"/>
                <a:cs typeface="Aptos"/>
                <a:sym typeface="Aptos"/>
              </a:rPr>
              <a:t>sults are read from two sides: return quality and rolling price quality.</a:t>
            </a:r>
          </a:p>
        </p:txBody>
      </p:sp>
      <p:sp>
        <p:nvSpPr>
          <p:cNvPr name="TextBox 8" id="8"/>
          <p:cNvSpPr txBox="true"/>
          <p:nvPr/>
        </p:nvSpPr>
        <p:spPr>
          <a:xfrm rot="0">
            <a:off x="1066800" y="2094262"/>
            <a:ext cx="1535259" cy="324622"/>
          </a:xfrm>
          <a:prstGeom prst="rect">
            <a:avLst/>
          </a:prstGeom>
        </p:spPr>
        <p:txBody>
          <a:bodyPr anchor="t" rtlCol="false" tIns="0" lIns="0" bIns="0" rIns="0">
            <a:spAutoFit/>
          </a:bodyPr>
          <a:lstStyle/>
          <a:p>
            <a:pPr algn="l">
              <a:lnSpc>
                <a:spcPts val="2620"/>
              </a:lnSpc>
            </a:pPr>
            <a:r>
              <a:rPr lang="en-US" sz="1871" spc="1">
                <a:solidFill>
                  <a:srgbClr val="0F172A"/>
                </a:solidFill>
                <a:latin typeface="Aptos"/>
                <a:ea typeface="Aptos"/>
                <a:cs typeface="Aptos"/>
                <a:sym typeface="Aptos"/>
              </a:rPr>
              <a:t>Return metrics</a:t>
            </a:r>
          </a:p>
        </p:txBody>
      </p:sp>
      <p:sp>
        <p:nvSpPr>
          <p:cNvPr name="TextBox 9" id="9"/>
          <p:cNvSpPr txBox="true"/>
          <p:nvPr/>
        </p:nvSpPr>
        <p:spPr>
          <a:xfrm rot="0">
            <a:off x="6877812" y="2094262"/>
            <a:ext cx="2117255" cy="324622"/>
          </a:xfrm>
          <a:prstGeom prst="rect">
            <a:avLst/>
          </a:prstGeom>
        </p:spPr>
        <p:txBody>
          <a:bodyPr anchor="t" rtlCol="false" tIns="0" lIns="0" bIns="0" rIns="0">
            <a:spAutoFit/>
          </a:bodyPr>
          <a:lstStyle/>
          <a:p>
            <a:pPr algn="l">
              <a:lnSpc>
                <a:spcPts val="2620"/>
              </a:lnSpc>
            </a:pPr>
            <a:r>
              <a:rPr lang="en-US" sz="1871">
                <a:solidFill>
                  <a:srgbClr val="0F172A"/>
                </a:solidFill>
                <a:latin typeface="Aptos"/>
                <a:ea typeface="Aptos"/>
                <a:cs typeface="Aptos"/>
                <a:sym typeface="Aptos"/>
              </a:rPr>
              <a:t>Rolling price metrics</a:t>
            </a:r>
          </a:p>
        </p:txBody>
      </p:sp>
      <p:sp>
        <p:nvSpPr>
          <p:cNvPr name="TextBox 10" id="10"/>
          <p:cNvSpPr txBox="true"/>
          <p:nvPr/>
        </p:nvSpPr>
        <p:spPr>
          <a:xfrm rot="0">
            <a:off x="1276474" y="2704833"/>
            <a:ext cx="2179836" cy="190424"/>
          </a:xfrm>
          <a:prstGeom prst="rect">
            <a:avLst/>
          </a:prstGeom>
        </p:spPr>
        <p:txBody>
          <a:bodyPr anchor="t" rtlCol="false" tIns="0" lIns="0" bIns="0" rIns="0">
            <a:spAutoFit/>
          </a:bodyPr>
          <a:lstStyle/>
          <a:p>
            <a:pPr algn="l">
              <a:lnSpc>
                <a:spcPts val="1579"/>
              </a:lnSpc>
            </a:pPr>
            <a:r>
              <a:rPr lang="en-US" sz="1127">
                <a:solidFill>
                  <a:srgbClr val="0F172A"/>
                </a:solidFill>
                <a:latin typeface="Aptos"/>
                <a:ea typeface="Aptos"/>
                <a:cs typeface="Aptos"/>
                <a:sym typeface="Aptos"/>
              </a:rPr>
              <a:t>MAE: average absolute return error.</a:t>
            </a:r>
          </a:p>
        </p:txBody>
      </p:sp>
      <p:sp>
        <p:nvSpPr>
          <p:cNvPr name="TextBox 11" id="11"/>
          <p:cNvSpPr txBox="true"/>
          <p:nvPr/>
        </p:nvSpPr>
        <p:spPr>
          <a:xfrm rot="0">
            <a:off x="1276474" y="3181340"/>
            <a:ext cx="3256312" cy="648989"/>
          </a:xfrm>
          <a:prstGeom prst="rect">
            <a:avLst/>
          </a:prstGeom>
        </p:spPr>
        <p:txBody>
          <a:bodyPr anchor="t" rtlCol="false" tIns="0" lIns="0" bIns="0" rIns="0">
            <a:spAutoFit/>
          </a:bodyPr>
          <a:lstStyle/>
          <a:p>
            <a:pPr algn="l">
              <a:lnSpc>
                <a:spcPts val="1343"/>
              </a:lnSpc>
            </a:pPr>
            <a:r>
              <a:rPr lang="en-US" sz="1127">
                <a:solidFill>
                  <a:srgbClr val="0F172A"/>
                </a:solidFill>
                <a:latin typeface="Aptos"/>
                <a:ea typeface="Aptos"/>
                <a:cs typeface="Aptos"/>
                <a:sym typeface="Aptos"/>
              </a:rPr>
              <a:t>RMSE: error return with a larger penalty for outliers.</a:t>
            </a:r>
          </a:p>
          <a:p>
            <a:pPr algn="l">
              <a:lnSpc>
                <a:spcPts val="1343"/>
              </a:lnSpc>
            </a:pPr>
          </a:p>
          <a:p>
            <a:pPr algn="l">
              <a:lnSpc>
                <a:spcPts val="1343"/>
              </a:lnSpc>
            </a:pPr>
          </a:p>
          <a:p>
            <a:pPr algn="l">
              <a:lnSpc>
                <a:spcPts val="1343"/>
              </a:lnSpc>
            </a:pPr>
            <a:r>
              <a:rPr lang="en-US" sz="1127">
                <a:solidFill>
                  <a:srgbClr val="0F172A"/>
                </a:solidFill>
                <a:latin typeface="Aptos"/>
                <a:ea typeface="Aptos"/>
                <a:cs typeface="Aptos"/>
                <a:sym typeface="Aptos"/>
              </a:rPr>
              <a:t>R2: ability to explain variation in returns.</a:t>
            </a:r>
          </a:p>
        </p:txBody>
      </p:sp>
      <p:sp>
        <p:nvSpPr>
          <p:cNvPr name="TextBox 12" id="12"/>
          <p:cNvSpPr txBox="true"/>
          <p:nvPr/>
        </p:nvSpPr>
        <p:spPr>
          <a:xfrm rot="0">
            <a:off x="1276474" y="4076690"/>
            <a:ext cx="3716437" cy="190424"/>
          </a:xfrm>
          <a:prstGeom prst="rect">
            <a:avLst/>
          </a:prstGeom>
        </p:spPr>
        <p:txBody>
          <a:bodyPr anchor="t" rtlCol="false" tIns="0" lIns="0" bIns="0" rIns="0">
            <a:spAutoFit/>
          </a:bodyPr>
          <a:lstStyle/>
          <a:p>
            <a:pPr algn="l">
              <a:lnSpc>
                <a:spcPts val="1579"/>
              </a:lnSpc>
            </a:pPr>
            <a:r>
              <a:rPr lang="en-US" sz="1127">
                <a:solidFill>
                  <a:srgbClr val="0F172A"/>
                </a:solidFill>
                <a:latin typeface="Aptos"/>
                <a:ea typeface="Aptos"/>
                <a:cs typeface="Aptos"/>
                <a:sym typeface="Aptos"/>
              </a:rPr>
              <a:t>Directional Accuracy: percentage of correct return direction.</a:t>
            </a:r>
          </a:p>
        </p:txBody>
      </p:sp>
      <p:sp>
        <p:nvSpPr>
          <p:cNvPr name="TextBox 13" id="13"/>
          <p:cNvSpPr txBox="true"/>
          <p:nvPr/>
        </p:nvSpPr>
        <p:spPr>
          <a:xfrm rot="0">
            <a:off x="7087486" y="2704833"/>
            <a:ext cx="4053880" cy="190424"/>
          </a:xfrm>
          <a:prstGeom prst="rect">
            <a:avLst/>
          </a:prstGeom>
        </p:spPr>
        <p:txBody>
          <a:bodyPr anchor="t" rtlCol="false" tIns="0" lIns="0" bIns="0" rIns="0">
            <a:spAutoFit/>
          </a:bodyPr>
          <a:lstStyle/>
          <a:p>
            <a:pPr algn="l">
              <a:lnSpc>
                <a:spcPts val="1579"/>
              </a:lnSpc>
            </a:pPr>
            <a:r>
              <a:rPr lang="en-US" sz="1127">
                <a:solidFill>
                  <a:srgbClr val="0F172A"/>
                </a:solidFill>
                <a:latin typeface="Aptos"/>
                <a:ea typeface="Aptos"/>
                <a:cs typeface="Aptos"/>
                <a:sym typeface="Aptos"/>
              </a:rPr>
              <a:t>MAE price: average difference between actual and predicted USD.</a:t>
            </a:r>
          </a:p>
        </p:txBody>
      </p:sp>
      <p:sp>
        <p:nvSpPr>
          <p:cNvPr name="TextBox 14" id="14"/>
          <p:cNvSpPr txBox="true"/>
          <p:nvPr/>
        </p:nvSpPr>
        <p:spPr>
          <a:xfrm rot="0">
            <a:off x="7087486" y="3181340"/>
            <a:ext cx="3290649" cy="810914"/>
          </a:xfrm>
          <a:prstGeom prst="rect">
            <a:avLst/>
          </a:prstGeom>
        </p:spPr>
        <p:txBody>
          <a:bodyPr anchor="t" rtlCol="false" tIns="0" lIns="0" bIns="0" rIns="0">
            <a:spAutoFit/>
          </a:bodyPr>
          <a:lstStyle/>
          <a:p>
            <a:pPr algn="l">
              <a:lnSpc>
                <a:spcPts val="1343"/>
              </a:lnSpc>
            </a:pPr>
            <a:r>
              <a:rPr lang="en-US" sz="1127">
                <a:solidFill>
                  <a:srgbClr val="0F172A"/>
                </a:solidFill>
                <a:latin typeface="Aptos"/>
                <a:ea typeface="Aptos"/>
                <a:cs typeface="Aptos"/>
                <a:sym typeface="Aptos"/>
              </a:rPr>
              <a:t>MAPE price: percentage error, easily compared across price levels.</a:t>
            </a:r>
          </a:p>
          <a:p>
            <a:pPr algn="l">
              <a:lnSpc>
                <a:spcPts val="1343"/>
              </a:lnSpc>
            </a:pPr>
          </a:p>
          <a:p>
            <a:pPr algn="l">
              <a:lnSpc>
                <a:spcPts val="1343"/>
              </a:lnSpc>
            </a:pPr>
            <a:r>
              <a:rPr lang="en-US" sz="1127">
                <a:solidFill>
                  <a:srgbClr val="0F172A"/>
                </a:solidFill>
                <a:latin typeface="Aptos"/>
                <a:ea typeface="Aptos"/>
                <a:cs typeface="Aptos"/>
                <a:sym typeface="Aptos"/>
              </a:rPr>
              <a:t>3-month </a:t>
            </a:r>
            <a:r>
              <a:rPr lang="en-US" sz="1127">
                <a:solidFill>
                  <a:srgbClr val="0F172A"/>
                </a:solidFill>
                <a:latin typeface="Aptos"/>
                <a:ea typeface="Aptos"/>
                <a:cs typeface="Aptos"/>
                <a:sym typeface="Aptos"/>
              </a:rPr>
              <a:t>DA: true direction as of the last presentation window.</a:t>
            </a:r>
          </a:p>
        </p:txBody>
      </p:sp>
      <p:sp>
        <p:nvSpPr>
          <p:cNvPr name="TextBox 15" id="15"/>
          <p:cNvSpPr txBox="true"/>
          <p:nvPr/>
        </p:nvSpPr>
        <p:spPr>
          <a:xfrm rot="0">
            <a:off x="533400" y="6334506"/>
            <a:ext cx="1949148"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MachineLearningFinalBanget (1).ipynb</a:t>
            </a:r>
          </a:p>
        </p:txBody>
      </p:sp>
      <p:sp>
        <p:nvSpPr>
          <p:cNvPr name="TextBox 16" id="16"/>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10</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46097" y="1593847"/>
            <a:ext cx="10528297" cy="1022347"/>
          </a:xfrm>
          <a:custGeom>
            <a:avLst/>
            <a:gdLst/>
            <a:ahLst/>
            <a:cxnLst/>
            <a:rect r="r" b="b" t="t" l="l"/>
            <a:pathLst>
              <a:path h="1022347" w="10528297">
                <a:moveTo>
                  <a:pt x="0" y="0"/>
                </a:moveTo>
                <a:lnTo>
                  <a:pt x="10528297" y="0"/>
                </a:lnTo>
                <a:lnTo>
                  <a:pt x="10528297" y="1022347"/>
                </a:lnTo>
                <a:lnTo>
                  <a:pt x="0" y="102234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46097" y="2908297"/>
            <a:ext cx="10528297" cy="565147"/>
          </a:xfrm>
          <a:custGeom>
            <a:avLst/>
            <a:gdLst/>
            <a:ahLst/>
            <a:cxnLst/>
            <a:rect r="r" b="b" t="t" l="l"/>
            <a:pathLst>
              <a:path h="565147" w="10528297">
                <a:moveTo>
                  <a:pt x="0" y="0"/>
                </a:moveTo>
                <a:lnTo>
                  <a:pt x="10528297" y="0"/>
                </a:lnTo>
                <a:lnTo>
                  <a:pt x="10528297" y="565147"/>
                </a:lnTo>
                <a:lnTo>
                  <a:pt x="0" y="56514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546097" y="3765547"/>
            <a:ext cx="10528297" cy="565147"/>
          </a:xfrm>
          <a:custGeom>
            <a:avLst/>
            <a:gdLst/>
            <a:ahLst/>
            <a:cxnLst/>
            <a:rect r="r" b="b" t="t" l="l"/>
            <a:pathLst>
              <a:path h="565147" w="10528297">
                <a:moveTo>
                  <a:pt x="0" y="0"/>
                </a:moveTo>
                <a:lnTo>
                  <a:pt x="10528297" y="0"/>
                </a:lnTo>
                <a:lnTo>
                  <a:pt x="10528297" y="565147"/>
                </a:lnTo>
                <a:lnTo>
                  <a:pt x="0" y="565147"/>
                </a:lnTo>
                <a:lnTo>
                  <a:pt x="0" y="0"/>
                </a:lnTo>
                <a:close/>
              </a:path>
            </a:pathLst>
          </a:custGeom>
          <a:blipFill>
            <a:blip r:embed="rId8">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546097" y="4622797"/>
            <a:ext cx="10528297" cy="565147"/>
          </a:xfrm>
          <a:custGeom>
            <a:avLst/>
            <a:gdLst/>
            <a:ahLst/>
            <a:cxnLst/>
            <a:rect r="r" b="b" t="t" l="l"/>
            <a:pathLst>
              <a:path h="565147" w="10528297">
                <a:moveTo>
                  <a:pt x="0" y="0"/>
                </a:moveTo>
                <a:lnTo>
                  <a:pt x="10528297" y="0"/>
                </a:lnTo>
                <a:lnTo>
                  <a:pt x="10528297" y="565147"/>
                </a:lnTo>
                <a:lnTo>
                  <a:pt x="0" y="565147"/>
                </a:lnTo>
                <a:lnTo>
                  <a:pt x="0" y="0"/>
                </a:lnTo>
                <a:close/>
              </a:path>
            </a:pathLst>
          </a:custGeom>
          <a:blipFill>
            <a:blip r:embed="rId8">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838200" y="425596"/>
            <a:ext cx="1520428" cy="148590"/>
          </a:xfrm>
          <a:prstGeom prst="rect">
            <a:avLst/>
          </a:prstGeom>
        </p:spPr>
        <p:txBody>
          <a:bodyPr anchor="t" rtlCol="false" tIns="0" lIns="0" bIns="0" rIns="0">
            <a:spAutoFit/>
          </a:bodyPr>
          <a:lstStyle/>
          <a:p>
            <a:pPr algn="l">
              <a:lnSpc>
                <a:spcPts val="1260"/>
              </a:lnSpc>
            </a:pPr>
            <a:r>
              <a:rPr lang="en-US" sz="900">
                <a:solidFill>
                  <a:srgbClr val="0E7490"/>
                </a:solidFill>
                <a:latin typeface="Aptos"/>
                <a:ea typeface="Aptos"/>
                <a:cs typeface="Aptos"/>
                <a:sym typeface="Aptos"/>
              </a:rPr>
              <a:t>MODE</a:t>
            </a:r>
            <a:r>
              <a:rPr lang="en-US" sz="900">
                <a:solidFill>
                  <a:srgbClr val="0E7490"/>
                </a:solidFill>
                <a:latin typeface="Aptos"/>
                <a:ea typeface="Aptos"/>
                <a:cs typeface="Aptos"/>
                <a:sym typeface="Aptos"/>
              </a:rPr>
              <a:t>L EVALUATION RESULTS</a:t>
            </a:r>
          </a:p>
        </p:txBody>
      </p:sp>
      <p:sp>
        <p:nvSpPr>
          <p:cNvPr name="TextBox 9" id="9"/>
          <p:cNvSpPr txBox="true"/>
          <p:nvPr/>
        </p:nvSpPr>
        <p:spPr>
          <a:xfrm rot="0">
            <a:off x="533400" y="693639"/>
            <a:ext cx="9551965" cy="824865"/>
          </a:xfrm>
          <a:prstGeom prst="rect">
            <a:avLst/>
          </a:prstGeom>
        </p:spPr>
        <p:txBody>
          <a:bodyPr anchor="t" rtlCol="false" tIns="0" lIns="0" bIns="0" rIns="0">
            <a:spAutoFit/>
          </a:bodyPr>
          <a:lstStyle/>
          <a:p>
            <a:pPr algn="l">
              <a:lnSpc>
                <a:spcPts val="3359"/>
              </a:lnSpc>
            </a:pPr>
            <a:r>
              <a:rPr lang="en-US" sz="2400">
                <a:solidFill>
                  <a:srgbClr val="0F172A"/>
                </a:solidFill>
                <a:latin typeface="Aptos"/>
                <a:ea typeface="Aptos"/>
                <a:cs typeface="Aptos"/>
                <a:sym typeface="Aptos"/>
              </a:rPr>
              <a:t>BiLSTM is superior in DA return, while XGBoost/RF is slightly superior in RMSE.</a:t>
            </a:r>
          </a:p>
        </p:txBody>
      </p:sp>
      <p:sp>
        <p:nvSpPr>
          <p:cNvPr name="TextBox 10" id="10"/>
          <p:cNvSpPr txBox="true"/>
          <p:nvPr/>
        </p:nvSpPr>
        <p:spPr>
          <a:xfrm rot="0">
            <a:off x="714451" y="1771602"/>
            <a:ext cx="343376" cy="171841"/>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Model</a:t>
            </a:r>
          </a:p>
        </p:txBody>
      </p:sp>
      <p:sp>
        <p:nvSpPr>
          <p:cNvPr name="TextBox 11" id="11"/>
          <p:cNvSpPr txBox="true"/>
          <p:nvPr/>
        </p:nvSpPr>
        <p:spPr>
          <a:xfrm rot="0">
            <a:off x="714451" y="2186130"/>
            <a:ext cx="835533" cy="171841"/>
          </a:xfrm>
          <a:prstGeom prst="rect">
            <a:avLst/>
          </a:prstGeom>
        </p:spPr>
        <p:txBody>
          <a:bodyPr anchor="t" rtlCol="false" tIns="0" lIns="0" bIns="0" rIns="0">
            <a:spAutoFit/>
          </a:bodyPr>
          <a:lstStyle/>
          <a:p>
            <a:pPr algn="l">
              <a:lnSpc>
                <a:spcPts val="1310"/>
              </a:lnSpc>
            </a:pPr>
            <a:r>
              <a:rPr lang="en-US" sz="935">
                <a:solidFill>
                  <a:srgbClr val="2563EB"/>
                </a:solidFill>
                <a:latin typeface="Aptos"/>
                <a:ea typeface="Aptos"/>
                <a:cs typeface="Aptos"/>
                <a:sym typeface="Aptos"/>
              </a:rPr>
              <a:t>Random Forest</a:t>
            </a:r>
          </a:p>
        </p:txBody>
      </p:sp>
      <p:sp>
        <p:nvSpPr>
          <p:cNvPr name="TextBox 12" id="12"/>
          <p:cNvSpPr txBox="true"/>
          <p:nvPr/>
        </p:nvSpPr>
        <p:spPr>
          <a:xfrm rot="0">
            <a:off x="714451" y="2614889"/>
            <a:ext cx="479546" cy="171841"/>
          </a:xfrm>
          <a:prstGeom prst="rect">
            <a:avLst/>
          </a:prstGeom>
        </p:spPr>
        <p:txBody>
          <a:bodyPr anchor="t" rtlCol="false" tIns="0" lIns="0" bIns="0" rIns="0">
            <a:spAutoFit/>
          </a:bodyPr>
          <a:lstStyle/>
          <a:p>
            <a:pPr algn="l">
              <a:lnSpc>
                <a:spcPts val="1310"/>
              </a:lnSpc>
            </a:pPr>
            <a:r>
              <a:rPr lang="en-US" sz="935">
                <a:solidFill>
                  <a:srgbClr val="16A34A"/>
                </a:solidFill>
                <a:latin typeface="Aptos"/>
                <a:ea typeface="Aptos"/>
                <a:cs typeface="Aptos"/>
                <a:sym typeface="Aptos"/>
              </a:rPr>
              <a:t>XGBoost</a:t>
            </a:r>
          </a:p>
        </p:txBody>
      </p:sp>
      <p:sp>
        <p:nvSpPr>
          <p:cNvPr name="TextBox 13" id="13"/>
          <p:cNvSpPr txBox="true"/>
          <p:nvPr/>
        </p:nvSpPr>
        <p:spPr>
          <a:xfrm rot="0">
            <a:off x="714451" y="3043514"/>
            <a:ext cx="531800" cy="171841"/>
          </a:xfrm>
          <a:prstGeom prst="rect">
            <a:avLst/>
          </a:prstGeom>
        </p:spPr>
        <p:txBody>
          <a:bodyPr anchor="t" rtlCol="false" tIns="0" lIns="0" bIns="0" rIns="0">
            <a:spAutoFit/>
          </a:bodyPr>
          <a:lstStyle/>
          <a:p>
            <a:pPr algn="l">
              <a:lnSpc>
                <a:spcPts val="1310"/>
              </a:lnSpc>
            </a:pPr>
            <a:r>
              <a:rPr lang="en-US" sz="935">
                <a:solidFill>
                  <a:srgbClr val="0E7490"/>
                </a:solidFill>
                <a:latin typeface="Aptos"/>
                <a:ea typeface="Aptos"/>
                <a:cs typeface="Aptos"/>
                <a:sym typeface="Aptos"/>
              </a:rPr>
              <a:t>LightGBM</a:t>
            </a:r>
          </a:p>
        </p:txBody>
      </p:sp>
      <p:sp>
        <p:nvSpPr>
          <p:cNvPr name="TextBox 14" id="14"/>
          <p:cNvSpPr txBox="true"/>
          <p:nvPr/>
        </p:nvSpPr>
        <p:spPr>
          <a:xfrm rot="0">
            <a:off x="714451" y="3472386"/>
            <a:ext cx="955891" cy="171841"/>
          </a:xfrm>
          <a:prstGeom prst="rect">
            <a:avLst/>
          </a:prstGeom>
        </p:spPr>
        <p:txBody>
          <a:bodyPr anchor="t" rtlCol="false" tIns="0" lIns="0" bIns="0" rIns="0">
            <a:spAutoFit/>
          </a:bodyPr>
          <a:lstStyle/>
          <a:p>
            <a:pPr algn="l">
              <a:lnSpc>
                <a:spcPts val="1310"/>
              </a:lnSpc>
            </a:pPr>
            <a:r>
              <a:rPr lang="en-US" sz="935">
                <a:solidFill>
                  <a:srgbClr val="7C3AED"/>
                </a:solidFill>
                <a:latin typeface="Aptos"/>
                <a:ea typeface="Aptos"/>
                <a:cs typeface="Aptos"/>
                <a:sym typeface="Aptos"/>
              </a:rPr>
              <a:t>BiLSTM-Attention</a:t>
            </a:r>
          </a:p>
        </p:txBody>
      </p:sp>
      <p:sp>
        <p:nvSpPr>
          <p:cNvPr name="TextBox 15" id="15"/>
          <p:cNvSpPr txBox="true"/>
          <p:nvPr/>
        </p:nvSpPr>
        <p:spPr>
          <a:xfrm rot="0">
            <a:off x="714451" y="3900888"/>
            <a:ext cx="309553" cy="171841"/>
          </a:xfrm>
          <a:prstGeom prst="rect">
            <a:avLst/>
          </a:prstGeom>
        </p:spPr>
        <p:txBody>
          <a:bodyPr anchor="t" rtlCol="false" tIns="0" lIns="0" bIns="0" rIns="0">
            <a:spAutoFit/>
          </a:bodyPr>
          <a:lstStyle/>
          <a:p>
            <a:pPr algn="l">
              <a:lnSpc>
                <a:spcPts val="1310"/>
              </a:lnSpc>
            </a:pPr>
            <a:r>
              <a:rPr lang="en-US" sz="935">
                <a:solidFill>
                  <a:srgbClr val="CA8A04"/>
                </a:solidFill>
                <a:latin typeface="Aptos"/>
                <a:ea typeface="Aptos"/>
                <a:cs typeface="Aptos"/>
                <a:sym typeface="Aptos"/>
              </a:rPr>
              <a:t>Ridge</a:t>
            </a:r>
          </a:p>
        </p:txBody>
      </p:sp>
      <p:sp>
        <p:nvSpPr>
          <p:cNvPr name="TextBox 16" id="16"/>
          <p:cNvSpPr txBox="true"/>
          <p:nvPr/>
        </p:nvSpPr>
        <p:spPr>
          <a:xfrm rot="0">
            <a:off x="714451" y="4329770"/>
            <a:ext cx="224676" cy="171841"/>
          </a:xfrm>
          <a:prstGeom prst="rect">
            <a:avLst/>
          </a:prstGeom>
        </p:spPr>
        <p:txBody>
          <a:bodyPr anchor="t" rtlCol="false" tIns="0" lIns="0" bIns="0" rIns="0">
            <a:spAutoFit/>
          </a:bodyPr>
          <a:lstStyle/>
          <a:p>
            <a:pPr algn="l">
              <a:lnSpc>
                <a:spcPts val="1310"/>
              </a:lnSpc>
            </a:pPr>
            <a:r>
              <a:rPr lang="en-US" sz="935" spc="1">
                <a:solidFill>
                  <a:srgbClr val="16A34A"/>
                </a:solidFill>
                <a:latin typeface="Aptos"/>
                <a:ea typeface="Aptos"/>
                <a:cs typeface="Aptos"/>
                <a:sym typeface="Aptos"/>
              </a:rPr>
              <a:t>SVR</a:t>
            </a:r>
          </a:p>
        </p:txBody>
      </p:sp>
      <p:sp>
        <p:nvSpPr>
          <p:cNvPr name="TextBox 17" id="17"/>
          <p:cNvSpPr txBox="true"/>
          <p:nvPr/>
        </p:nvSpPr>
        <p:spPr>
          <a:xfrm rot="0">
            <a:off x="714451" y="4758261"/>
            <a:ext cx="2612529" cy="166726"/>
          </a:xfrm>
          <a:prstGeom prst="rect">
            <a:avLst/>
          </a:prstGeom>
        </p:spPr>
        <p:txBody>
          <a:bodyPr anchor="t" rtlCol="false" tIns="0" lIns="0" bIns="0" rIns="0">
            <a:spAutoFit/>
          </a:bodyPr>
          <a:lstStyle/>
          <a:p>
            <a:pPr algn="l">
              <a:lnSpc>
                <a:spcPts val="1310"/>
              </a:lnSpc>
            </a:pPr>
            <a:r>
              <a:rPr lang="en-US" sz="935">
                <a:solidFill>
                  <a:srgbClr val="DC2626"/>
                </a:solidFill>
                <a:latin typeface="Aptos"/>
                <a:ea typeface="Aptos"/>
                <a:cs typeface="Aptos"/>
                <a:sym typeface="Aptos"/>
              </a:rPr>
              <a:t>Stacking Ridge Meta (RF, XGB, LGBM, BiLSTM; SVR)</a:t>
            </a:r>
          </a:p>
        </p:txBody>
      </p:sp>
      <p:sp>
        <p:nvSpPr>
          <p:cNvPr name="TextBox 18" id="18"/>
          <p:cNvSpPr txBox="true"/>
          <p:nvPr/>
        </p:nvSpPr>
        <p:spPr>
          <a:xfrm rot="0">
            <a:off x="3740534" y="1771602"/>
            <a:ext cx="395188" cy="166726"/>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Feature</a:t>
            </a:r>
          </a:p>
        </p:txBody>
      </p:sp>
      <p:sp>
        <p:nvSpPr>
          <p:cNvPr name="TextBox 19" id="19"/>
          <p:cNvSpPr txBox="true"/>
          <p:nvPr/>
        </p:nvSpPr>
        <p:spPr>
          <a:xfrm rot="0">
            <a:off x="4233034" y="2186130"/>
            <a:ext cx="130035" cy="171841"/>
          </a:xfrm>
          <a:prstGeom prst="rect">
            <a:avLst/>
          </a:prstGeom>
        </p:spPr>
        <p:txBody>
          <a:bodyPr anchor="t" rtlCol="false" tIns="0" lIns="0" bIns="0" rIns="0">
            <a:spAutoFit/>
          </a:bodyPr>
          <a:lstStyle/>
          <a:p>
            <a:pPr algn="l">
              <a:lnSpc>
                <a:spcPts val="1310"/>
              </a:lnSpc>
            </a:pPr>
            <a:r>
              <a:rPr lang="en-US" sz="935" spc="3">
                <a:solidFill>
                  <a:srgbClr val="0F172A"/>
                </a:solidFill>
                <a:latin typeface="Aptos"/>
                <a:ea typeface="Aptos"/>
                <a:cs typeface="Aptos"/>
                <a:sym typeface="Aptos"/>
              </a:rPr>
              <a:t>20</a:t>
            </a:r>
          </a:p>
        </p:txBody>
      </p:sp>
      <p:sp>
        <p:nvSpPr>
          <p:cNvPr name="TextBox 20" id="20"/>
          <p:cNvSpPr txBox="true"/>
          <p:nvPr/>
        </p:nvSpPr>
        <p:spPr>
          <a:xfrm rot="0">
            <a:off x="4233034" y="2614889"/>
            <a:ext cx="130035" cy="171841"/>
          </a:xfrm>
          <a:prstGeom prst="rect">
            <a:avLst/>
          </a:prstGeom>
        </p:spPr>
        <p:txBody>
          <a:bodyPr anchor="t" rtlCol="false" tIns="0" lIns="0" bIns="0" rIns="0">
            <a:spAutoFit/>
          </a:bodyPr>
          <a:lstStyle/>
          <a:p>
            <a:pPr algn="l">
              <a:lnSpc>
                <a:spcPts val="1310"/>
              </a:lnSpc>
            </a:pPr>
            <a:r>
              <a:rPr lang="en-US" sz="935" spc="3">
                <a:solidFill>
                  <a:srgbClr val="0F172A"/>
                </a:solidFill>
                <a:latin typeface="Aptos"/>
                <a:ea typeface="Aptos"/>
                <a:cs typeface="Aptos"/>
                <a:sym typeface="Aptos"/>
              </a:rPr>
              <a:t>20</a:t>
            </a:r>
          </a:p>
        </p:txBody>
      </p:sp>
      <p:sp>
        <p:nvSpPr>
          <p:cNvPr name="TextBox 21" id="21"/>
          <p:cNvSpPr txBox="true"/>
          <p:nvPr/>
        </p:nvSpPr>
        <p:spPr>
          <a:xfrm rot="0">
            <a:off x="4233034" y="3043514"/>
            <a:ext cx="130035" cy="171841"/>
          </a:xfrm>
          <a:prstGeom prst="rect">
            <a:avLst/>
          </a:prstGeom>
        </p:spPr>
        <p:txBody>
          <a:bodyPr anchor="t" rtlCol="false" tIns="0" lIns="0" bIns="0" rIns="0">
            <a:spAutoFit/>
          </a:bodyPr>
          <a:lstStyle/>
          <a:p>
            <a:pPr algn="l">
              <a:lnSpc>
                <a:spcPts val="1310"/>
              </a:lnSpc>
            </a:pPr>
            <a:r>
              <a:rPr lang="en-US" sz="935" spc="3">
                <a:solidFill>
                  <a:srgbClr val="0F172A"/>
                </a:solidFill>
                <a:latin typeface="Aptos"/>
                <a:ea typeface="Aptos"/>
                <a:cs typeface="Aptos"/>
                <a:sym typeface="Aptos"/>
              </a:rPr>
              <a:t>20</a:t>
            </a:r>
          </a:p>
        </p:txBody>
      </p:sp>
      <p:sp>
        <p:nvSpPr>
          <p:cNvPr name="TextBox 22" id="22"/>
          <p:cNvSpPr txBox="true"/>
          <p:nvPr/>
        </p:nvSpPr>
        <p:spPr>
          <a:xfrm rot="0">
            <a:off x="4233034" y="3472386"/>
            <a:ext cx="130035" cy="171841"/>
          </a:xfrm>
          <a:prstGeom prst="rect">
            <a:avLst/>
          </a:prstGeom>
        </p:spPr>
        <p:txBody>
          <a:bodyPr anchor="t" rtlCol="false" tIns="0" lIns="0" bIns="0" rIns="0">
            <a:spAutoFit/>
          </a:bodyPr>
          <a:lstStyle/>
          <a:p>
            <a:pPr algn="l">
              <a:lnSpc>
                <a:spcPts val="1310"/>
              </a:lnSpc>
            </a:pPr>
            <a:r>
              <a:rPr lang="en-US" sz="935" spc="3">
                <a:solidFill>
                  <a:srgbClr val="0F172A"/>
                </a:solidFill>
                <a:latin typeface="Aptos"/>
                <a:ea typeface="Aptos"/>
                <a:cs typeface="Aptos"/>
                <a:sym typeface="Aptos"/>
              </a:rPr>
              <a:t>20</a:t>
            </a:r>
          </a:p>
        </p:txBody>
      </p:sp>
      <p:sp>
        <p:nvSpPr>
          <p:cNvPr name="TextBox 23" id="23"/>
          <p:cNvSpPr txBox="true"/>
          <p:nvPr/>
        </p:nvSpPr>
        <p:spPr>
          <a:xfrm rot="0">
            <a:off x="4233034" y="3900888"/>
            <a:ext cx="130035" cy="171841"/>
          </a:xfrm>
          <a:prstGeom prst="rect">
            <a:avLst/>
          </a:prstGeom>
        </p:spPr>
        <p:txBody>
          <a:bodyPr anchor="t" rtlCol="false" tIns="0" lIns="0" bIns="0" rIns="0">
            <a:spAutoFit/>
          </a:bodyPr>
          <a:lstStyle/>
          <a:p>
            <a:pPr algn="l">
              <a:lnSpc>
                <a:spcPts val="1310"/>
              </a:lnSpc>
            </a:pPr>
            <a:r>
              <a:rPr lang="en-US" sz="935" spc="3">
                <a:solidFill>
                  <a:srgbClr val="0F172A"/>
                </a:solidFill>
                <a:latin typeface="Aptos"/>
                <a:ea typeface="Aptos"/>
                <a:cs typeface="Aptos"/>
                <a:sym typeface="Aptos"/>
              </a:rPr>
              <a:t>20</a:t>
            </a:r>
          </a:p>
        </p:txBody>
      </p:sp>
      <p:sp>
        <p:nvSpPr>
          <p:cNvPr name="TextBox 24" id="24"/>
          <p:cNvSpPr txBox="true"/>
          <p:nvPr/>
        </p:nvSpPr>
        <p:spPr>
          <a:xfrm rot="0">
            <a:off x="4233034" y="4329770"/>
            <a:ext cx="130035" cy="171841"/>
          </a:xfrm>
          <a:prstGeom prst="rect">
            <a:avLst/>
          </a:prstGeom>
        </p:spPr>
        <p:txBody>
          <a:bodyPr anchor="t" rtlCol="false" tIns="0" lIns="0" bIns="0" rIns="0">
            <a:spAutoFit/>
          </a:bodyPr>
          <a:lstStyle/>
          <a:p>
            <a:pPr algn="l">
              <a:lnSpc>
                <a:spcPts val="1310"/>
              </a:lnSpc>
            </a:pPr>
            <a:r>
              <a:rPr lang="en-US" sz="935" spc="3">
                <a:solidFill>
                  <a:srgbClr val="0F172A"/>
                </a:solidFill>
                <a:latin typeface="Aptos"/>
                <a:ea typeface="Aptos"/>
                <a:cs typeface="Aptos"/>
                <a:sym typeface="Aptos"/>
              </a:rPr>
              <a:t>15</a:t>
            </a:r>
          </a:p>
        </p:txBody>
      </p:sp>
      <p:sp>
        <p:nvSpPr>
          <p:cNvPr name="TextBox 25" id="25"/>
          <p:cNvSpPr txBox="true"/>
          <p:nvPr/>
        </p:nvSpPr>
        <p:spPr>
          <a:xfrm rot="0">
            <a:off x="4123306" y="4758261"/>
            <a:ext cx="356235" cy="171841"/>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4 base</a:t>
            </a:r>
          </a:p>
        </p:txBody>
      </p:sp>
      <p:sp>
        <p:nvSpPr>
          <p:cNvPr name="TextBox 26" id="26"/>
          <p:cNvSpPr txBox="true"/>
          <p:nvPr/>
        </p:nvSpPr>
        <p:spPr>
          <a:xfrm rot="0">
            <a:off x="4950838" y="1771602"/>
            <a:ext cx="243592" cy="171841"/>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MAE</a:t>
            </a:r>
          </a:p>
        </p:txBody>
      </p:sp>
      <p:sp>
        <p:nvSpPr>
          <p:cNvPr name="TextBox 27" id="27"/>
          <p:cNvSpPr txBox="true"/>
          <p:nvPr/>
        </p:nvSpPr>
        <p:spPr>
          <a:xfrm rot="0">
            <a:off x="5450081" y="2186130"/>
            <a:ext cx="424491" cy="171841"/>
          </a:xfrm>
          <a:prstGeom prst="rect">
            <a:avLst/>
          </a:prstGeom>
        </p:spPr>
        <p:txBody>
          <a:bodyPr anchor="t" rtlCol="false" tIns="0" lIns="0" bIns="0" rIns="0">
            <a:spAutoFit/>
          </a:bodyPr>
          <a:lstStyle/>
          <a:p>
            <a:pPr algn="l">
              <a:lnSpc>
                <a:spcPts val="1310"/>
              </a:lnSpc>
            </a:pPr>
            <a:r>
              <a:rPr lang="en-US" sz="935" spc="1">
                <a:solidFill>
                  <a:srgbClr val="0F172A"/>
                </a:solidFill>
                <a:latin typeface="Aptos"/>
                <a:ea typeface="Aptos"/>
                <a:cs typeface="Aptos"/>
                <a:sym typeface="Aptos"/>
              </a:rPr>
              <a:t>0.02291</a:t>
            </a:r>
          </a:p>
        </p:txBody>
      </p:sp>
      <p:sp>
        <p:nvSpPr>
          <p:cNvPr name="TextBox 28" id="28"/>
          <p:cNvSpPr txBox="true"/>
          <p:nvPr/>
        </p:nvSpPr>
        <p:spPr>
          <a:xfrm rot="0">
            <a:off x="5450081" y="2614889"/>
            <a:ext cx="424491" cy="171841"/>
          </a:xfrm>
          <a:prstGeom prst="rect">
            <a:avLst/>
          </a:prstGeom>
        </p:spPr>
        <p:txBody>
          <a:bodyPr anchor="t" rtlCol="false" tIns="0" lIns="0" bIns="0" rIns="0">
            <a:spAutoFit/>
          </a:bodyPr>
          <a:lstStyle/>
          <a:p>
            <a:pPr algn="l">
              <a:lnSpc>
                <a:spcPts val="1310"/>
              </a:lnSpc>
            </a:pPr>
            <a:r>
              <a:rPr lang="en-US" sz="935" spc="1">
                <a:solidFill>
                  <a:srgbClr val="0F172A"/>
                </a:solidFill>
                <a:latin typeface="Aptos"/>
                <a:ea typeface="Aptos"/>
                <a:cs typeface="Aptos"/>
                <a:sym typeface="Aptos"/>
              </a:rPr>
              <a:t>0.02289</a:t>
            </a:r>
          </a:p>
        </p:txBody>
      </p:sp>
      <p:sp>
        <p:nvSpPr>
          <p:cNvPr name="TextBox 29" id="29"/>
          <p:cNvSpPr txBox="true"/>
          <p:nvPr/>
        </p:nvSpPr>
        <p:spPr>
          <a:xfrm rot="0">
            <a:off x="5450081" y="3043514"/>
            <a:ext cx="424491" cy="171841"/>
          </a:xfrm>
          <a:prstGeom prst="rect">
            <a:avLst/>
          </a:prstGeom>
        </p:spPr>
        <p:txBody>
          <a:bodyPr anchor="t" rtlCol="false" tIns="0" lIns="0" bIns="0" rIns="0">
            <a:spAutoFit/>
          </a:bodyPr>
          <a:lstStyle/>
          <a:p>
            <a:pPr algn="l">
              <a:lnSpc>
                <a:spcPts val="1310"/>
              </a:lnSpc>
            </a:pPr>
            <a:r>
              <a:rPr lang="en-US" sz="935" spc="1">
                <a:solidFill>
                  <a:srgbClr val="0F172A"/>
                </a:solidFill>
                <a:latin typeface="Aptos"/>
                <a:ea typeface="Aptos"/>
                <a:cs typeface="Aptos"/>
                <a:sym typeface="Aptos"/>
              </a:rPr>
              <a:t>0.02291</a:t>
            </a:r>
          </a:p>
        </p:txBody>
      </p:sp>
      <p:sp>
        <p:nvSpPr>
          <p:cNvPr name="TextBox 30" id="30"/>
          <p:cNvSpPr txBox="true"/>
          <p:nvPr/>
        </p:nvSpPr>
        <p:spPr>
          <a:xfrm rot="0">
            <a:off x="5450081" y="3472386"/>
            <a:ext cx="424491" cy="171841"/>
          </a:xfrm>
          <a:prstGeom prst="rect">
            <a:avLst/>
          </a:prstGeom>
        </p:spPr>
        <p:txBody>
          <a:bodyPr anchor="t" rtlCol="false" tIns="0" lIns="0" bIns="0" rIns="0">
            <a:spAutoFit/>
          </a:bodyPr>
          <a:lstStyle/>
          <a:p>
            <a:pPr algn="l">
              <a:lnSpc>
                <a:spcPts val="1310"/>
              </a:lnSpc>
            </a:pPr>
            <a:r>
              <a:rPr lang="en-US" sz="935" spc="1">
                <a:solidFill>
                  <a:srgbClr val="0F172A"/>
                </a:solidFill>
                <a:latin typeface="Aptos"/>
                <a:ea typeface="Aptos"/>
                <a:cs typeface="Aptos"/>
                <a:sym typeface="Aptos"/>
              </a:rPr>
              <a:t>0.02285</a:t>
            </a:r>
          </a:p>
        </p:txBody>
      </p:sp>
      <p:sp>
        <p:nvSpPr>
          <p:cNvPr name="TextBox 31" id="31"/>
          <p:cNvSpPr txBox="true"/>
          <p:nvPr/>
        </p:nvSpPr>
        <p:spPr>
          <a:xfrm rot="0">
            <a:off x="5450081" y="3900888"/>
            <a:ext cx="424491" cy="171841"/>
          </a:xfrm>
          <a:prstGeom prst="rect">
            <a:avLst/>
          </a:prstGeom>
        </p:spPr>
        <p:txBody>
          <a:bodyPr anchor="t" rtlCol="false" tIns="0" lIns="0" bIns="0" rIns="0">
            <a:spAutoFit/>
          </a:bodyPr>
          <a:lstStyle/>
          <a:p>
            <a:pPr algn="l">
              <a:lnSpc>
                <a:spcPts val="1310"/>
              </a:lnSpc>
            </a:pPr>
            <a:r>
              <a:rPr lang="en-US" sz="935" spc="1">
                <a:solidFill>
                  <a:srgbClr val="0F172A"/>
                </a:solidFill>
                <a:latin typeface="Aptos"/>
                <a:ea typeface="Aptos"/>
                <a:cs typeface="Aptos"/>
                <a:sym typeface="Aptos"/>
              </a:rPr>
              <a:t>0.04121</a:t>
            </a:r>
          </a:p>
        </p:txBody>
      </p:sp>
      <p:sp>
        <p:nvSpPr>
          <p:cNvPr name="TextBox 32" id="32"/>
          <p:cNvSpPr txBox="true"/>
          <p:nvPr/>
        </p:nvSpPr>
        <p:spPr>
          <a:xfrm rot="0">
            <a:off x="5450081" y="4329770"/>
            <a:ext cx="424491" cy="171841"/>
          </a:xfrm>
          <a:prstGeom prst="rect">
            <a:avLst/>
          </a:prstGeom>
        </p:spPr>
        <p:txBody>
          <a:bodyPr anchor="t" rtlCol="false" tIns="0" lIns="0" bIns="0" rIns="0">
            <a:spAutoFit/>
          </a:bodyPr>
          <a:lstStyle/>
          <a:p>
            <a:pPr algn="l">
              <a:lnSpc>
                <a:spcPts val="1310"/>
              </a:lnSpc>
            </a:pPr>
            <a:r>
              <a:rPr lang="en-US" sz="935" spc="1">
                <a:solidFill>
                  <a:srgbClr val="0F172A"/>
                </a:solidFill>
                <a:latin typeface="Aptos"/>
                <a:ea typeface="Aptos"/>
                <a:cs typeface="Aptos"/>
                <a:sym typeface="Aptos"/>
              </a:rPr>
              <a:t>0.02324</a:t>
            </a:r>
          </a:p>
        </p:txBody>
      </p:sp>
      <p:sp>
        <p:nvSpPr>
          <p:cNvPr name="TextBox 33" id="33"/>
          <p:cNvSpPr txBox="true"/>
          <p:nvPr/>
        </p:nvSpPr>
        <p:spPr>
          <a:xfrm rot="0">
            <a:off x="5450081" y="4758261"/>
            <a:ext cx="416719" cy="166726"/>
          </a:xfrm>
          <a:prstGeom prst="rect">
            <a:avLst/>
          </a:prstGeom>
        </p:spPr>
        <p:txBody>
          <a:bodyPr anchor="t" rtlCol="false" tIns="0" lIns="0" bIns="0" rIns="0">
            <a:spAutoFit/>
          </a:bodyPr>
          <a:lstStyle/>
          <a:p>
            <a:pPr algn="l">
              <a:lnSpc>
                <a:spcPts val="1310"/>
              </a:lnSpc>
            </a:pPr>
            <a:r>
              <a:rPr lang="en-US" sz="935" spc="1">
                <a:solidFill>
                  <a:srgbClr val="0F172A"/>
                </a:solidFill>
                <a:latin typeface="Aptos"/>
                <a:ea typeface="Aptos"/>
                <a:cs typeface="Aptos"/>
                <a:sym typeface="Aptos"/>
              </a:rPr>
              <a:t>0.02300</a:t>
            </a:r>
          </a:p>
        </p:txBody>
      </p:sp>
      <p:sp>
        <p:nvSpPr>
          <p:cNvPr name="TextBox 34" id="34"/>
          <p:cNvSpPr txBox="true"/>
          <p:nvPr/>
        </p:nvSpPr>
        <p:spPr>
          <a:xfrm rot="0">
            <a:off x="6463922" y="1771602"/>
            <a:ext cx="318040" cy="171841"/>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RMSE</a:t>
            </a:r>
          </a:p>
        </p:txBody>
      </p:sp>
      <p:sp>
        <p:nvSpPr>
          <p:cNvPr name="TextBox 35" id="35"/>
          <p:cNvSpPr txBox="true"/>
          <p:nvPr/>
        </p:nvSpPr>
        <p:spPr>
          <a:xfrm rot="0">
            <a:off x="6963156" y="2186130"/>
            <a:ext cx="424491" cy="171841"/>
          </a:xfrm>
          <a:prstGeom prst="rect">
            <a:avLst/>
          </a:prstGeom>
        </p:spPr>
        <p:txBody>
          <a:bodyPr anchor="t" rtlCol="false" tIns="0" lIns="0" bIns="0" rIns="0">
            <a:spAutoFit/>
          </a:bodyPr>
          <a:lstStyle/>
          <a:p>
            <a:pPr algn="l">
              <a:lnSpc>
                <a:spcPts val="1310"/>
              </a:lnSpc>
            </a:pPr>
            <a:r>
              <a:rPr lang="en-US" sz="935" spc="1">
                <a:solidFill>
                  <a:srgbClr val="0F172A"/>
                </a:solidFill>
                <a:latin typeface="Aptos"/>
                <a:ea typeface="Aptos"/>
                <a:cs typeface="Aptos"/>
                <a:sym typeface="Aptos"/>
              </a:rPr>
              <a:t>0.03172</a:t>
            </a:r>
          </a:p>
        </p:txBody>
      </p:sp>
      <p:sp>
        <p:nvSpPr>
          <p:cNvPr name="TextBox 36" id="36"/>
          <p:cNvSpPr txBox="true"/>
          <p:nvPr/>
        </p:nvSpPr>
        <p:spPr>
          <a:xfrm rot="0">
            <a:off x="6963156" y="2614889"/>
            <a:ext cx="424491" cy="171841"/>
          </a:xfrm>
          <a:prstGeom prst="rect">
            <a:avLst/>
          </a:prstGeom>
        </p:spPr>
        <p:txBody>
          <a:bodyPr anchor="t" rtlCol="false" tIns="0" lIns="0" bIns="0" rIns="0">
            <a:spAutoFit/>
          </a:bodyPr>
          <a:lstStyle/>
          <a:p>
            <a:pPr algn="l">
              <a:lnSpc>
                <a:spcPts val="1310"/>
              </a:lnSpc>
            </a:pPr>
            <a:r>
              <a:rPr lang="en-US" sz="935" spc="1">
                <a:solidFill>
                  <a:srgbClr val="0F172A"/>
                </a:solidFill>
                <a:latin typeface="Aptos"/>
                <a:ea typeface="Aptos"/>
                <a:cs typeface="Aptos"/>
                <a:sym typeface="Aptos"/>
              </a:rPr>
              <a:t>0.03172</a:t>
            </a:r>
          </a:p>
        </p:txBody>
      </p:sp>
      <p:sp>
        <p:nvSpPr>
          <p:cNvPr name="TextBox 37" id="37"/>
          <p:cNvSpPr txBox="true"/>
          <p:nvPr/>
        </p:nvSpPr>
        <p:spPr>
          <a:xfrm rot="0">
            <a:off x="6963156" y="3043514"/>
            <a:ext cx="424491" cy="171841"/>
          </a:xfrm>
          <a:prstGeom prst="rect">
            <a:avLst/>
          </a:prstGeom>
        </p:spPr>
        <p:txBody>
          <a:bodyPr anchor="t" rtlCol="false" tIns="0" lIns="0" bIns="0" rIns="0">
            <a:spAutoFit/>
          </a:bodyPr>
          <a:lstStyle/>
          <a:p>
            <a:pPr algn="l">
              <a:lnSpc>
                <a:spcPts val="1310"/>
              </a:lnSpc>
            </a:pPr>
            <a:r>
              <a:rPr lang="en-US" sz="935" spc="1">
                <a:solidFill>
                  <a:srgbClr val="0F172A"/>
                </a:solidFill>
                <a:latin typeface="Aptos"/>
                <a:ea typeface="Aptos"/>
                <a:cs typeface="Aptos"/>
                <a:sym typeface="Aptos"/>
              </a:rPr>
              <a:t>0.03174</a:t>
            </a:r>
          </a:p>
        </p:txBody>
      </p:sp>
      <p:sp>
        <p:nvSpPr>
          <p:cNvPr name="TextBox 38" id="38"/>
          <p:cNvSpPr txBox="true"/>
          <p:nvPr/>
        </p:nvSpPr>
        <p:spPr>
          <a:xfrm rot="0">
            <a:off x="6963156" y="3472386"/>
            <a:ext cx="424491" cy="171841"/>
          </a:xfrm>
          <a:prstGeom prst="rect">
            <a:avLst/>
          </a:prstGeom>
        </p:spPr>
        <p:txBody>
          <a:bodyPr anchor="t" rtlCol="false" tIns="0" lIns="0" bIns="0" rIns="0">
            <a:spAutoFit/>
          </a:bodyPr>
          <a:lstStyle/>
          <a:p>
            <a:pPr algn="l">
              <a:lnSpc>
                <a:spcPts val="1310"/>
              </a:lnSpc>
            </a:pPr>
            <a:r>
              <a:rPr lang="en-US" sz="935" spc="1">
                <a:solidFill>
                  <a:srgbClr val="0F172A"/>
                </a:solidFill>
                <a:latin typeface="Aptos"/>
                <a:ea typeface="Aptos"/>
                <a:cs typeface="Aptos"/>
                <a:sym typeface="Aptos"/>
              </a:rPr>
              <a:t>0.03173</a:t>
            </a:r>
          </a:p>
        </p:txBody>
      </p:sp>
      <p:sp>
        <p:nvSpPr>
          <p:cNvPr name="TextBox 39" id="39"/>
          <p:cNvSpPr txBox="true"/>
          <p:nvPr/>
        </p:nvSpPr>
        <p:spPr>
          <a:xfrm rot="0">
            <a:off x="6963156" y="3900888"/>
            <a:ext cx="424491" cy="171841"/>
          </a:xfrm>
          <a:prstGeom prst="rect">
            <a:avLst/>
          </a:prstGeom>
        </p:spPr>
        <p:txBody>
          <a:bodyPr anchor="t" rtlCol="false" tIns="0" lIns="0" bIns="0" rIns="0">
            <a:spAutoFit/>
          </a:bodyPr>
          <a:lstStyle/>
          <a:p>
            <a:pPr algn="l">
              <a:lnSpc>
                <a:spcPts val="1310"/>
              </a:lnSpc>
            </a:pPr>
            <a:r>
              <a:rPr lang="en-US" sz="935" spc="1">
                <a:solidFill>
                  <a:srgbClr val="0F172A"/>
                </a:solidFill>
                <a:latin typeface="Aptos"/>
                <a:ea typeface="Aptos"/>
                <a:cs typeface="Aptos"/>
                <a:sym typeface="Aptos"/>
              </a:rPr>
              <a:t>0.05404</a:t>
            </a:r>
          </a:p>
        </p:txBody>
      </p:sp>
      <p:sp>
        <p:nvSpPr>
          <p:cNvPr name="TextBox 40" id="40"/>
          <p:cNvSpPr txBox="true"/>
          <p:nvPr/>
        </p:nvSpPr>
        <p:spPr>
          <a:xfrm rot="0">
            <a:off x="6963156" y="4329770"/>
            <a:ext cx="424491" cy="171841"/>
          </a:xfrm>
          <a:prstGeom prst="rect">
            <a:avLst/>
          </a:prstGeom>
        </p:spPr>
        <p:txBody>
          <a:bodyPr anchor="t" rtlCol="false" tIns="0" lIns="0" bIns="0" rIns="0">
            <a:spAutoFit/>
          </a:bodyPr>
          <a:lstStyle/>
          <a:p>
            <a:pPr algn="l">
              <a:lnSpc>
                <a:spcPts val="1310"/>
              </a:lnSpc>
            </a:pPr>
            <a:r>
              <a:rPr lang="en-US" sz="935" spc="1">
                <a:solidFill>
                  <a:srgbClr val="0F172A"/>
                </a:solidFill>
                <a:latin typeface="Aptos"/>
                <a:ea typeface="Aptos"/>
                <a:cs typeface="Aptos"/>
                <a:sym typeface="Aptos"/>
              </a:rPr>
              <a:t>0.03210</a:t>
            </a:r>
          </a:p>
        </p:txBody>
      </p:sp>
      <p:sp>
        <p:nvSpPr>
          <p:cNvPr name="TextBox 41" id="41"/>
          <p:cNvSpPr txBox="true"/>
          <p:nvPr/>
        </p:nvSpPr>
        <p:spPr>
          <a:xfrm rot="0">
            <a:off x="6963156" y="4758261"/>
            <a:ext cx="416719" cy="166726"/>
          </a:xfrm>
          <a:prstGeom prst="rect">
            <a:avLst/>
          </a:prstGeom>
        </p:spPr>
        <p:txBody>
          <a:bodyPr anchor="t" rtlCol="false" tIns="0" lIns="0" bIns="0" rIns="0">
            <a:spAutoFit/>
          </a:bodyPr>
          <a:lstStyle/>
          <a:p>
            <a:pPr algn="l">
              <a:lnSpc>
                <a:spcPts val="1310"/>
              </a:lnSpc>
            </a:pPr>
            <a:r>
              <a:rPr lang="en-US" sz="935" spc="1">
                <a:solidFill>
                  <a:srgbClr val="0F172A"/>
                </a:solidFill>
                <a:latin typeface="Aptos"/>
                <a:ea typeface="Aptos"/>
                <a:cs typeface="Aptos"/>
                <a:sym typeface="Aptos"/>
              </a:rPr>
              <a:t>0.03202</a:t>
            </a:r>
          </a:p>
        </p:txBody>
      </p:sp>
      <p:sp>
        <p:nvSpPr>
          <p:cNvPr name="TextBox 42" id="42"/>
          <p:cNvSpPr txBox="true"/>
          <p:nvPr/>
        </p:nvSpPr>
        <p:spPr>
          <a:xfrm rot="0">
            <a:off x="7976873" y="1771602"/>
            <a:ext cx="140913" cy="171841"/>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R2</a:t>
            </a:r>
          </a:p>
        </p:txBody>
      </p:sp>
      <p:sp>
        <p:nvSpPr>
          <p:cNvPr name="TextBox 43" id="43"/>
          <p:cNvSpPr txBox="true"/>
          <p:nvPr/>
        </p:nvSpPr>
        <p:spPr>
          <a:xfrm rot="0">
            <a:off x="8456038" y="2186130"/>
            <a:ext cx="466468" cy="171841"/>
          </a:xfrm>
          <a:prstGeom prst="rect">
            <a:avLst/>
          </a:prstGeom>
        </p:spPr>
        <p:txBody>
          <a:bodyPr anchor="t" rtlCol="false" tIns="0" lIns="0" bIns="0" rIns="0">
            <a:spAutoFit/>
          </a:bodyPr>
          <a:lstStyle/>
          <a:p>
            <a:pPr algn="l">
              <a:lnSpc>
                <a:spcPts val="1310"/>
              </a:lnSpc>
            </a:pPr>
            <a:r>
              <a:rPr lang="en-US" sz="935" spc="1">
                <a:solidFill>
                  <a:srgbClr val="475569"/>
                </a:solidFill>
                <a:latin typeface="Aptos"/>
                <a:ea typeface="Aptos"/>
                <a:cs typeface="Aptos"/>
                <a:sym typeface="Aptos"/>
              </a:rPr>
              <a:t>-0.00317</a:t>
            </a:r>
          </a:p>
        </p:txBody>
      </p:sp>
      <p:sp>
        <p:nvSpPr>
          <p:cNvPr name="TextBox 44" id="44"/>
          <p:cNvSpPr txBox="true"/>
          <p:nvPr/>
        </p:nvSpPr>
        <p:spPr>
          <a:xfrm rot="0">
            <a:off x="8456038" y="2614889"/>
            <a:ext cx="466468" cy="171841"/>
          </a:xfrm>
          <a:prstGeom prst="rect">
            <a:avLst/>
          </a:prstGeom>
        </p:spPr>
        <p:txBody>
          <a:bodyPr anchor="t" rtlCol="false" tIns="0" lIns="0" bIns="0" rIns="0">
            <a:spAutoFit/>
          </a:bodyPr>
          <a:lstStyle/>
          <a:p>
            <a:pPr algn="l">
              <a:lnSpc>
                <a:spcPts val="1310"/>
              </a:lnSpc>
            </a:pPr>
            <a:r>
              <a:rPr lang="en-US" sz="935" spc="1">
                <a:solidFill>
                  <a:srgbClr val="475569"/>
                </a:solidFill>
                <a:latin typeface="Aptos"/>
                <a:ea typeface="Aptos"/>
                <a:cs typeface="Aptos"/>
                <a:sym typeface="Aptos"/>
              </a:rPr>
              <a:t>-0.00304</a:t>
            </a:r>
          </a:p>
        </p:txBody>
      </p:sp>
      <p:sp>
        <p:nvSpPr>
          <p:cNvPr name="TextBox 45" id="45"/>
          <p:cNvSpPr txBox="true"/>
          <p:nvPr/>
        </p:nvSpPr>
        <p:spPr>
          <a:xfrm rot="0">
            <a:off x="8456038" y="3043514"/>
            <a:ext cx="466468" cy="171841"/>
          </a:xfrm>
          <a:prstGeom prst="rect">
            <a:avLst/>
          </a:prstGeom>
        </p:spPr>
        <p:txBody>
          <a:bodyPr anchor="t" rtlCol="false" tIns="0" lIns="0" bIns="0" rIns="0">
            <a:spAutoFit/>
          </a:bodyPr>
          <a:lstStyle/>
          <a:p>
            <a:pPr algn="l">
              <a:lnSpc>
                <a:spcPts val="1310"/>
              </a:lnSpc>
            </a:pPr>
            <a:r>
              <a:rPr lang="en-US" sz="935" spc="1">
                <a:solidFill>
                  <a:srgbClr val="475569"/>
                </a:solidFill>
                <a:latin typeface="Aptos"/>
                <a:ea typeface="Aptos"/>
                <a:cs typeface="Aptos"/>
                <a:sym typeface="Aptos"/>
              </a:rPr>
              <a:t>-0.00448</a:t>
            </a:r>
          </a:p>
        </p:txBody>
      </p:sp>
      <p:sp>
        <p:nvSpPr>
          <p:cNvPr name="TextBox 46" id="46"/>
          <p:cNvSpPr txBox="true"/>
          <p:nvPr/>
        </p:nvSpPr>
        <p:spPr>
          <a:xfrm rot="0">
            <a:off x="8456038" y="3472386"/>
            <a:ext cx="466468" cy="171841"/>
          </a:xfrm>
          <a:prstGeom prst="rect">
            <a:avLst/>
          </a:prstGeom>
        </p:spPr>
        <p:txBody>
          <a:bodyPr anchor="t" rtlCol="false" tIns="0" lIns="0" bIns="0" rIns="0">
            <a:spAutoFit/>
          </a:bodyPr>
          <a:lstStyle/>
          <a:p>
            <a:pPr algn="l">
              <a:lnSpc>
                <a:spcPts val="1310"/>
              </a:lnSpc>
            </a:pPr>
            <a:r>
              <a:rPr lang="en-US" sz="935" spc="1">
                <a:solidFill>
                  <a:srgbClr val="475569"/>
                </a:solidFill>
                <a:latin typeface="Aptos"/>
                <a:ea typeface="Aptos"/>
                <a:cs typeface="Aptos"/>
                <a:sym typeface="Aptos"/>
              </a:rPr>
              <a:t>-0.00554</a:t>
            </a:r>
          </a:p>
        </p:txBody>
      </p:sp>
      <p:sp>
        <p:nvSpPr>
          <p:cNvPr name="TextBox 47" id="47"/>
          <p:cNvSpPr txBox="true"/>
          <p:nvPr/>
        </p:nvSpPr>
        <p:spPr>
          <a:xfrm rot="0">
            <a:off x="8456038" y="3900888"/>
            <a:ext cx="466468" cy="171841"/>
          </a:xfrm>
          <a:prstGeom prst="rect">
            <a:avLst/>
          </a:prstGeom>
        </p:spPr>
        <p:txBody>
          <a:bodyPr anchor="t" rtlCol="false" tIns="0" lIns="0" bIns="0" rIns="0">
            <a:spAutoFit/>
          </a:bodyPr>
          <a:lstStyle/>
          <a:p>
            <a:pPr algn="l">
              <a:lnSpc>
                <a:spcPts val="1310"/>
              </a:lnSpc>
            </a:pPr>
            <a:r>
              <a:rPr lang="en-US" sz="935" spc="1">
                <a:solidFill>
                  <a:srgbClr val="DC2626"/>
                </a:solidFill>
                <a:latin typeface="Aptos"/>
                <a:ea typeface="Aptos"/>
                <a:cs typeface="Aptos"/>
                <a:sym typeface="Aptos"/>
              </a:rPr>
              <a:t>-1.91128</a:t>
            </a:r>
          </a:p>
        </p:txBody>
      </p:sp>
      <p:sp>
        <p:nvSpPr>
          <p:cNvPr name="TextBox 48" id="48"/>
          <p:cNvSpPr txBox="true"/>
          <p:nvPr/>
        </p:nvSpPr>
        <p:spPr>
          <a:xfrm rot="0">
            <a:off x="8456038" y="4329770"/>
            <a:ext cx="466468" cy="171841"/>
          </a:xfrm>
          <a:prstGeom prst="rect">
            <a:avLst/>
          </a:prstGeom>
        </p:spPr>
        <p:txBody>
          <a:bodyPr anchor="t" rtlCol="false" tIns="0" lIns="0" bIns="0" rIns="0">
            <a:spAutoFit/>
          </a:bodyPr>
          <a:lstStyle/>
          <a:p>
            <a:pPr algn="l">
              <a:lnSpc>
                <a:spcPts val="1310"/>
              </a:lnSpc>
            </a:pPr>
            <a:r>
              <a:rPr lang="en-US" sz="935" spc="1">
                <a:solidFill>
                  <a:srgbClr val="475569"/>
                </a:solidFill>
                <a:latin typeface="Aptos"/>
                <a:ea typeface="Aptos"/>
                <a:cs typeface="Aptos"/>
                <a:sym typeface="Aptos"/>
              </a:rPr>
              <a:t>-0.02768</a:t>
            </a:r>
          </a:p>
        </p:txBody>
      </p:sp>
      <p:sp>
        <p:nvSpPr>
          <p:cNvPr name="TextBox 49" id="49"/>
          <p:cNvSpPr txBox="true"/>
          <p:nvPr/>
        </p:nvSpPr>
        <p:spPr>
          <a:xfrm rot="0">
            <a:off x="8456038" y="4758261"/>
            <a:ext cx="457319" cy="166726"/>
          </a:xfrm>
          <a:prstGeom prst="rect">
            <a:avLst/>
          </a:prstGeom>
        </p:spPr>
        <p:txBody>
          <a:bodyPr anchor="t" rtlCol="false" tIns="0" lIns="0" bIns="0" rIns="0">
            <a:spAutoFit/>
          </a:bodyPr>
          <a:lstStyle/>
          <a:p>
            <a:pPr algn="l">
              <a:lnSpc>
                <a:spcPts val="1310"/>
              </a:lnSpc>
            </a:pPr>
            <a:r>
              <a:rPr lang="en-US" sz="935" spc="1">
                <a:solidFill>
                  <a:srgbClr val="475569"/>
                </a:solidFill>
                <a:latin typeface="Aptos"/>
                <a:ea typeface="Aptos"/>
                <a:cs typeface="Aptos"/>
                <a:sym typeface="Aptos"/>
              </a:rPr>
              <a:t>-0.02303</a:t>
            </a:r>
          </a:p>
        </p:txBody>
      </p:sp>
      <p:sp>
        <p:nvSpPr>
          <p:cNvPr name="TextBox 50" id="50"/>
          <p:cNvSpPr txBox="true"/>
          <p:nvPr/>
        </p:nvSpPr>
        <p:spPr>
          <a:xfrm rot="0">
            <a:off x="9489948" y="1771602"/>
            <a:ext cx="160668" cy="171841"/>
          </a:xfrm>
          <a:prstGeom prst="rect">
            <a:avLst/>
          </a:prstGeom>
        </p:spPr>
        <p:txBody>
          <a:bodyPr anchor="t" rtlCol="false" tIns="0" lIns="0" bIns="0" rIns="0">
            <a:spAutoFit/>
          </a:bodyPr>
          <a:lstStyle/>
          <a:p>
            <a:pPr algn="l">
              <a:lnSpc>
                <a:spcPts val="1310"/>
              </a:lnSpc>
            </a:pPr>
            <a:r>
              <a:rPr lang="en-US" sz="935">
                <a:solidFill>
                  <a:srgbClr val="0F172A"/>
                </a:solidFill>
                <a:latin typeface="Aptos"/>
                <a:ea typeface="Aptos"/>
                <a:cs typeface="Aptos"/>
                <a:sym typeface="Aptos"/>
              </a:rPr>
              <a:t>DA</a:t>
            </a:r>
          </a:p>
        </p:txBody>
      </p:sp>
      <p:sp>
        <p:nvSpPr>
          <p:cNvPr name="TextBox 51" id="51"/>
          <p:cNvSpPr txBox="true"/>
          <p:nvPr/>
        </p:nvSpPr>
        <p:spPr>
          <a:xfrm rot="0">
            <a:off x="10004174" y="2186130"/>
            <a:ext cx="394792" cy="171841"/>
          </a:xfrm>
          <a:prstGeom prst="rect">
            <a:avLst/>
          </a:prstGeom>
        </p:spPr>
        <p:txBody>
          <a:bodyPr anchor="t" rtlCol="false" tIns="0" lIns="0" bIns="0" rIns="0">
            <a:spAutoFit/>
          </a:bodyPr>
          <a:lstStyle/>
          <a:p>
            <a:pPr algn="l">
              <a:lnSpc>
                <a:spcPts val="1310"/>
              </a:lnSpc>
            </a:pPr>
            <a:r>
              <a:rPr lang="en-US" sz="935" spc="1">
                <a:solidFill>
                  <a:srgbClr val="0F172A"/>
                </a:solidFill>
                <a:latin typeface="Aptos"/>
                <a:ea typeface="Aptos"/>
                <a:cs typeface="Aptos"/>
                <a:sym typeface="Aptos"/>
              </a:rPr>
              <a:t>54.08%</a:t>
            </a:r>
          </a:p>
        </p:txBody>
      </p:sp>
      <p:sp>
        <p:nvSpPr>
          <p:cNvPr name="TextBox 52" id="52"/>
          <p:cNvSpPr txBox="true"/>
          <p:nvPr/>
        </p:nvSpPr>
        <p:spPr>
          <a:xfrm rot="0">
            <a:off x="10004174" y="2614889"/>
            <a:ext cx="394792" cy="171841"/>
          </a:xfrm>
          <a:prstGeom prst="rect">
            <a:avLst/>
          </a:prstGeom>
        </p:spPr>
        <p:txBody>
          <a:bodyPr anchor="t" rtlCol="false" tIns="0" lIns="0" bIns="0" rIns="0">
            <a:spAutoFit/>
          </a:bodyPr>
          <a:lstStyle/>
          <a:p>
            <a:pPr algn="l">
              <a:lnSpc>
                <a:spcPts val="1310"/>
              </a:lnSpc>
            </a:pPr>
            <a:r>
              <a:rPr lang="en-US" sz="935" spc="1">
                <a:solidFill>
                  <a:srgbClr val="0F172A"/>
                </a:solidFill>
                <a:latin typeface="Aptos"/>
                <a:ea typeface="Aptos"/>
                <a:cs typeface="Aptos"/>
                <a:sym typeface="Aptos"/>
              </a:rPr>
              <a:t>54.59%</a:t>
            </a:r>
          </a:p>
        </p:txBody>
      </p:sp>
      <p:sp>
        <p:nvSpPr>
          <p:cNvPr name="TextBox 53" id="53"/>
          <p:cNvSpPr txBox="true"/>
          <p:nvPr/>
        </p:nvSpPr>
        <p:spPr>
          <a:xfrm rot="0">
            <a:off x="10004174" y="3043514"/>
            <a:ext cx="394792" cy="171841"/>
          </a:xfrm>
          <a:prstGeom prst="rect">
            <a:avLst/>
          </a:prstGeom>
        </p:spPr>
        <p:txBody>
          <a:bodyPr anchor="t" rtlCol="false" tIns="0" lIns="0" bIns="0" rIns="0">
            <a:spAutoFit/>
          </a:bodyPr>
          <a:lstStyle/>
          <a:p>
            <a:pPr algn="l">
              <a:lnSpc>
                <a:spcPts val="1310"/>
              </a:lnSpc>
            </a:pPr>
            <a:r>
              <a:rPr lang="en-US" sz="935" spc="1">
                <a:solidFill>
                  <a:srgbClr val="0F172A"/>
                </a:solidFill>
                <a:latin typeface="Aptos"/>
                <a:ea typeface="Aptos"/>
                <a:cs typeface="Aptos"/>
                <a:sym typeface="Aptos"/>
              </a:rPr>
              <a:t>54.49%</a:t>
            </a:r>
          </a:p>
        </p:txBody>
      </p:sp>
      <p:sp>
        <p:nvSpPr>
          <p:cNvPr name="TextBox 54" id="54"/>
          <p:cNvSpPr txBox="true"/>
          <p:nvPr/>
        </p:nvSpPr>
        <p:spPr>
          <a:xfrm rot="0">
            <a:off x="10002650" y="3472386"/>
            <a:ext cx="398183" cy="171841"/>
          </a:xfrm>
          <a:prstGeom prst="rect">
            <a:avLst/>
          </a:prstGeom>
        </p:spPr>
        <p:txBody>
          <a:bodyPr anchor="t" rtlCol="false" tIns="0" lIns="0" bIns="0" rIns="0">
            <a:spAutoFit/>
          </a:bodyPr>
          <a:lstStyle/>
          <a:p>
            <a:pPr algn="l">
              <a:lnSpc>
                <a:spcPts val="1310"/>
              </a:lnSpc>
            </a:pPr>
            <a:r>
              <a:rPr lang="en-US" sz="935" spc="0">
                <a:solidFill>
                  <a:srgbClr val="7C3AED"/>
                </a:solidFill>
                <a:latin typeface="Aptos"/>
                <a:ea typeface="Aptos"/>
                <a:cs typeface="Aptos"/>
                <a:sym typeface="Aptos"/>
              </a:rPr>
              <a:t>54.85%</a:t>
            </a:r>
          </a:p>
        </p:txBody>
      </p:sp>
      <p:sp>
        <p:nvSpPr>
          <p:cNvPr name="TextBox 55" id="55"/>
          <p:cNvSpPr txBox="true"/>
          <p:nvPr/>
        </p:nvSpPr>
        <p:spPr>
          <a:xfrm rot="0">
            <a:off x="10004174" y="3900888"/>
            <a:ext cx="394792" cy="171841"/>
          </a:xfrm>
          <a:prstGeom prst="rect">
            <a:avLst/>
          </a:prstGeom>
        </p:spPr>
        <p:txBody>
          <a:bodyPr anchor="t" rtlCol="false" tIns="0" lIns="0" bIns="0" rIns="0">
            <a:spAutoFit/>
          </a:bodyPr>
          <a:lstStyle/>
          <a:p>
            <a:pPr algn="l">
              <a:lnSpc>
                <a:spcPts val="1310"/>
              </a:lnSpc>
            </a:pPr>
            <a:r>
              <a:rPr lang="en-US" sz="935" spc="1">
                <a:solidFill>
                  <a:srgbClr val="0F172A"/>
                </a:solidFill>
                <a:latin typeface="Aptos"/>
                <a:ea typeface="Aptos"/>
                <a:cs typeface="Aptos"/>
                <a:sym typeface="Aptos"/>
              </a:rPr>
              <a:t>52.96%</a:t>
            </a:r>
          </a:p>
        </p:txBody>
      </p:sp>
      <p:sp>
        <p:nvSpPr>
          <p:cNvPr name="TextBox 56" id="56"/>
          <p:cNvSpPr txBox="true"/>
          <p:nvPr/>
        </p:nvSpPr>
        <p:spPr>
          <a:xfrm rot="0">
            <a:off x="10004174" y="4329770"/>
            <a:ext cx="394792" cy="171841"/>
          </a:xfrm>
          <a:prstGeom prst="rect">
            <a:avLst/>
          </a:prstGeom>
        </p:spPr>
        <p:txBody>
          <a:bodyPr anchor="t" rtlCol="false" tIns="0" lIns="0" bIns="0" rIns="0">
            <a:spAutoFit/>
          </a:bodyPr>
          <a:lstStyle/>
          <a:p>
            <a:pPr algn="l">
              <a:lnSpc>
                <a:spcPts val="1310"/>
              </a:lnSpc>
            </a:pPr>
            <a:r>
              <a:rPr lang="en-US" sz="935" spc="1">
                <a:solidFill>
                  <a:srgbClr val="0F172A"/>
                </a:solidFill>
                <a:latin typeface="Aptos"/>
                <a:ea typeface="Aptos"/>
                <a:cs typeface="Aptos"/>
                <a:sym typeface="Aptos"/>
              </a:rPr>
              <a:t>54.59%</a:t>
            </a:r>
          </a:p>
        </p:txBody>
      </p:sp>
      <p:sp>
        <p:nvSpPr>
          <p:cNvPr name="TextBox 57" id="57"/>
          <p:cNvSpPr txBox="true"/>
          <p:nvPr/>
        </p:nvSpPr>
        <p:spPr>
          <a:xfrm rot="0">
            <a:off x="10004174" y="4758261"/>
            <a:ext cx="387668" cy="166726"/>
          </a:xfrm>
          <a:prstGeom prst="rect">
            <a:avLst/>
          </a:prstGeom>
        </p:spPr>
        <p:txBody>
          <a:bodyPr anchor="t" rtlCol="false" tIns="0" lIns="0" bIns="0" rIns="0">
            <a:spAutoFit/>
          </a:bodyPr>
          <a:lstStyle/>
          <a:p>
            <a:pPr algn="l">
              <a:lnSpc>
                <a:spcPts val="1310"/>
              </a:lnSpc>
            </a:pPr>
            <a:r>
              <a:rPr lang="en-US" sz="935" spc="1">
                <a:solidFill>
                  <a:srgbClr val="0F172A"/>
                </a:solidFill>
                <a:latin typeface="Aptos"/>
                <a:ea typeface="Aptos"/>
                <a:cs typeface="Aptos"/>
                <a:sym typeface="Aptos"/>
              </a:rPr>
              <a:t>50.47%</a:t>
            </a:r>
          </a:p>
        </p:txBody>
      </p:sp>
      <p:sp>
        <p:nvSpPr>
          <p:cNvPr name="TextBox 58" id="58"/>
          <p:cNvSpPr txBox="true"/>
          <p:nvPr/>
        </p:nvSpPr>
        <p:spPr>
          <a:xfrm rot="0">
            <a:off x="781202" y="5334076"/>
            <a:ext cx="9370133" cy="420369"/>
          </a:xfrm>
          <a:prstGeom prst="rect">
            <a:avLst/>
          </a:prstGeom>
        </p:spPr>
        <p:txBody>
          <a:bodyPr anchor="t" rtlCol="false" tIns="0" lIns="0" bIns="0" rIns="0">
            <a:spAutoFit/>
          </a:bodyPr>
          <a:lstStyle/>
          <a:p>
            <a:pPr algn="l">
              <a:lnSpc>
                <a:spcPts val="1703"/>
              </a:lnSpc>
            </a:pPr>
            <a:r>
              <a:rPr lang="en-US" sz="1427">
                <a:solidFill>
                  <a:srgbClr val="0F172A"/>
                </a:solidFill>
                <a:latin typeface="Aptos"/>
                <a:ea typeface="Aptos"/>
                <a:cs typeface="Aptos"/>
                <a:sym typeface="Aptos"/>
              </a:rPr>
              <a:t>Interpretation: return performance between models is very close, R2 is still negative, and ensemble stacking does not automatically outperform a single model.</a:t>
            </a:r>
          </a:p>
        </p:txBody>
      </p:sp>
      <p:sp>
        <p:nvSpPr>
          <p:cNvPr name="TextBox 59" id="59"/>
          <p:cNvSpPr txBox="true"/>
          <p:nvPr/>
        </p:nvSpPr>
        <p:spPr>
          <a:xfrm rot="0">
            <a:off x="533400" y="6334506"/>
            <a:ext cx="1949148"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MachineLearningFinalBanget (1).ipynb</a:t>
            </a:r>
          </a:p>
        </p:txBody>
      </p:sp>
      <p:sp>
        <p:nvSpPr>
          <p:cNvPr name="TextBox 60" id="60"/>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11</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838200" y="425596"/>
            <a:ext cx="1503493" cy="156801"/>
          </a:xfrm>
          <a:prstGeom prst="rect">
            <a:avLst/>
          </a:prstGeom>
        </p:spPr>
        <p:txBody>
          <a:bodyPr anchor="t" rtlCol="false" tIns="0" lIns="0" bIns="0" rIns="0">
            <a:spAutoFit/>
          </a:bodyPr>
          <a:lstStyle/>
          <a:p>
            <a:pPr algn="l">
              <a:lnSpc>
                <a:spcPts val="1260"/>
              </a:lnSpc>
            </a:pPr>
            <a:r>
              <a:rPr lang="en-US" sz="900">
                <a:solidFill>
                  <a:srgbClr val="0E7490"/>
                </a:solidFill>
                <a:latin typeface="Aptos"/>
                <a:ea typeface="Aptos"/>
                <a:cs typeface="Aptos"/>
                <a:sym typeface="Aptos"/>
              </a:rPr>
              <a:t>COMPETITIVE COMPARISON</a:t>
            </a:r>
          </a:p>
        </p:txBody>
      </p:sp>
      <p:sp>
        <p:nvSpPr>
          <p:cNvPr name="TextBox 5" id="5"/>
          <p:cNvSpPr txBox="true"/>
          <p:nvPr/>
        </p:nvSpPr>
        <p:spPr>
          <a:xfrm rot="0">
            <a:off x="457200" y="1050893"/>
            <a:ext cx="3987105" cy="405765"/>
          </a:xfrm>
          <a:prstGeom prst="rect">
            <a:avLst/>
          </a:prstGeom>
        </p:spPr>
        <p:txBody>
          <a:bodyPr anchor="t" rtlCol="false" tIns="0" lIns="0" bIns="0" rIns="0">
            <a:spAutoFit/>
          </a:bodyPr>
          <a:lstStyle/>
          <a:p>
            <a:pPr algn="l">
              <a:lnSpc>
                <a:spcPts val="3359"/>
              </a:lnSpc>
            </a:pPr>
            <a:r>
              <a:rPr lang="en-US" sz="2400">
                <a:solidFill>
                  <a:srgbClr val="0F172A"/>
                </a:solidFill>
                <a:latin typeface="Aptos"/>
                <a:ea typeface="Aptos"/>
                <a:cs typeface="Aptos"/>
                <a:sym typeface="Aptos"/>
              </a:rPr>
              <a:t>C</a:t>
            </a:r>
            <a:r>
              <a:rPr lang="en-US" sz="2400">
                <a:solidFill>
                  <a:srgbClr val="0F172A"/>
                </a:solidFill>
                <a:latin typeface="Aptos"/>
                <a:ea typeface="Aptos"/>
                <a:cs typeface="Aptos"/>
                <a:sym typeface="Aptos"/>
              </a:rPr>
              <a:t>ompetitive comparison table</a:t>
            </a:r>
          </a:p>
        </p:txBody>
      </p:sp>
      <p:sp>
        <p:nvSpPr>
          <p:cNvPr name="TextBox 6" id="6"/>
          <p:cNvSpPr txBox="true"/>
          <p:nvPr/>
        </p:nvSpPr>
        <p:spPr>
          <a:xfrm rot="0">
            <a:off x="533400" y="6324981"/>
            <a:ext cx="3407470" cy="198120"/>
          </a:xfrm>
          <a:prstGeom prst="rect">
            <a:avLst/>
          </a:prstGeom>
        </p:spPr>
        <p:txBody>
          <a:bodyPr anchor="t" rtlCol="false" tIns="0" lIns="0" bIns="0" rIns="0">
            <a:spAutoFit/>
          </a:bodyPr>
          <a:lstStyle/>
          <a:p>
            <a:pPr algn="l">
              <a:lnSpc>
                <a:spcPts val="1679"/>
              </a:lnSpc>
            </a:pPr>
            <a:r>
              <a:rPr lang="en-US" sz="1200">
                <a:solidFill>
                  <a:srgbClr val="475569"/>
                </a:solidFill>
                <a:latin typeface="Aptos"/>
                <a:ea typeface="Aptos"/>
                <a:cs typeface="Aptos"/>
                <a:sym typeface="Aptos"/>
              </a:rPr>
              <a:t>Sources: Chlebus et al. 2021 CEEJ; notebook output</a:t>
            </a:r>
          </a:p>
        </p:txBody>
      </p:sp>
      <p:sp>
        <p:nvSpPr>
          <p:cNvPr name="TextBox 7" id="7"/>
          <p:cNvSpPr txBox="true"/>
          <p:nvPr/>
        </p:nvSpPr>
        <p:spPr>
          <a:xfrm rot="0">
            <a:off x="11576304" y="6324981"/>
            <a:ext cx="164703" cy="198120"/>
          </a:xfrm>
          <a:prstGeom prst="rect">
            <a:avLst/>
          </a:prstGeom>
        </p:spPr>
        <p:txBody>
          <a:bodyPr anchor="t" rtlCol="false" tIns="0" lIns="0" bIns="0" rIns="0">
            <a:spAutoFit/>
          </a:bodyPr>
          <a:lstStyle/>
          <a:p>
            <a:pPr algn="l">
              <a:lnSpc>
                <a:spcPts val="1679"/>
              </a:lnSpc>
            </a:pPr>
            <a:r>
              <a:rPr lang="en-US" sz="1200" spc="7">
                <a:solidFill>
                  <a:srgbClr val="475569"/>
                </a:solidFill>
                <a:latin typeface="Aptos"/>
                <a:ea typeface="Aptos"/>
                <a:cs typeface="Aptos"/>
                <a:sym typeface="Aptos"/>
              </a:rPr>
              <a:t>12</a:t>
            </a:r>
          </a:p>
        </p:txBody>
      </p:sp>
      <p:graphicFrame>
        <p:nvGraphicFramePr>
          <p:cNvPr name="Table 8" id="8"/>
          <p:cNvGraphicFramePr>
            <a:graphicFrameLocks noGrp="true"/>
          </p:cNvGraphicFramePr>
          <p:nvPr/>
        </p:nvGraphicFramePr>
        <p:xfrm>
          <a:off x="457200" y="1630089"/>
          <a:ext cx="11447417" cy="4436613"/>
        </p:xfrm>
        <a:graphic>
          <a:graphicData uri="http://schemas.openxmlformats.org/drawingml/2006/table">
            <a:tbl>
              <a:tblPr/>
              <a:tblGrid>
                <a:gridCol w="1216462"/>
                <a:gridCol w="3402126"/>
                <a:gridCol w="3914858"/>
                <a:gridCol w="2913971"/>
              </a:tblGrid>
              <a:tr h="554832">
                <a:tc>
                  <a:txBody>
                    <a:bodyPr anchor="t" rtlCol="false"/>
                    <a:lstStyle/>
                    <a:p>
                      <a:pPr algn="ctr">
                        <a:lnSpc>
                          <a:spcPts val="1959"/>
                        </a:lnSpc>
                        <a:defRPr/>
                      </a:pPr>
                      <a:r>
                        <a:rPr lang="en-US" sz="1399" b="true">
                          <a:solidFill>
                            <a:srgbClr val="000000"/>
                          </a:solidFill>
                          <a:latin typeface="Aptos Bold"/>
                          <a:ea typeface="Aptos Bold"/>
                          <a:cs typeface="Aptos Bold"/>
                          <a:sym typeface="Aptos Bold"/>
                        </a:rPr>
                        <a:t>Aspect</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959"/>
                        </a:lnSpc>
                        <a:defRPr/>
                      </a:pPr>
                      <a:r>
                        <a:rPr lang="en-US" sz="1399" b="true">
                          <a:solidFill>
                            <a:srgbClr val="000000"/>
                          </a:solidFill>
                          <a:latin typeface="Aptos Bold"/>
                          <a:ea typeface="Aptos Bold"/>
                          <a:cs typeface="Aptos Bold"/>
                          <a:sym typeface="Aptos Bold"/>
                        </a:rPr>
                        <a:t>CEEj 2021</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959"/>
                        </a:lnSpc>
                        <a:defRPr/>
                      </a:pPr>
                      <a:r>
                        <a:rPr lang="en-US" sz="1399" b="true">
                          <a:solidFill>
                            <a:srgbClr val="000000"/>
                          </a:solidFill>
                          <a:latin typeface="Aptos Bold"/>
                          <a:ea typeface="Aptos Bold"/>
                          <a:cs typeface="Aptos Bold"/>
                          <a:sym typeface="Aptos Bold"/>
                        </a:rPr>
                        <a:t>This Notebook</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959"/>
                        </a:lnSpc>
                        <a:defRPr/>
                      </a:pPr>
                      <a:r>
                        <a:rPr lang="en-US" sz="1399" b="true">
                          <a:solidFill>
                            <a:srgbClr val="000000"/>
                          </a:solidFill>
                          <a:latin typeface="Aptos Bold"/>
                          <a:ea typeface="Aptos Bold"/>
                          <a:cs typeface="Aptos Bold"/>
                          <a:sym typeface="Aptos Bold"/>
                        </a:rPr>
                        <a:t>Implications</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03550">
                <a:tc>
                  <a:txBody>
                    <a:bodyPr anchor="t" rtlCol="false"/>
                    <a:lstStyle/>
                    <a:p>
                      <a:pPr algn="ctr">
                        <a:lnSpc>
                          <a:spcPts val="1959"/>
                        </a:lnSpc>
                        <a:defRPr/>
                      </a:pPr>
                      <a:r>
                        <a:rPr lang="en-US" sz="1399">
                          <a:solidFill>
                            <a:srgbClr val="000000"/>
                          </a:solidFill>
                          <a:latin typeface="Aptos"/>
                          <a:ea typeface="Aptos"/>
                          <a:cs typeface="Aptos"/>
                          <a:sym typeface="Aptos"/>
                        </a:rPr>
                        <a:t>Dataset</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959"/>
                        </a:lnSpc>
                        <a:defRPr/>
                      </a:pPr>
                      <a:r>
                        <a:rPr lang="en-US" sz="1399">
                          <a:solidFill>
                            <a:srgbClr val="000000"/>
                          </a:solidFill>
                          <a:latin typeface="Aptos"/>
                          <a:ea typeface="Aptos"/>
                          <a:cs typeface="Aptos"/>
                          <a:sym typeface="Aptos"/>
                        </a:rPr>
                        <a:t>NVDA dail</a:t>
                      </a:r>
                      <a:r>
                        <a:rPr lang="en-US" sz="1399">
                          <a:solidFill>
                            <a:srgbClr val="000000"/>
                          </a:solidFill>
                          <a:latin typeface="Aptos"/>
                          <a:ea typeface="Aptos"/>
                          <a:cs typeface="Aptos"/>
                          <a:sym typeface="Aptos"/>
                        </a:rPr>
                        <a:t>y</a:t>
                      </a:r>
                      <a:r>
                        <a:rPr lang="en-US" sz="1399">
                          <a:solidFill>
                            <a:srgbClr val="000000"/>
                          </a:solidFill>
                          <a:latin typeface="Aptos"/>
                          <a:ea typeface="Aptos"/>
                          <a:cs typeface="Aptos"/>
                          <a:sym typeface="Aptos"/>
                        </a:rPr>
                        <a:t> ret</a:t>
                      </a:r>
                      <a:r>
                        <a:rPr lang="en-US" sz="1399">
                          <a:solidFill>
                            <a:srgbClr val="000000"/>
                          </a:solidFill>
                          <a:latin typeface="Aptos"/>
                          <a:ea typeface="Aptos"/>
                          <a:cs typeface="Aptos"/>
                          <a:sym typeface="Aptos"/>
                        </a:rPr>
                        <a:t>u</a:t>
                      </a:r>
                      <a:r>
                        <a:rPr lang="en-US" sz="1399">
                          <a:solidFill>
                            <a:srgbClr val="000000"/>
                          </a:solidFill>
                          <a:latin typeface="Aptos"/>
                          <a:ea typeface="Aptos"/>
                          <a:cs typeface="Aptos"/>
                          <a:sym typeface="Aptos"/>
                        </a:rPr>
                        <a:t>rns, </a:t>
                      </a:r>
                      <a:r>
                        <a:rPr lang="en-US" sz="1399">
                          <a:solidFill>
                            <a:srgbClr val="000000"/>
                          </a:solidFill>
                          <a:latin typeface="Aptos"/>
                          <a:ea typeface="Aptos"/>
                          <a:cs typeface="Aptos"/>
                          <a:sym typeface="Aptos"/>
                        </a:rPr>
                        <a:t>01/2012-12/2018;</a:t>
                      </a:r>
                      <a:r>
                        <a:rPr lang="en-US" sz="1399">
                          <a:solidFill>
                            <a:srgbClr val="000000"/>
                          </a:solidFill>
                          <a:latin typeface="Aptos"/>
                          <a:ea typeface="Aptos"/>
                          <a:cs typeface="Aptos"/>
                          <a:sym typeface="Aptos"/>
                        </a:rPr>
                        <a:t> test </a:t>
                      </a:r>
                      <a:r>
                        <a:rPr lang="en-US" sz="1399">
                          <a:solidFill>
                            <a:srgbClr val="000000"/>
                          </a:solidFill>
                          <a:latin typeface="Aptos"/>
                          <a:ea typeface="Aptos"/>
                          <a:cs typeface="Aptos"/>
                          <a:sym typeface="Aptos"/>
                        </a:rPr>
                        <a:t>07/2018-12/2018</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959"/>
                        </a:lnSpc>
                        <a:defRPr/>
                      </a:pPr>
                      <a:r>
                        <a:rPr lang="en-US" sz="1399">
                          <a:solidFill>
                            <a:srgbClr val="000000"/>
                          </a:solidFill>
                          <a:latin typeface="Aptos"/>
                          <a:ea typeface="Aptos"/>
                          <a:cs typeface="Aptos"/>
                          <a:sym typeface="Aptos"/>
                        </a:rPr>
                        <a:t>NVDA yfinance 1999-2026; 6,529 rows ready to use</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959"/>
                        </a:lnSpc>
                        <a:defRPr/>
                      </a:pPr>
                      <a:r>
                        <a:rPr lang="en-US" sz="1399">
                          <a:solidFill>
                            <a:srgbClr val="000000"/>
                          </a:solidFill>
                          <a:latin typeface="Aptos"/>
                          <a:ea typeface="Aptos"/>
                          <a:cs typeface="Aptos"/>
                          <a:sym typeface="Aptos"/>
                        </a:rPr>
                        <a:t>Notebook wins in latest time coverage</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52268">
                <a:tc>
                  <a:txBody>
                    <a:bodyPr anchor="t" rtlCol="false"/>
                    <a:lstStyle/>
                    <a:p>
                      <a:pPr algn="ctr">
                        <a:lnSpc>
                          <a:spcPts val="1959"/>
                        </a:lnSpc>
                        <a:defRPr/>
                      </a:pPr>
                      <a:r>
                        <a:rPr lang="en-US" sz="1399">
                          <a:solidFill>
                            <a:srgbClr val="000000"/>
                          </a:solidFill>
                          <a:latin typeface="Aptos"/>
                          <a:ea typeface="Aptos"/>
                          <a:cs typeface="Aptos"/>
                          <a:sym typeface="Aptos"/>
                        </a:rPr>
                        <a:t>Initial features</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959"/>
                        </a:lnSpc>
                        <a:defRPr/>
                      </a:pPr>
                      <a:r>
                        <a:rPr lang="en-US" sz="1399">
                          <a:solidFill>
                            <a:srgbClr val="000000"/>
                          </a:solidFill>
                          <a:latin typeface="Aptos"/>
                          <a:ea typeface="Aptos"/>
                          <a:cs typeface="Aptos"/>
                          <a:sym typeface="Aptos"/>
                        </a:rPr>
                        <a:t>&gt;350 independent variables: technical, fundamental, behavioural, Nvidia- market proxies</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959"/>
                        </a:lnSpc>
                        <a:defRPr/>
                      </a:pPr>
                      <a:r>
                        <a:rPr lang="en-US" sz="1399">
                          <a:solidFill>
                            <a:srgbClr val="000000"/>
                          </a:solidFill>
                          <a:latin typeface="Aptos"/>
                          <a:ea typeface="Aptos"/>
                          <a:cs typeface="Aptos"/>
                          <a:sym typeface="Aptos"/>
                        </a:rPr>
                        <a:t>71 features: technical, VIX/SMH, IV proxy, earnings,</a:t>
                      </a:r>
                      <a:endParaRPr lang="en-US" sz="1100"/>
                    </a:p>
                    <a:p>
                      <a:pPr algn="ctr">
                        <a:lnSpc>
                          <a:spcPts val="1959"/>
                        </a:lnSpc>
                      </a:pPr>
                      <a:r>
                        <a:rPr lang="en-US" sz="1399">
                          <a:solidFill>
                            <a:srgbClr val="000000"/>
                          </a:solidFill>
                          <a:latin typeface="Aptos"/>
                          <a:ea typeface="Aptos"/>
                          <a:cs typeface="Aptos"/>
                          <a:sym typeface="Aptos"/>
                        </a:rPr>
                        <a:t> lag/momentum, volume flow, relative strength</a:t>
                      </a:r>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959"/>
                        </a:lnSpc>
                        <a:defRPr/>
                      </a:pPr>
                      <a:r>
                        <a:rPr lang="en-US" sz="1399">
                          <a:solidFill>
                            <a:srgbClr val="000000"/>
                          </a:solidFill>
                          <a:latin typeface="Aptos"/>
                          <a:ea typeface="Aptos"/>
                          <a:cs typeface="Aptos"/>
                          <a:sym typeface="Aptos"/>
                        </a:rPr>
                        <a:t>CEEj is broader; notebooks are more focused and easier to replicate</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54562">
                <a:tc>
                  <a:txBody>
                    <a:bodyPr anchor="t" rtlCol="false"/>
                    <a:lstStyle/>
                    <a:p>
                      <a:pPr algn="ctr">
                        <a:lnSpc>
                          <a:spcPts val="1959"/>
                        </a:lnSpc>
                        <a:defRPr/>
                      </a:pPr>
                      <a:r>
                        <a:rPr lang="en-US" sz="1399">
                          <a:solidFill>
                            <a:srgbClr val="000000"/>
                          </a:solidFill>
                          <a:latin typeface="Aptos"/>
                          <a:ea typeface="Aptos"/>
                          <a:cs typeface="Aptos"/>
                          <a:sym typeface="Aptos"/>
                        </a:rPr>
                        <a:t>Model</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959"/>
                        </a:lnSpc>
                        <a:defRPr/>
                      </a:pPr>
                      <a:r>
                        <a:rPr lang="en-US" sz="1399">
                          <a:solidFill>
                            <a:srgbClr val="000000"/>
                          </a:solidFill>
                          <a:latin typeface="Aptos"/>
                          <a:ea typeface="Aptos"/>
                          <a:cs typeface="Aptos"/>
                          <a:sym typeface="Aptos"/>
                        </a:rPr>
                        <a:t>SVR, KNN, XGBoost, LGBM, LSTM, ARIMA/ARIMAX, ranking ensemble</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959"/>
                        </a:lnSpc>
                        <a:defRPr/>
                      </a:pPr>
                      <a:r>
                        <a:rPr lang="en-US" sz="1399">
                          <a:solidFill>
                            <a:srgbClr val="000000"/>
                          </a:solidFill>
                          <a:latin typeface="Aptos"/>
                          <a:ea typeface="Aptos"/>
                          <a:cs typeface="Aptos"/>
                          <a:sym typeface="Aptos"/>
                        </a:rPr>
                        <a:t>RF, XGBoost, LightGBM, BiLSTM-Attention, Ridge, SVR, Stacking</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959"/>
                        </a:lnSpc>
                        <a:defRPr/>
                      </a:pPr>
                      <a:r>
                        <a:rPr lang="en-US" sz="1399">
                          <a:solidFill>
                            <a:srgbClr val="000000"/>
                          </a:solidFill>
                          <a:latin typeface="Aptos"/>
                          <a:ea typeface="Aptos"/>
                          <a:cs typeface="Aptos"/>
                          <a:sym typeface="Aptos"/>
                        </a:rPr>
                        <a:t>Notebook adds BiLSTM-Attention and XAI</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71400">
                <a:tc>
                  <a:txBody>
                    <a:bodyPr anchor="t" rtlCol="false"/>
                    <a:lstStyle/>
                    <a:p>
                      <a:pPr algn="ctr">
                        <a:lnSpc>
                          <a:spcPts val="1959"/>
                        </a:lnSpc>
                        <a:defRPr/>
                      </a:pPr>
                      <a:r>
                        <a:rPr lang="en-US" sz="1399">
                          <a:solidFill>
                            <a:srgbClr val="0F172A"/>
                          </a:solidFill>
                          <a:latin typeface="Arimo"/>
                          <a:ea typeface="Arimo"/>
                          <a:cs typeface="Arimo"/>
                          <a:sym typeface="Arimo"/>
                        </a:rPr>
                        <a:t>Best result</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59"/>
                        </a:lnSpc>
                        <a:defRPr/>
                      </a:pPr>
                      <a:r>
                        <a:rPr lang="en-US" sz="1399">
                          <a:solidFill>
                            <a:srgbClr val="0F172A"/>
                          </a:solidFill>
                          <a:latin typeface="Arimo"/>
                          <a:ea typeface="Arimo"/>
                          <a:cs typeface="Arimo"/>
                          <a:sym typeface="Arimo"/>
                        </a:rPr>
                        <a:t>SVR stationary best: RMSE .036014, MAE .024916; stationary ensemble RMSE .036106</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59"/>
                        </a:lnSpc>
                        <a:defRPr/>
                      </a:pPr>
                      <a:r>
                        <a:rPr lang="en-US" sz="1399">
                          <a:solidFill>
                            <a:srgbClr val="0F172A"/>
                          </a:solidFill>
                          <a:latin typeface="Arimo"/>
                          <a:ea typeface="Arimo"/>
                          <a:cs typeface="Arimo"/>
                          <a:sym typeface="Arimo"/>
                        </a:rPr>
                        <a:t>BiLSTM DA 54.85%; XGBoost/RF RMSE .03172; LightGBM rolling price MAE $2.05</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59"/>
                        </a:lnSpc>
                        <a:defRPr/>
                      </a:pPr>
                      <a:r>
                        <a:rPr lang="en-US" sz="1399">
                          <a:solidFill>
                            <a:srgbClr val="0F172A"/>
                          </a:solidFill>
                          <a:latin typeface="Arimo"/>
                          <a:ea typeface="Arimo"/>
                          <a:cs typeface="Arimo"/>
                          <a:sym typeface="Arimo"/>
                        </a:rPr>
                        <a:t>Similar findings: ensembles don't automatically win</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355597" y="1689097"/>
            <a:ext cx="11480797" cy="1117597"/>
          </a:xfrm>
          <a:custGeom>
            <a:avLst/>
            <a:gdLst/>
            <a:ahLst/>
            <a:cxnLst/>
            <a:rect r="r" b="b" t="t" l="l"/>
            <a:pathLst>
              <a:path h="1117597" w="11480797">
                <a:moveTo>
                  <a:pt x="0" y="0"/>
                </a:moveTo>
                <a:lnTo>
                  <a:pt x="11480797" y="0"/>
                </a:lnTo>
                <a:lnTo>
                  <a:pt x="11480797" y="1117597"/>
                </a:lnTo>
                <a:lnTo>
                  <a:pt x="0" y="11175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55597" y="3146422"/>
            <a:ext cx="11480797" cy="612772"/>
          </a:xfrm>
          <a:custGeom>
            <a:avLst/>
            <a:gdLst/>
            <a:ahLst/>
            <a:cxnLst/>
            <a:rect r="r" b="b" t="t" l="l"/>
            <a:pathLst>
              <a:path h="612772" w="11480797">
                <a:moveTo>
                  <a:pt x="0" y="0"/>
                </a:moveTo>
                <a:lnTo>
                  <a:pt x="11480797" y="0"/>
                </a:lnTo>
                <a:lnTo>
                  <a:pt x="11480797" y="612772"/>
                </a:lnTo>
                <a:lnTo>
                  <a:pt x="0" y="6127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55597" y="4098922"/>
            <a:ext cx="11480797" cy="612772"/>
          </a:xfrm>
          <a:custGeom>
            <a:avLst/>
            <a:gdLst/>
            <a:ahLst/>
            <a:cxnLst/>
            <a:rect r="r" b="b" t="t" l="l"/>
            <a:pathLst>
              <a:path h="612772" w="11480797">
                <a:moveTo>
                  <a:pt x="0" y="0"/>
                </a:moveTo>
                <a:lnTo>
                  <a:pt x="11480797" y="0"/>
                </a:lnTo>
                <a:lnTo>
                  <a:pt x="11480797" y="612772"/>
                </a:lnTo>
                <a:lnTo>
                  <a:pt x="0" y="6127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838200" y="425596"/>
            <a:ext cx="1077020" cy="156801"/>
          </a:xfrm>
          <a:prstGeom prst="rect">
            <a:avLst/>
          </a:prstGeom>
        </p:spPr>
        <p:txBody>
          <a:bodyPr anchor="t" rtlCol="false" tIns="0" lIns="0" bIns="0" rIns="0">
            <a:spAutoFit/>
          </a:bodyPr>
          <a:lstStyle/>
          <a:p>
            <a:pPr algn="l">
              <a:lnSpc>
                <a:spcPts val="1260"/>
              </a:lnSpc>
            </a:pPr>
            <a:r>
              <a:rPr lang="en-US" sz="900">
                <a:solidFill>
                  <a:srgbClr val="0E7490"/>
                </a:solidFill>
                <a:latin typeface="Aptos"/>
                <a:ea typeface="Aptos"/>
                <a:cs typeface="Aptos"/>
                <a:sym typeface="Aptos"/>
              </a:rPr>
              <a:t>COMPETITIVE TABLE</a:t>
            </a:r>
          </a:p>
        </p:txBody>
      </p:sp>
      <p:sp>
        <p:nvSpPr>
          <p:cNvPr name="TextBox 8" id="8"/>
          <p:cNvSpPr txBox="true"/>
          <p:nvPr/>
        </p:nvSpPr>
        <p:spPr>
          <a:xfrm rot="0">
            <a:off x="533400" y="693639"/>
            <a:ext cx="10226873" cy="824865"/>
          </a:xfrm>
          <a:prstGeom prst="rect">
            <a:avLst/>
          </a:prstGeom>
        </p:spPr>
        <p:txBody>
          <a:bodyPr anchor="t" rtlCol="false" tIns="0" lIns="0" bIns="0" rIns="0">
            <a:spAutoFit/>
          </a:bodyPr>
          <a:lstStyle/>
          <a:p>
            <a:pPr algn="l">
              <a:lnSpc>
                <a:spcPts val="3359"/>
              </a:lnSpc>
            </a:pPr>
            <a:r>
              <a:rPr lang="en-US" sz="2400">
                <a:solidFill>
                  <a:srgbClr val="0F172A"/>
                </a:solidFill>
                <a:latin typeface="Aptos"/>
                <a:ea typeface="Aptos"/>
                <a:cs typeface="Aptos"/>
                <a:sym typeface="Aptos"/>
              </a:rPr>
              <a:t>Selec</a:t>
            </a:r>
            <a:r>
              <a:rPr lang="en-US" sz="2400">
                <a:solidFill>
                  <a:srgbClr val="0F172A"/>
                </a:solidFill>
                <a:latin typeface="Aptos"/>
                <a:ea typeface="Aptos"/>
                <a:cs typeface="Aptos"/>
                <a:sym typeface="Aptos"/>
              </a:rPr>
              <a:t>ted features and metrics indicate a competitive notebook, but not apple-</a:t>
            </a:r>
          </a:p>
          <a:p>
            <a:pPr algn="l">
              <a:lnSpc>
                <a:spcPts val="3359"/>
              </a:lnSpc>
            </a:pPr>
          </a:p>
        </p:txBody>
      </p:sp>
      <p:sp>
        <p:nvSpPr>
          <p:cNvPr name="TextBox 9" id="9"/>
          <p:cNvSpPr txBox="true"/>
          <p:nvPr/>
        </p:nvSpPr>
        <p:spPr>
          <a:xfrm rot="0">
            <a:off x="1632928" y="1059113"/>
            <a:ext cx="60065" cy="415328"/>
          </a:xfrm>
          <a:prstGeom prst="rect">
            <a:avLst/>
          </a:prstGeom>
        </p:spPr>
        <p:txBody>
          <a:bodyPr anchor="t" rtlCol="false" tIns="0" lIns="0" bIns="0" rIns="0">
            <a:spAutoFit/>
          </a:bodyPr>
          <a:lstStyle/>
          <a:p>
            <a:pPr algn="l">
              <a:lnSpc>
                <a:spcPts val="3363"/>
              </a:lnSpc>
            </a:pPr>
            <a:r>
              <a:rPr lang="en-US" sz="2402">
                <a:solidFill>
                  <a:srgbClr val="0F172A"/>
                </a:solidFill>
                <a:latin typeface="Aptos"/>
                <a:ea typeface="Aptos"/>
                <a:cs typeface="Aptos"/>
                <a:sym typeface="Aptos"/>
              </a:rPr>
              <a:t> </a:t>
            </a:r>
          </a:p>
        </p:txBody>
      </p:sp>
      <p:sp>
        <p:nvSpPr>
          <p:cNvPr name="TextBox 10" id="10"/>
          <p:cNvSpPr txBox="true"/>
          <p:nvPr/>
        </p:nvSpPr>
        <p:spPr>
          <a:xfrm rot="0">
            <a:off x="564189" y="1059113"/>
            <a:ext cx="2506532" cy="401359"/>
          </a:xfrm>
          <a:prstGeom prst="rect">
            <a:avLst/>
          </a:prstGeom>
        </p:spPr>
        <p:txBody>
          <a:bodyPr anchor="t" rtlCol="false" tIns="0" lIns="0" bIns="0" rIns="0">
            <a:spAutoFit/>
          </a:bodyPr>
          <a:lstStyle/>
          <a:p>
            <a:pPr algn="l">
              <a:lnSpc>
                <a:spcPts val="3322"/>
              </a:lnSpc>
            </a:pPr>
            <a:r>
              <a:rPr lang="en-US" sz="2373">
                <a:solidFill>
                  <a:srgbClr val="0F172A"/>
                </a:solidFill>
                <a:latin typeface="Aptos"/>
                <a:ea typeface="Aptos"/>
                <a:cs typeface="Aptos"/>
                <a:sym typeface="Aptos"/>
              </a:rPr>
              <a:t>to-apple with CEEJ.</a:t>
            </a:r>
          </a:p>
        </p:txBody>
      </p:sp>
      <p:sp>
        <p:nvSpPr>
          <p:cNvPr name="TextBox 11" id="11"/>
          <p:cNvSpPr txBox="true"/>
          <p:nvPr/>
        </p:nvSpPr>
        <p:spPr>
          <a:xfrm rot="0">
            <a:off x="1035348" y="1542688"/>
            <a:ext cx="25556" cy="167821"/>
          </a:xfrm>
          <a:prstGeom prst="rect">
            <a:avLst/>
          </a:prstGeom>
        </p:spPr>
        <p:txBody>
          <a:bodyPr anchor="t" rtlCol="false" tIns="0" lIns="0" bIns="0" rIns="0">
            <a:spAutoFit/>
          </a:bodyPr>
          <a:lstStyle/>
          <a:p>
            <a:pPr algn="l">
              <a:lnSpc>
                <a:spcPts val="1360"/>
              </a:lnSpc>
            </a:pPr>
            <a:r>
              <a:rPr lang="en-US" sz="972">
                <a:solidFill>
                  <a:srgbClr val="475569"/>
                </a:solidFill>
                <a:latin typeface="Aptos"/>
                <a:ea typeface="Aptos"/>
                <a:cs typeface="Aptos"/>
                <a:sym typeface="Aptos"/>
              </a:rPr>
              <a:t> </a:t>
            </a:r>
          </a:p>
        </p:txBody>
      </p:sp>
      <p:sp>
        <p:nvSpPr>
          <p:cNvPr name="TextBox 12" id="12"/>
          <p:cNvSpPr txBox="true"/>
          <p:nvPr/>
        </p:nvSpPr>
        <p:spPr>
          <a:xfrm rot="0">
            <a:off x="590702" y="1542688"/>
            <a:ext cx="6507659" cy="165811"/>
          </a:xfrm>
          <a:prstGeom prst="rect">
            <a:avLst/>
          </a:prstGeom>
        </p:spPr>
        <p:txBody>
          <a:bodyPr anchor="t" rtlCol="false" tIns="0" lIns="0" bIns="0" rIns="0">
            <a:spAutoFit/>
          </a:bodyPr>
          <a:lstStyle/>
          <a:p>
            <a:pPr algn="l">
              <a:lnSpc>
                <a:spcPts val="1360"/>
              </a:lnSpc>
            </a:pPr>
            <a:r>
              <a:rPr lang="en-US" sz="972">
                <a:solidFill>
                  <a:srgbClr val="475569"/>
                </a:solidFill>
                <a:latin typeface="Aptos"/>
                <a:ea typeface="Aptos"/>
                <a:cs typeface="Aptos"/>
                <a:sym typeface="Aptos"/>
              </a:rPr>
              <a:t>Initial d</a:t>
            </a:r>
            <a:r>
              <a:rPr lang="en-US" sz="972">
                <a:solidFill>
                  <a:srgbClr val="475569"/>
                </a:solidFill>
                <a:latin typeface="Aptos"/>
                <a:ea typeface="Aptos"/>
                <a:cs typeface="Aptos"/>
                <a:sym typeface="Aptos"/>
              </a:rPr>
              <a:t>ataset&amp;features: CEEJ uses NVDA2012-2018 with &gt;350 variables; notebook uses NVDA 1999-2026 with 71 features.</a:t>
            </a:r>
          </a:p>
        </p:txBody>
      </p:sp>
      <p:sp>
        <p:nvSpPr>
          <p:cNvPr name="TextBox 13" id="13"/>
          <p:cNvSpPr txBox="true"/>
          <p:nvPr/>
        </p:nvSpPr>
        <p:spPr>
          <a:xfrm rot="0">
            <a:off x="685800" y="5563048"/>
            <a:ext cx="7868984" cy="167821"/>
          </a:xfrm>
          <a:prstGeom prst="rect">
            <a:avLst/>
          </a:prstGeom>
        </p:spPr>
        <p:txBody>
          <a:bodyPr anchor="t" rtlCol="false" tIns="0" lIns="0" bIns="0" rIns="0">
            <a:spAutoFit/>
          </a:bodyPr>
          <a:lstStyle/>
          <a:p>
            <a:pPr algn="l">
              <a:lnSpc>
                <a:spcPts val="1360"/>
              </a:lnSpc>
            </a:pPr>
            <a:r>
              <a:rPr lang="en-US" sz="972" spc="1">
                <a:solidFill>
                  <a:srgbClr val="475569"/>
                </a:solidFill>
                <a:latin typeface="Aptos"/>
                <a:ea typeface="Aptos"/>
                <a:cs typeface="Aptos"/>
                <a:sym typeface="Aptos"/>
              </a:rPr>
              <a:t>Catatan: CEEJ memakai RMSE/MAE/MedAE return; notebook menambah R2, DA, dan rolling price metrics. Periode data dan split berbeda.</a:t>
            </a:r>
          </a:p>
        </p:txBody>
      </p:sp>
      <p:sp>
        <p:nvSpPr>
          <p:cNvPr name="TextBox 14" id="14"/>
          <p:cNvSpPr txBox="true"/>
          <p:nvPr/>
        </p:nvSpPr>
        <p:spPr>
          <a:xfrm rot="0">
            <a:off x="523951" y="1916497"/>
            <a:ext cx="389235" cy="124282"/>
          </a:xfrm>
          <a:prstGeom prst="rect">
            <a:avLst/>
          </a:prstGeom>
        </p:spPr>
        <p:txBody>
          <a:bodyPr anchor="t" rtlCol="false" tIns="0" lIns="0" bIns="0" rIns="0">
            <a:spAutoFit/>
          </a:bodyPr>
          <a:lstStyle/>
          <a:p>
            <a:pPr algn="l">
              <a:lnSpc>
                <a:spcPts val="1024"/>
              </a:lnSpc>
            </a:pPr>
            <a:r>
              <a:rPr lang="en-US" sz="732">
                <a:solidFill>
                  <a:srgbClr val="0F172A"/>
                </a:solidFill>
                <a:latin typeface="Aptos"/>
                <a:ea typeface="Aptos"/>
                <a:cs typeface="Aptos"/>
                <a:sym typeface="Aptos"/>
              </a:rPr>
              <a:t>Algorithm</a:t>
            </a:r>
          </a:p>
        </p:txBody>
      </p:sp>
      <p:sp>
        <p:nvSpPr>
          <p:cNvPr name="TextBox 15" id="15"/>
          <p:cNvSpPr txBox="true"/>
          <p:nvPr/>
        </p:nvSpPr>
        <p:spPr>
          <a:xfrm rot="0">
            <a:off x="1942214" y="1916497"/>
            <a:ext cx="914797" cy="124282"/>
          </a:xfrm>
          <a:prstGeom prst="rect">
            <a:avLst/>
          </a:prstGeom>
        </p:spPr>
        <p:txBody>
          <a:bodyPr anchor="t" rtlCol="false" tIns="0" lIns="0" bIns="0" rIns="0">
            <a:spAutoFit/>
          </a:bodyPr>
          <a:lstStyle/>
          <a:p>
            <a:pPr algn="l">
              <a:lnSpc>
                <a:spcPts val="1024"/>
              </a:lnSpc>
            </a:pPr>
            <a:r>
              <a:rPr lang="en-US" sz="732" spc="2">
                <a:solidFill>
                  <a:srgbClr val="0F172A"/>
                </a:solidFill>
                <a:latin typeface="Aptos"/>
                <a:ea typeface="Aptos"/>
                <a:cs typeface="Aptos"/>
                <a:sym typeface="Aptos"/>
              </a:rPr>
              <a:t>CEEj selected features</a:t>
            </a:r>
          </a:p>
        </p:txBody>
      </p:sp>
      <p:sp>
        <p:nvSpPr>
          <p:cNvPr name="TextBox 16" id="16"/>
          <p:cNvSpPr txBox="true"/>
          <p:nvPr/>
        </p:nvSpPr>
        <p:spPr>
          <a:xfrm rot="0">
            <a:off x="4043172" y="1916497"/>
            <a:ext cx="745217" cy="131093"/>
          </a:xfrm>
          <a:prstGeom prst="rect">
            <a:avLst/>
          </a:prstGeom>
        </p:spPr>
        <p:txBody>
          <a:bodyPr anchor="t" rtlCol="false" tIns="0" lIns="0" bIns="0" rIns="0">
            <a:spAutoFit/>
          </a:bodyPr>
          <a:lstStyle/>
          <a:p>
            <a:pPr algn="l">
              <a:lnSpc>
                <a:spcPts val="1024"/>
              </a:lnSpc>
            </a:pPr>
            <a:r>
              <a:rPr lang="en-US" sz="732" spc="2">
                <a:solidFill>
                  <a:srgbClr val="0F172A"/>
                </a:solidFill>
                <a:latin typeface="Aptos"/>
                <a:ea typeface="Aptos"/>
                <a:cs typeface="Aptos"/>
                <a:sym typeface="Aptos"/>
              </a:rPr>
              <a:t>CEEj test metrics</a:t>
            </a:r>
          </a:p>
        </p:txBody>
      </p:sp>
      <p:sp>
        <p:nvSpPr>
          <p:cNvPr name="TextBox 17" id="17"/>
          <p:cNvSpPr txBox="true"/>
          <p:nvPr/>
        </p:nvSpPr>
        <p:spPr>
          <a:xfrm rot="0">
            <a:off x="6512052" y="1916497"/>
            <a:ext cx="1112540" cy="124282"/>
          </a:xfrm>
          <a:prstGeom prst="rect">
            <a:avLst/>
          </a:prstGeom>
        </p:spPr>
        <p:txBody>
          <a:bodyPr anchor="t" rtlCol="false" tIns="0" lIns="0" bIns="0" rIns="0">
            <a:spAutoFit/>
          </a:bodyPr>
          <a:lstStyle/>
          <a:p>
            <a:pPr algn="l">
              <a:lnSpc>
                <a:spcPts val="1024"/>
              </a:lnSpc>
            </a:pPr>
            <a:r>
              <a:rPr lang="en-US" sz="732" spc="1">
                <a:solidFill>
                  <a:srgbClr val="0F172A"/>
                </a:solidFill>
                <a:latin typeface="Aptos"/>
                <a:ea typeface="Aptos"/>
                <a:cs typeface="Aptos"/>
                <a:sym typeface="Aptos"/>
              </a:rPr>
              <a:t>Selec</a:t>
            </a:r>
            <a:r>
              <a:rPr lang="en-US" sz="732" spc="1">
                <a:solidFill>
                  <a:srgbClr val="0F172A"/>
                </a:solidFill>
                <a:latin typeface="Aptos"/>
                <a:ea typeface="Aptos"/>
                <a:cs typeface="Aptos"/>
                <a:sym typeface="Aptos"/>
              </a:rPr>
              <a:t>ted feature notebooks</a:t>
            </a:r>
          </a:p>
        </p:txBody>
      </p:sp>
      <p:sp>
        <p:nvSpPr>
          <p:cNvPr name="TextBox 18" id="18"/>
          <p:cNvSpPr txBox="true"/>
          <p:nvPr/>
        </p:nvSpPr>
        <p:spPr>
          <a:xfrm rot="0">
            <a:off x="9086088" y="1916497"/>
            <a:ext cx="965492" cy="131093"/>
          </a:xfrm>
          <a:prstGeom prst="rect">
            <a:avLst/>
          </a:prstGeom>
        </p:spPr>
        <p:txBody>
          <a:bodyPr anchor="t" rtlCol="false" tIns="0" lIns="0" bIns="0" rIns="0">
            <a:spAutoFit/>
          </a:bodyPr>
          <a:lstStyle/>
          <a:p>
            <a:pPr algn="l">
              <a:lnSpc>
                <a:spcPts val="1024"/>
              </a:lnSpc>
            </a:pPr>
            <a:r>
              <a:rPr lang="en-US" sz="732" spc="0">
                <a:solidFill>
                  <a:srgbClr val="0F172A"/>
                </a:solidFill>
                <a:latin typeface="Aptos"/>
                <a:ea typeface="Aptos"/>
                <a:cs typeface="Aptos"/>
                <a:sym typeface="Aptos"/>
              </a:rPr>
              <a:t>Notebook test metrics</a:t>
            </a:r>
          </a:p>
        </p:txBody>
      </p:sp>
      <p:sp>
        <p:nvSpPr>
          <p:cNvPr name="TextBox 19" id="19"/>
          <p:cNvSpPr txBox="true"/>
          <p:nvPr/>
        </p:nvSpPr>
        <p:spPr>
          <a:xfrm rot="0">
            <a:off x="523951" y="2381002"/>
            <a:ext cx="167335" cy="125578"/>
          </a:xfrm>
          <a:prstGeom prst="rect">
            <a:avLst/>
          </a:prstGeom>
        </p:spPr>
        <p:txBody>
          <a:bodyPr anchor="t" rtlCol="false" tIns="0" lIns="0" bIns="0" rIns="0">
            <a:spAutoFit/>
          </a:bodyPr>
          <a:lstStyle/>
          <a:p>
            <a:pPr algn="l">
              <a:lnSpc>
                <a:spcPts val="974"/>
              </a:lnSpc>
            </a:pPr>
            <a:r>
              <a:rPr lang="en-US" sz="696" spc="2">
                <a:solidFill>
                  <a:srgbClr val="0F172A"/>
                </a:solidFill>
                <a:latin typeface="Aptos"/>
                <a:ea typeface="Aptos"/>
                <a:cs typeface="Aptos"/>
                <a:sym typeface="Aptos"/>
              </a:rPr>
              <a:t>SVR</a:t>
            </a:r>
          </a:p>
        </p:txBody>
      </p:sp>
      <p:sp>
        <p:nvSpPr>
          <p:cNvPr name="TextBox 20" id="20"/>
          <p:cNvSpPr txBox="true"/>
          <p:nvPr/>
        </p:nvSpPr>
        <p:spPr>
          <a:xfrm rot="0">
            <a:off x="523951" y="3333760"/>
            <a:ext cx="398145" cy="125578"/>
          </a:xfrm>
          <a:prstGeom prst="rect">
            <a:avLst/>
          </a:prstGeom>
        </p:spPr>
        <p:txBody>
          <a:bodyPr anchor="t" rtlCol="false" tIns="0" lIns="0" bIns="0" rIns="0">
            <a:spAutoFit/>
          </a:bodyPr>
          <a:lstStyle/>
          <a:p>
            <a:pPr algn="l">
              <a:lnSpc>
                <a:spcPts val="974"/>
              </a:lnSpc>
            </a:pPr>
            <a:r>
              <a:rPr lang="en-US" sz="696" spc="3">
                <a:solidFill>
                  <a:srgbClr val="0F172A"/>
                </a:solidFill>
                <a:latin typeface="Aptos"/>
                <a:ea typeface="Aptos"/>
                <a:cs typeface="Aptos"/>
                <a:sym typeface="Aptos"/>
              </a:rPr>
              <a:t>LightGBM</a:t>
            </a:r>
          </a:p>
        </p:txBody>
      </p:sp>
      <p:sp>
        <p:nvSpPr>
          <p:cNvPr name="TextBox 21" id="21"/>
          <p:cNvSpPr txBox="true"/>
          <p:nvPr/>
        </p:nvSpPr>
        <p:spPr>
          <a:xfrm rot="0">
            <a:off x="523951" y="2857386"/>
            <a:ext cx="356578" cy="125578"/>
          </a:xfrm>
          <a:prstGeom prst="rect">
            <a:avLst/>
          </a:prstGeom>
        </p:spPr>
        <p:txBody>
          <a:bodyPr anchor="t" rtlCol="false" tIns="0" lIns="0" bIns="0" rIns="0">
            <a:spAutoFit/>
          </a:bodyPr>
          <a:lstStyle/>
          <a:p>
            <a:pPr algn="l">
              <a:lnSpc>
                <a:spcPts val="974"/>
              </a:lnSpc>
            </a:pPr>
            <a:r>
              <a:rPr lang="en-US" sz="696">
                <a:solidFill>
                  <a:srgbClr val="0F172A"/>
                </a:solidFill>
                <a:latin typeface="Aptos"/>
                <a:ea typeface="Aptos"/>
                <a:cs typeface="Aptos"/>
                <a:sym typeface="Aptos"/>
              </a:rPr>
              <a:t>XGBoost</a:t>
            </a:r>
          </a:p>
        </p:txBody>
      </p:sp>
      <p:sp>
        <p:nvSpPr>
          <p:cNvPr name="TextBox 22" id="22"/>
          <p:cNvSpPr txBox="true"/>
          <p:nvPr/>
        </p:nvSpPr>
        <p:spPr>
          <a:xfrm rot="0">
            <a:off x="523951" y="4286260"/>
            <a:ext cx="410861" cy="125578"/>
          </a:xfrm>
          <a:prstGeom prst="rect">
            <a:avLst/>
          </a:prstGeom>
        </p:spPr>
        <p:txBody>
          <a:bodyPr anchor="t" rtlCol="false" tIns="0" lIns="0" bIns="0" rIns="0">
            <a:spAutoFit/>
          </a:bodyPr>
          <a:lstStyle/>
          <a:p>
            <a:pPr algn="l">
              <a:lnSpc>
                <a:spcPts val="974"/>
              </a:lnSpc>
            </a:pPr>
            <a:r>
              <a:rPr lang="en-US" sz="696" spc="0">
                <a:solidFill>
                  <a:srgbClr val="0F172A"/>
                </a:solidFill>
                <a:latin typeface="Aptos"/>
                <a:ea typeface="Aptos"/>
                <a:cs typeface="Aptos"/>
                <a:sym typeface="Aptos"/>
              </a:rPr>
              <a:t>Ensemble</a:t>
            </a:r>
          </a:p>
        </p:txBody>
      </p:sp>
      <p:sp>
        <p:nvSpPr>
          <p:cNvPr name="TextBox 23" id="23"/>
          <p:cNvSpPr txBox="true"/>
          <p:nvPr/>
        </p:nvSpPr>
        <p:spPr>
          <a:xfrm rot="0">
            <a:off x="1942214" y="2381002"/>
            <a:ext cx="878700" cy="125578"/>
          </a:xfrm>
          <a:prstGeom prst="rect">
            <a:avLst/>
          </a:prstGeom>
        </p:spPr>
        <p:txBody>
          <a:bodyPr anchor="t" rtlCol="false" tIns="0" lIns="0" bIns="0" rIns="0">
            <a:spAutoFit/>
          </a:bodyPr>
          <a:lstStyle/>
          <a:p>
            <a:pPr algn="l">
              <a:lnSpc>
                <a:spcPts val="974"/>
              </a:lnSpc>
            </a:pPr>
            <a:r>
              <a:rPr lang="en-US" sz="696" spc="0">
                <a:solidFill>
                  <a:srgbClr val="0F172A"/>
                </a:solidFill>
                <a:latin typeface="Aptos"/>
                <a:ea typeface="Aptos"/>
                <a:cs typeface="Aptos"/>
                <a:sym typeface="Aptos"/>
              </a:rPr>
              <a:t>20 stationary; 27 S+NS</a:t>
            </a:r>
          </a:p>
        </p:txBody>
      </p:sp>
      <p:sp>
        <p:nvSpPr>
          <p:cNvPr name="TextBox 24" id="24"/>
          <p:cNvSpPr txBox="true"/>
          <p:nvPr/>
        </p:nvSpPr>
        <p:spPr>
          <a:xfrm rot="0">
            <a:off x="1942214" y="2857386"/>
            <a:ext cx="878700" cy="125578"/>
          </a:xfrm>
          <a:prstGeom prst="rect">
            <a:avLst/>
          </a:prstGeom>
        </p:spPr>
        <p:txBody>
          <a:bodyPr anchor="t" rtlCol="false" tIns="0" lIns="0" bIns="0" rIns="0">
            <a:spAutoFit/>
          </a:bodyPr>
          <a:lstStyle/>
          <a:p>
            <a:pPr algn="l">
              <a:lnSpc>
                <a:spcPts val="974"/>
              </a:lnSpc>
            </a:pPr>
            <a:r>
              <a:rPr lang="en-US" sz="696" spc="0">
                <a:solidFill>
                  <a:srgbClr val="0F172A"/>
                </a:solidFill>
                <a:latin typeface="Aptos"/>
                <a:ea typeface="Aptos"/>
                <a:cs typeface="Aptos"/>
                <a:sym typeface="Aptos"/>
              </a:rPr>
              <a:t>27 stationary; 74 S+NS</a:t>
            </a:r>
          </a:p>
        </p:txBody>
      </p:sp>
      <p:sp>
        <p:nvSpPr>
          <p:cNvPr name="TextBox 25" id="25"/>
          <p:cNvSpPr txBox="true"/>
          <p:nvPr/>
        </p:nvSpPr>
        <p:spPr>
          <a:xfrm rot="0">
            <a:off x="1942214" y="3333760"/>
            <a:ext cx="878700" cy="125578"/>
          </a:xfrm>
          <a:prstGeom prst="rect">
            <a:avLst/>
          </a:prstGeom>
        </p:spPr>
        <p:txBody>
          <a:bodyPr anchor="t" rtlCol="false" tIns="0" lIns="0" bIns="0" rIns="0">
            <a:spAutoFit/>
          </a:bodyPr>
          <a:lstStyle/>
          <a:p>
            <a:pPr algn="l">
              <a:lnSpc>
                <a:spcPts val="974"/>
              </a:lnSpc>
            </a:pPr>
            <a:r>
              <a:rPr lang="en-US" sz="696" spc="0">
                <a:solidFill>
                  <a:srgbClr val="0F172A"/>
                </a:solidFill>
                <a:latin typeface="Aptos"/>
                <a:ea typeface="Aptos"/>
                <a:cs typeface="Aptos"/>
                <a:sym typeface="Aptos"/>
              </a:rPr>
              <a:t>43 stationary; 80 S+NS</a:t>
            </a:r>
          </a:p>
        </p:txBody>
      </p:sp>
      <p:sp>
        <p:nvSpPr>
          <p:cNvPr name="TextBox 26" id="26"/>
          <p:cNvSpPr txBox="true"/>
          <p:nvPr/>
        </p:nvSpPr>
        <p:spPr>
          <a:xfrm rot="0">
            <a:off x="1942214" y="4286260"/>
            <a:ext cx="1142619" cy="125578"/>
          </a:xfrm>
          <a:prstGeom prst="rect">
            <a:avLst/>
          </a:prstGeom>
        </p:spPr>
        <p:txBody>
          <a:bodyPr anchor="t" rtlCol="false" tIns="0" lIns="0" bIns="0" rIns="0">
            <a:spAutoFit/>
          </a:bodyPr>
          <a:lstStyle/>
          <a:p>
            <a:pPr algn="l">
              <a:lnSpc>
                <a:spcPts val="974"/>
              </a:lnSpc>
            </a:pPr>
            <a:r>
              <a:rPr lang="en-US" sz="696" spc="0">
                <a:solidFill>
                  <a:srgbClr val="0F172A"/>
                </a:solidFill>
                <a:latin typeface="Aptos"/>
                <a:ea typeface="Aptos"/>
                <a:cs typeface="Aptos"/>
                <a:sym typeface="Aptos"/>
              </a:rPr>
              <a:t>5-model stationary ensemble</a:t>
            </a:r>
          </a:p>
        </p:txBody>
      </p:sp>
      <p:sp>
        <p:nvSpPr>
          <p:cNvPr name="TextBox 27" id="27"/>
          <p:cNvSpPr txBox="true"/>
          <p:nvPr/>
        </p:nvSpPr>
        <p:spPr>
          <a:xfrm rot="0">
            <a:off x="4043172" y="4286260"/>
            <a:ext cx="1797063" cy="125578"/>
          </a:xfrm>
          <a:prstGeom prst="rect">
            <a:avLst/>
          </a:prstGeom>
        </p:spPr>
        <p:txBody>
          <a:bodyPr anchor="t" rtlCol="false" tIns="0" lIns="0" bIns="0" rIns="0">
            <a:spAutoFit/>
          </a:bodyPr>
          <a:lstStyle/>
          <a:p>
            <a:pPr algn="l">
              <a:lnSpc>
                <a:spcPts val="974"/>
              </a:lnSpc>
            </a:pPr>
            <a:r>
              <a:rPr lang="en-US" sz="696" spc="0">
                <a:solidFill>
                  <a:srgbClr val="0F172A"/>
                </a:solidFill>
                <a:latin typeface="Aptos"/>
                <a:ea typeface="Aptos"/>
                <a:cs typeface="Aptos"/>
                <a:sym typeface="Aptos"/>
              </a:rPr>
              <a:t>RMSE .036106 | MAE .024094 | MedAE .015307</a:t>
            </a:r>
          </a:p>
        </p:txBody>
      </p:sp>
      <p:sp>
        <p:nvSpPr>
          <p:cNvPr name="TextBox 28" id="28"/>
          <p:cNvSpPr txBox="true"/>
          <p:nvPr/>
        </p:nvSpPr>
        <p:spPr>
          <a:xfrm rot="0">
            <a:off x="4043172" y="2381002"/>
            <a:ext cx="1893446" cy="125578"/>
          </a:xfrm>
          <a:prstGeom prst="rect">
            <a:avLst/>
          </a:prstGeom>
        </p:spPr>
        <p:txBody>
          <a:bodyPr anchor="t" rtlCol="false" tIns="0" lIns="0" bIns="0" rIns="0">
            <a:spAutoFit/>
          </a:bodyPr>
          <a:lstStyle/>
          <a:p>
            <a:pPr algn="l">
              <a:lnSpc>
                <a:spcPts val="974"/>
              </a:lnSpc>
            </a:pPr>
            <a:r>
              <a:rPr lang="en-US" sz="696" spc="0">
                <a:solidFill>
                  <a:srgbClr val="0F172A"/>
                </a:solidFill>
                <a:latin typeface="Aptos"/>
                <a:ea typeface="Aptos"/>
                <a:cs typeface="Aptos"/>
                <a:sym typeface="Aptos"/>
              </a:rPr>
              <a:t>S: RMSE .036014 | MAE .024916 | MedAE .016682</a:t>
            </a:r>
          </a:p>
        </p:txBody>
      </p:sp>
      <p:sp>
        <p:nvSpPr>
          <p:cNvPr name="TextBox 29" id="29"/>
          <p:cNvSpPr txBox="true"/>
          <p:nvPr/>
        </p:nvSpPr>
        <p:spPr>
          <a:xfrm rot="0">
            <a:off x="4043172" y="2857386"/>
            <a:ext cx="1893446" cy="125578"/>
          </a:xfrm>
          <a:prstGeom prst="rect">
            <a:avLst/>
          </a:prstGeom>
        </p:spPr>
        <p:txBody>
          <a:bodyPr anchor="t" rtlCol="false" tIns="0" lIns="0" bIns="0" rIns="0">
            <a:spAutoFit/>
          </a:bodyPr>
          <a:lstStyle/>
          <a:p>
            <a:pPr algn="l">
              <a:lnSpc>
                <a:spcPts val="974"/>
              </a:lnSpc>
            </a:pPr>
            <a:r>
              <a:rPr lang="en-US" sz="696" spc="0">
                <a:solidFill>
                  <a:srgbClr val="0F172A"/>
                </a:solidFill>
                <a:latin typeface="Aptos"/>
                <a:ea typeface="Aptos"/>
                <a:cs typeface="Aptos"/>
                <a:sym typeface="Aptos"/>
              </a:rPr>
              <a:t>S: RMSE .038848 | MAE .027218 | MedAE .019780</a:t>
            </a:r>
          </a:p>
        </p:txBody>
      </p:sp>
      <p:sp>
        <p:nvSpPr>
          <p:cNvPr name="TextBox 30" id="30"/>
          <p:cNvSpPr txBox="true"/>
          <p:nvPr/>
        </p:nvSpPr>
        <p:spPr>
          <a:xfrm rot="0">
            <a:off x="4043172" y="3333760"/>
            <a:ext cx="1893446" cy="125578"/>
          </a:xfrm>
          <a:prstGeom prst="rect">
            <a:avLst/>
          </a:prstGeom>
        </p:spPr>
        <p:txBody>
          <a:bodyPr anchor="t" rtlCol="false" tIns="0" lIns="0" bIns="0" rIns="0">
            <a:spAutoFit/>
          </a:bodyPr>
          <a:lstStyle/>
          <a:p>
            <a:pPr algn="l">
              <a:lnSpc>
                <a:spcPts val="974"/>
              </a:lnSpc>
            </a:pPr>
            <a:r>
              <a:rPr lang="en-US" sz="696" spc="0">
                <a:solidFill>
                  <a:srgbClr val="0F172A"/>
                </a:solidFill>
                <a:latin typeface="Aptos"/>
                <a:ea typeface="Aptos"/>
                <a:cs typeface="Aptos"/>
                <a:sym typeface="Aptos"/>
              </a:rPr>
              <a:t>S: RMSE .038870 | MAE .026283 | MedAE .016467</a:t>
            </a:r>
          </a:p>
        </p:txBody>
      </p:sp>
      <p:sp>
        <p:nvSpPr>
          <p:cNvPr name="TextBox 31" id="31"/>
          <p:cNvSpPr txBox="true"/>
          <p:nvPr/>
        </p:nvSpPr>
        <p:spPr>
          <a:xfrm rot="0">
            <a:off x="6512052" y="4286260"/>
            <a:ext cx="1743075" cy="115672"/>
          </a:xfrm>
          <a:prstGeom prst="rect">
            <a:avLst/>
          </a:prstGeom>
        </p:spPr>
        <p:txBody>
          <a:bodyPr anchor="t" rtlCol="false" tIns="0" lIns="0" bIns="0" rIns="0">
            <a:spAutoFit/>
          </a:bodyPr>
          <a:lstStyle/>
          <a:p>
            <a:pPr algn="l">
              <a:lnSpc>
                <a:spcPts val="974"/>
              </a:lnSpc>
            </a:pPr>
            <a:r>
              <a:rPr lang="en-US" sz="696" spc="0">
                <a:solidFill>
                  <a:srgbClr val="0F172A"/>
                </a:solidFill>
                <a:latin typeface="Aptos"/>
                <a:ea typeface="Aptos"/>
                <a:cs typeface="Aptos"/>
                <a:sym typeface="Aptos"/>
              </a:rPr>
              <a:t>4 base: RF, XGB, LGBM, BiLSTM; SVR dropped</a:t>
            </a:r>
          </a:p>
        </p:txBody>
      </p:sp>
      <p:sp>
        <p:nvSpPr>
          <p:cNvPr name="TextBox 32" id="32"/>
          <p:cNvSpPr txBox="true"/>
          <p:nvPr/>
        </p:nvSpPr>
        <p:spPr>
          <a:xfrm rot="0">
            <a:off x="6512052" y="2381002"/>
            <a:ext cx="2152745" cy="125578"/>
          </a:xfrm>
          <a:prstGeom prst="rect">
            <a:avLst/>
          </a:prstGeom>
        </p:spPr>
        <p:txBody>
          <a:bodyPr anchor="t" rtlCol="false" tIns="0" lIns="0" bIns="0" rIns="0">
            <a:spAutoFit/>
          </a:bodyPr>
          <a:lstStyle/>
          <a:p>
            <a:pPr algn="l">
              <a:lnSpc>
                <a:spcPts val="974"/>
              </a:lnSpc>
            </a:pPr>
            <a:r>
              <a:rPr lang="en-US" sz="696" spc="0">
                <a:solidFill>
                  <a:srgbClr val="0F172A"/>
                </a:solidFill>
                <a:latin typeface="Aptos"/>
                <a:ea typeface="Aptos"/>
                <a:cs typeface="Aptos"/>
                <a:sym typeface="Aptos"/>
              </a:rPr>
              <a:t>15: rolling std/lag close, alpha_QQQ, return, MACD, VIX</a:t>
            </a:r>
          </a:p>
        </p:txBody>
      </p:sp>
      <p:sp>
        <p:nvSpPr>
          <p:cNvPr name="TextBox 33" id="33"/>
          <p:cNvSpPr txBox="true"/>
          <p:nvPr/>
        </p:nvSpPr>
        <p:spPr>
          <a:xfrm rot="0">
            <a:off x="6512052" y="2857386"/>
            <a:ext cx="2160318" cy="125578"/>
          </a:xfrm>
          <a:prstGeom prst="rect">
            <a:avLst/>
          </a:prstGeom>
        </p:spPr>
        <p:txBody>
          <a:bodyPr anchor="t" rtlCol="false" tIns="0" lIns="0" bIns="0" rIns="0">
            <a:spAutoFit/>
          </a:bodyPr>
          <a:lstStyle/>
          <a:p>
            <a:pPr algn="l">
              <a:lnSpc>
                <a:spcPts val="974"/>
              </a:lnSpc>
            </a:pPr>
            <a:r>
              <a:rPr lang="en-US" sz="696" spc="1">
                <a:solidFill>
                  <a:srgbClr val="0F172A"/>
                </a:solidFill>
                <a:latin typeface="Aptos"/>
                <a:ea typeface="Aptos"/>
                <a:cs typeface="Aptos"/>
                <a:sym typeface="Aptos"/>
              </a:rPr>
              <a:t>20: alpha_SPY/QQQ, VIX, return, volume, ROC, RSI, MFI</a:t>
            </a:r>
          </a:p>
        </p:txBody>
      </p:sp>
      <p:sp>
        <p:nvSpPr>
          <p:cNvPr name="TextBox 34" id="34"/>
          <p:cNvSpPr txBox="true"/>
          <p:nvPr/>
        </p:nvSpPr>
        <p:spPr>
          <a:xfrm rot="0">
            <a:off x="6512052" y="3333760"/>
            <a:ext cx="2272655" cy="125578"/>
          </a:xfrm>
          <a:prstGeom prst="rect">
            <a:avLst/>
          </a:prstGeom>
        </p:spPr>
        <p:txBody>
          <a:bodyPr anchor="t" rtlCol="false" tIns="0" lIns="0" bIns="0" rIns="0">
            <a:spAutoFit/>
          </a:bodyPr>
          <a:lstStyle/>
          <a:p>
            <a:pPr algn="l">
              <a:lnSpc>
                <a:spcPts val="974"/>
              </a:lnSpc>
            </a:pPr>
            <a:r>
              <a:rPr lang="en-US" sz="696" spc="0">
                <a:solidFill>
                  <a:srgbClr val="0F172A"/>
                </a:solidFill>
                <a:latin typeface="Aptos"/>
                <a:ea typeface="Aptos"/>
                <a:cs typeface="Aptos"/>
                <a:sym typeface="Aptos"/>
              </a:rPr>
              <a:t>20: RSI, volume, return, lag volume/close, rolling, Bollinger</a:t>
            </a:r>
          </a:p>
        </p:txBody>
      </p:sp>
      <p:sp>
        <p:nvSpPr>
          <p:cNvPr name="TextBox 35" id="35"/>
          <p:cNvSpPr txBox="true"/>
          <p:nvPr/>
        </p:nvSpPr>
        <p:spPr>
          <a:xfrm rot="0">
            <a:off x="9086088" y="2381002"/>
            <a:ext cx="2002974" cy="125578"/>
          </a:xfrm>
          <a:prstGeom prst="rect">
            <a:avLst/>
          </a:prstGeom>
        </p:spPr>
        <p:txBody>
          <a:bodyPr anchor="t" rtlCol="false" tIns="0" lIns="0" bIns="0" rIns="0">
            <a:spAutoFit/>
          </a:bodyPr>
          <a:lstStyle/>
          <a:p>
            <a:pPr algn="l">
              <a:lnSpc>
                <a:spcPts val="974"/>
              </a:lnSpc>
            </a:pPr>
            <a:r>
              <a:rPr lang="en-US" sz="696" spc="0">
                <a:solidFill>
                  <a:srgbClr val="0F172A"/>
                </a:solidFill>
                <a:latin typeface="Aptos"/>
                <a:ea typeface="Aptos"/>
                <a:cs typeface="Aptos"/>
                <a:sym typeface="Aptos"/>
              </a:rPr>
              <a:t>RMSE .03210 | MAE .02324 | R2 -.02768 | DA 54.59%</a:t>
            </a:r>
          </a:p>
        </p:txBody>
      </p:sp>
      <p:sp>
        <p:nvSpPr>
          <p:cNvPr name="TextBox 36" id="36"/>
          <p:cNvSpPr txBox="true"/>
          <p:nvPr/>
        </p:nvSpPr>
        <p:spPr>
          <a:xfrm rot="0">
            <a:off x="9086088" y="2857386"/>
            <a:ext cx="2002974" cy="125578"/>
          </a:xfrm>
          <a:prstGeom prst="rect">
            <a:avLst/>
          </a:prstGeom>
        </p:spPr>
        <p:txBody>
          <a:bodyPr anchor="t" rtlCol="false" tIns="0" lIns="0" bIns="0" rIns="0">
            <a:spAutoFit/>
          </a:bodyPr>
          <a:lstStyle/>
          <a:p>
            <a:pPr algn="l">
              <a:lnSpc>
                <a:spcPts val="974"/>
              </a:lnSpc>
            </a:pPr>
            <a:r>
              <a:rPr lang="en-US" sz="696" spc="0">
                <a:solidFill>
                  <a:srgbClr val="0F172A"/>
                </a:solidFill>
                <a:latin typeface="Aptos"/>
                <a:ea typeface="Aptos"/>
                <a:cs typeface="Aptos"/>
                <a:sym typeface="Aptos"/>
              </a:rPr>
              <a:t>RMSE .03172 | MAE .02289 | R2 -.00304 | DA 54.59%</a:t>
            </a:r>
          </a:p>
        </p:txBody>
      </p:sp>
      <p:sp>
        <p:nvSpPr>
          <p:cNvPr name="TextBox 37" id="37"/>
          <p:cNvSpPr txBox="true"/>
          <p:nvPr/>
        </p:nvSpPr>
        <p:spPr>
          <a:xfrm rot="0">
            <a:off x="9086088" y="3333760"/>
            <a:ext cx="2002974" cy="125578"/>
          </a:xfrm>
          <a:prstGeom prst="rect">
            <a:avLst/>
          </a:prstGeom>
        </p:spPr>
        <p:txBody>
          <a:bodyPr anchor="t" rtlCol="false" tIns="0" lIns="0" bIns="0" rIns="0">
            <a:spAutoFit/>
          </a:bodyPr>
          <a:lstStyle/>
          <a:p>
            <a:pPr algn="l">
              <a:lnSpc>
                <a:spcPts val="974"/>
              </a:lnSpc>
            </a:pPr>
            <a:r>
              <a:rPr lang="en-US" sz="696" spc="0">
                <a:solidFill>
                  <a:srgbClr val="0F172A"/>
                </a:solidFill>
                <a:latin typeface="Aptos"/>
                <a:ea typeface="Aptos"/>
                <a:cs typeface="Aptos"/>
                <a:sym typeface="Aptos"/>
              </a:rPr>
              <a:t>RMSE .03174 | MAE .02291 | R2 -.00448 | DA 54.49%</a:t>
            </a:r>
          </a:p>
        </p:txBody>
      </p:sp>
      <p:sp>
        <p:nvSpPr>
          <p:cNvPr name="TextBox 38" id="38"/>
          <p:cNvSpPr txBox="true"/>
          <p:nvPr/>
        </p:nvSpPr>
        <p:spPr>
          <a:xfrm rot="0">
            <a:off x="9086088" y="4286260"/>
            <a:ext cx="2002974" cy="125578"/>
          </a:xfrm>
          <a:prstGeom prst="rect">
            <a:avLst/>
          </a:prstGeom>
        </p:spPr>
        <p:txBody>
          <a:bodyPr anchor="t" rtlCol="false" tIns="0" lIns="0" bIns="0" rIns="0">
            <a:spAutoFit/>
          </a:bodyPr>
          <a:lstStyle/>
          <a:p>
            <a:pPr algn="l">
              <a:lnSpc>
                <a:spcPts val="974"/>
              </a:lnSpc>
            </a:pPr>
            <a:r>
              <a:rPr lang="en-US" sz="696" spc="0">
                <a:solidFill>
                  <a:srgbClr val="0F172A"/>
                </a:solidFill>
                <a:latin typeface="Aptos"/>
                <a:ea typeface="Aptos"/>
                <a:cs typeface="Aptos"/>
                <a:sym typeface="Aptos"/>
              </a:rPr>
              <a:t>RMSE .03202 | MAE .02300 | R2 -.02303 | DA 50.47%</a:t>
            </a:r>
          </a:p>
        </p:txBody>
      </p:sp>
      <p:sp>
        <p:nvSpPr>
          <p:cNvPr name="TextBox 39" id="39"/>
          <p:cNvSpPr txBox="true"/>
          <p:nvPr/>
        </p:nvSpPr>
        <p:spPr>
          <a:xfrm rot="0">
            <a:off x="523951" y="3809600"/>
            <a:ext cx="555403" cy="125949"/>
          </a:xfrm>
          <a:prstGeom prst="rect">
            <a:avLst/>
          </a:prstGeom>
        </p:spPr>
        <p:txBody>
          <a:bodyPr anchor="t" rtlCol="false" tIns="0" lIns="0" bIns="0" rIns="0">
            <a:spAutoFit/>
          </a:bodyPr>
          <a:lstStyle/>
          <a:p>
            <a:pPr algn="l">
              <a:lnSpc>
                <a:spcPts val="977"/>
              </a:lnSpc>
            </a:pPr>
            <a:r>
              <a:rPr lang="en-US" sz="698">
                <a:solidFill>
                  <a:srgbClr val="0F172A"/>
                </a:solidFill>
                <a:latin typeface="Aptos"/>
                <a:ea typeface="Aptos"/>
                <a:cs typeface="Aptos"/>
                <a:sym typeface="Aptos"/>
              </a:rPr>
              <a:t>LSTM/BiLSTM</a:t>
            </a:r>
          </a:p>
        </p:txBody>
      </p:sp>
      <p:sp>
        <p:nvSpPr>
          <p:cNvPr name="TextBox 40" id="40"/>
          <p:cNvSpPr txBox="true"/>
          <p:nvPr/>
        </p:nvSpPr>
        <p:spPr>
          <a:xfrm rot="0">
            <a:off x="1942214" y="3809600"/>
            <a:ext cx="879462" cy="125949"/>
          </a:xfrm>
          <a:prstGeom prst="rect">
            <a:avLst/>
          </a:prstGeom>
        </p:spPr>
        <p:txBody>
          <a:bodyPr anchor="t" rtlCol="false" tIns="0" lIns="0" bIns="0" rIns="0">
            <a:spAutoFit/>
          </a:bodyPr>
          <a:lstStyle/>
          <a:p>
            <a:pPr algn="l">
              <a:lnSpc>
                <a:spcPts val="977"/>
              </a:lnSpc>
            </a:pPr>
            <a:r>
              <a:rPr lang="en-US" sz="698">
                <a:solidFill>
                  <a:srgbClr val="0F172A"/>
                </a:solidFill>
                <a:latin typeface="Aptos"/>
                <a:ea typeface="Aptos"/>
                <a:cs typeface="Aptos"/>
                <a:sym typeface="Aptos"/>
              </a:rPr>
              <a:t>20 stationary; 20 S+NS</a:t>
            </a:r>
          </a:p>
        </p:txBody>
      </p:sp>
      <p:sp>
        <p:nvSpPr>
          <p:cNvPr name="TextBox 41" id="41"/>
          <p:cNvSpPr txBox="true"/>
          <p:nvPr/>
        </p:nvSpPr>
        <p:spPr>
          <a:xfrm rot="0">
            <a:off x="4043172" y="3809600"/>
            <a:ext cx="1894103" cy="125949"/>
          </a:xfrm>
          <a:prstGeom prst="rect">
            <a:avLst/>
          </a:prstGeom>
        </p:spPr>
        <p:txBody>
          <a:bodyPr anchor="t" rtlCol="false" tIns="0" lIns="0" bIns="0" rIns="0">
            <a:spAutoFit/>
          </a:bodyPr>
          <a:lstStyle/>
          <a:p>
            <a:pPr algn="l">
              <a:lnSpc>
                <a:spcPts val="977"/>
              </a:lnSpc>
            </a:pPr>
            <a:r>
              <a:rPr lang="en-US" sz="698">
                <a:solidFill>
                  <a:srgbClr val="0F172A"/>
                </a:solidFill>
                <a:latin typeface="Aptos"/>
                <a:ea typeface="Aptos"/>
                <a:cs typeface="Aptos"/>
                <a:sym typeface="Aptos"/>
              </a:rPr>
              <a:t>S: RMSE .036705 | MAE .024918 | MedAE .016772</a:t>
            </a:r>
          </a:p>
        </p:txBody>
      </p:sp>
      <p:sp>
        <p:nvSpPr>
          <p:cNvPr name="TextBox 42" id="42"/>
          <p:cNvSpPr txBox="true"/>
          <p:nvPr/>
        </p:nvSpPr>
        <p:spPr>
          <a:xfrm rot="0">
            <a:off x="6512052" y="3809600"/>
            <a:ext cx="1840649" cy="125949"/>
          </a:xfrm>
          <a:prstGeom prst="rect">
            <a:avLst/>
          </a:prstGeom>
        </p:spPr>
        <p:txBody>
          <a:bodyPr anchor="t" rtlCol="false" tIns="0" lIns="0" bIns="0" rIns="0">
            <a:spAutoFit/>
          </a:bodyPr>
          <a:lstStyle/>
          <a:p>
            <a:pPr algn="l">
              <a:lnSpc>
                <a:spcPts val="977"/>
              </a:lnSpc>
            </a:pPr>
            <a:r>
              <a:rPr lang="en-US" sz="698">
                <a:solidFill>
                  <a:srgbClr val="0F172A"/>
                </a:solidFill>
                <a:latin typeface="Aptos"/>
                <a:ea typeface="Aptos"/>
                <a:cs typeface="Aptos"/>
                <a:sym typeface="Aptos"/>
              </a:rPr>
              <a:t>20: sequence time_steps=10, BiLSTM-Attention</a:t>
            </a:r>
          </a:p>
        </p:txBody>
      </p:sp>
      <p:sp>
        <p:nvSpPr>
          <p:cNvPr name="TextBox 43" id="43"/>
          <p:cNvSpPr txBox="true"/>
          <p:nvPr/>
        </p:nvSpPr>
        <p:spPr>
          <a:xfrm rot="0">
            <a:off x="9086088" y="3809600"/>
            <a:ext cx="2003584" cy="125949"/>
          </a:xfrm>
          <a:prstGeom prst="rect">
            <a:avLst/>
          </a:prstGeom>
        </p:spPr>
        <p:txBody>
          <a:bodyPr anchor="t" rtlCol="false" tIns="0" lIns="0" bIns="0" rIns="0">
            <a:spAutoFit/>
          </a:bodyPr>
          <a:lstStyle/>
          <a:p>
            <a:pPr algn="l">
              <a:lnSpc>
                <a:spcPts val="977"/>
              </a:lnSpc>
            </a:pPr>
            <a:r>
              <a:rPr lang="en-US" sz="698">
                <a:solidFill>
                  <a:srgbClr val="0F172A"/>
                </a:solidFill>
                <a:latin typeface="Aptos"/>
                <a:ea typeface="Aptos"/>
                <a:cs typeface="Aptos"/>
                <a:sym typeface="Aptos"/>
              </a:rPr>
              <a:t>RMSE .03173 | MAE .02285 | R2 -.00554 | DA 54.85%</a:t>
            </a:r>
          </a:p>
        </p:txBody>
      </p:sp>
      <p:sp>
        <p:nvSpPr>
          <p:cNvPr name="TextBox 44" id="44"/>
          <p:cNvSpPr txBox="true"/>
          <p:nvPr/>
        </p:nvSpPr>
        <p:spPr>
          <a:xfrm rot="0">
            <a:off x="533400" y="6334506"/>
            <a:ext cx="2422846"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Sources: CEEJ Tables 2, 4, 7, 8, 9; notebook saved outputs</a:t>
            </a:r>
          </a:p>
        </p:txBody>
      </p:sp>
      <p:sp>
        <p:nvSpPr>
          <p:cNvPr name="TextBox 45" id="45"/>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13</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427034" y="1627184"/>
            <a:ext cx="8232772" cy="3984622"/>
          </a:xfrm>
          <a:custGeom>
            <a:avLst/>
            <a:gdLst/>
            <a:ahLst/>
            <a:cxnLst/>
            <a:rect r="r" b="b" t="t" l="l"/>
            <a:pathLst>
              <a:path h="3984622" w="8232772">
                <a:moveTo>
                  <a:pt x="0" y="0"/>
                </a:moveTo>
                <a:lnTo>
                  <a:pt x="8232772" y="0"/>
                </a:lnTo>
                <a:lnTo>
                  <a:pt x="8232772" y="3984622"/>
                </a:lnTo>
                <a:lnTo>
                  <a:pt x="0" y="39846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590550" y="1940433"/>
            <a:ext cx="7905750" cy="3358134"/>
            <a:chOff x="0" y="0"/>
            <a:chExt cx="10541000" cy="4477512"/>
          </a:xfrm>
        </p:grpSpPr>
        <p:sp>
          <p:nvSpPr>
            <p:cNvPr name="Freeform 5" id="5"/>
            <p:cNvSpPr/>
            <p:nvPr/>
          </p:nvSpPr>
          <p:spPr>
            <a:xfrm flipH="false" flipV="false" rot="0">
              <a:off x="0" y="0"/>
              <a:ext cx="10541000" cy="4477512"/>
            </a:xfrm>
            <a:custGeom>
              <a:avLst/>
              <a:gdLst/>
              <a:ahLst/>
              <a:cxnLst/>
              <a:rect r="r" b="b" t="t" l="l"/>
              <a:pathLst>
                <a:path h="4477512" w="10541000">
                  <a:moveTo>
                    <a:pt x="0" y="0"/>
                  </a:moveTo>
                  <a:lnTo>
                    <a:pt x="0" y="4477512"/>
                  </a:lnTo>
                  <a:lnTo>
                    <a:pt x="10541000" y="4477512"/>
                  </a:lnTo>
                  <a:lnTo>
                    <a:pt x="10541000" y="0"/>
                  </a:lnTo>
                  <a:lnTo>
                    <a:pt x="0" y="0"/>
                  </a:lnTo>
                  <a:close/>
                </a:path>
              </a:pathLst>
            </a:custGeom>
            <a:blipFill>
              <a:blip r:embed="rId6"/>
              <a:stretch>
                <a:fillRect l="0" t="0" r="0" b="0"/>
              </a:stretch>
            </a:blipFill>
          </p:spPr>
        </p:sp>
      </p:grpSp>
      <p:sp>
        <p:nvSpPr>
          <p:cNvPr name="Freeform 6" id="6"/>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8789984" y="4484684"/>
            <a:ext cx="2517772" cy="1127122"/>
          </a:xfrm>
          <a:custGeom>
            <a:avLst/>
            <a:gdLst/>
            <a:ahLst/>
            <a:cxnLst/>
            <a:rect r="r" b="b" t="t" l="l"/>
            <a:pathLst>
              <a:path h="1127122" w="2517772">
                <a:moveTo>
                  <a:pt x="0" y="0"/>
                </a:moveTo>
                <a:lnTo>
                  <a:pt x="2517772" y="0"/>
                </a:lnTo>
                <a:lnTo>
                  <a:pt x="2517772" y="1127122"/>
                </a:lnTo>
                <a:lnTo>
                  <a:pt x="0" y="11271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8789984" y="1646234"/>
            <a:ext cx="2517772" cy="2784472"/>
          </a:xfrm>
          <a:custGeom>
            <a:avLst/>
            <a:gdLst/>
            <a:ahLst/>
            <a:cxnLst/>
            <a:rect r="r" b="b" t="t" l="l"/>
            <a:pathLst>
              <a:path h="2784472" w="2517772">
                <a:moveTo>
                  <a:pt x="0" y="0"/>
                </a:moveTo>
                <a:lnTo>
                  <a:pt x="2517772" y="0"/>
                </a:lnTo>
                <a:lnTo>
                  <a:pt x="2517772" y="2784472"/>
                </a:lnTo>
                <a:lnTo>
                  <a:pt x="0" y="278447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838200" y="425596"/>
            <a:ext cx="1808588" cy="156801"/>
          </a:xfrm>
          <a:prstGeom prst="rect">
            <a:avLst/>
          </a:prstGeom>
        </p:spPr>
        <p:txBody>
          <a:bodyPr anchor="t" rtlCol="false" tIns="0" lIns="0" bIns="0" rIns="0">
            <a:spAutoFit/>
          </a:bodyPr>
          <a:lstStyle/>
          <a:p>
            <a:pPr algn="l">
              <a:lnSpc>
                <a:spcPts val="1260"/>
              </a:lnSpc>
            </a:pPr>
            <a:r>
              <a:rPr lang="en-US" sz="900" spc="0">
                <a:solidFill>
                  <a:srgbClr val="0E7490"/>
                </a:solidFill>
                <a:latin typeface="Aptos"/>
                <a:ea typeface="Aptos"/>
                <a:cs typeface="Aptos"/>
                <a:sym typeface="Aptos"/>
              </a:rPr>
              <a:t>ROLLING PLOT -RANDOM FOREST</a:t>
            </a:r>
          </a:p>
        </p:txBody>
      </p:sp>
      <p:sp>
        <p:nvSpPr>
          <p:cNvPr name="TextBox 10" id="10"/>
          <p:cNvSpPr txBox="true"/>
          <p:nvPr/>
        </p:nvSpPr>
        <p:spPr>
          <a:xfrm rot="0">
            <a:off x="10097767" y="2399557"/>
            <a:ext cx="487794" cy="156801"/>
          </a:xfrm>
          <a:prstGeom prst="rect">
            <a:avLst/>
          </a:prstGeom>
        </p:spPr>
        <p:txBody>
          <a:bodyPr anchor="t" rtlCol="false" tIns="0" lIns="0" bIns="0" rIns="0">
            <a:spAutoFit/>
          </a:bodyPr>
          <a:lstStyle/>
          <a:p>
            <a:pPr algn="l">
              <a:lnSpc>
                <a:spcPts val="1260"/>
              </a:lnSpc>
            </a:pPr>
            <a:r>
              <a:rPr lang="en-US" sz="900" spc="0">
                <a:solidFill>
                  <a:srgbClr val="475569"/>
                </a:solidFill>
                <a:latin typeface="Aptos"/>
                <a:ea typeface="Aptos"/>
                <a:cs typeface="Aptos"/>
                <a:sym typeface="Aptos"/>
              </a:rPr>
              <a:t>3M MAPE</a:t>
            </a:r>
          </a:p>
        </p:txBody>
      </p:sp>
      <p:sp>
        <p:nvSpPr>
          <p:cNvPr name="TextBox 11" id="11"/>
          <p:cNvSpPr txBox="true"/>
          <p:nvPr/>
        </p:nvSpPr>
        <p:spPr>
          <a:xfrm rot="0">
            <a:off x="10097767" y="3314214"/>
            <a:ext cx="754780" cy="156801"/>
          </a:xfrm>
          <a:prstGeom prst="rect">
            <a:avLst/>
          </a:prstGeom>
        </p:spPr>
        <p:txBody>
          <a:bodyPr anchor="t" rtlCol="false" tIns="0" lIns="0" bIns="0" rIns="0">
            <a:spAutoFit/>
          </a:bodyPr>
          <a:lstStyle/>
          <a:p>
            <a:pPr algn="l">
              <a:lnSpc>
                <a:spcPts val="1260"/>
              </a:lnSpc>
            </a:pPr>
            <a:r>
              <a:rPr lang="en-US" sz="900" spc="0">
                <a:solidFill>
                  <a:srgbClr val="475569"/>
                </a:solidFill>
                <a:latin typeface="Aptos"/>
                <a:ea typeface="Aptos"/>
                <a:cs typeface="Aptos"/>
                <a:sym typeface="Aptos"/>
              </a:rPr>
              <a:t>Full price MAE</a:t>
            </a:r>
          </a:p>
        </p:txBody>
      </p:sp>
      <p:sp>
        <p:nvSpPr>
          <p:cNvPr name="TextBox 12" id="12"/>
          <p:cNvSpPr txBox="true"/>
          <p:nvPr/>
        </p:nvSpPr>
        <p:spPr>
          <a:xfrm rot="0">
            <a:off x="10097767" y="3771414"/>
            <a:ext cx="692058" cy="156801"/>
          </a:xfrm>
          <a:prstGeom prst="rect">
            <a:avLst/>
          </a:prstGeom>
        </p:spPr>
        <p:txBody>
          <a:bodyPr anchor="t" rtlCol="false" tIns="0" lIns="0" bIns="0" rIns="0">
            <a:spAutoFit/>
          </a:bodyPr>
          <a:lstStyle/>
          <a:p>
            <a:pPr algn="l">
              <a:lnSpc>
                <a:spcPts val="1260"/>
              </a:lnSpc>
            </a:pPr>
            <a:r>
              <a:rPr lang="en-US" sz="900" spc="2">
                <a:solidFill>
                  <a:srgbClr val="475569"/>
                </a:solidFill>
                <a:latin typeface="Aptos"/>
                <a:ea typeface="Aptos"/>
                <a:cs typeface="Aptos"/>
                <a:sym typeface="Aptos"/>
              </a:rPr>
              <a:t>Return RMSE</a:t>
            </a:r>
          </a:p>
        </p:txBody>
      </p:sp>
      <p:sp>
        <p:nvSpPr>
          <p:cNvPr name="TextBox 13" id="13"/>
          <p:cNvSpPr txBox="true"/>
          <p:nvPr/>
        </p:nvSpPr>
        <p:spPr>
          <a:xfrm rot="0">
            <a:off x="4855464" y="966149"/>
            <a:ext cx="2086642" cy="415328"/>
          </a:xfrm>
          <a:prstGeom prst="rect">
            <a:avLst/>
          </a:prstGeom>
        </p:spPr>
        <p:txBody>
          <a:bodyPr anchor="t" rtlCol="false" tIns="0" lIns="0" bIns="0" rIns="0">
            <a:spAutoFit/>
          </a:bodyPr>
          <a:lstStyle/>
          <a:p>
            <a:pPr algn="l">
              <a:lnSpc>
                <a:spcPts val="3363"/>
              </a:lnSpc>
            </a:pPr>
            <a:r>
              <a:rPr lang="en-US" sz="2402">
                <a:solidFill>
                  <a:srgbClr val="0F172A"/>
                </a:solidFill>
                <a:latin typeface="Aptos"/>
                <a:ea typeface="Aptos"/>
                <a:cs typeface="Aptos"/>
                <a:sym typeface="Aptos"/>
              </a:rPr>
              <a:t>Random Forest.</a:t>
            </a:r>
          </a:p>
        </p:txBody>
      </p:sp>
      <p:sp>
        <p:nvSpPr>
          <p:cNvPr name="TextBox 14" id="14"/>
          <p:cNvSpPr txBox="true"/>
          <p:nvPr/>
        </p:nvSpPr>
        <p:spPr>
          <a:xfrm rot="0">
            <a:off x="9087869" y="1902733"/>
            <a:ext cx="1060847" cy="281727"/>
          </a:xfrm>
          <a:prstGeom prst="rect">
            <a:avLst/>
          </a:prstGeom>
        </p:spPr>
        <p:txBody>
          <a:bodyPr anchor="t" rtlCol="false" tIns="0" lIns="0" bIns="0" rIns="0">
            <a:spAutoFit/>
          </a:bodyPr>
          <a:lstStyle/>
          <a:p>
            <a:pPr algn="l">
              <a:lnSpc>
                <a:spcPts val="2321"/>
              </a:lnSpc>
            </a:pPr>
            <a:r>
              <a:rPr lang="en-US" sz="1658">
                <a:solidFill>
                  <a:srgbClr val="0F172A"/>
                </a:solidFill>
                <a:latin typeface="Aptos"/>
                <a:ea typeface="Aptos"/>
                <a:cs typeface="Aptos"/>
                <a:sym typeface="Aptos"/>
              </a:rPr>
              <a:t>Key m</a:t>
            </a:r>
            <a:r>
              <a:rPr lang="en-US" sz="1658">
                <a:solidFill>
                  <a:srgbClr val="0F172A"/>
                </a:solidFill>
                <a:latin typeface="Aptos"/>
                <a:ea typeface="Aptos"/>
                <a:cs typeface="Aptos"/>
                <a:sym typeface="Aptos"/>
              </a:rPr>
              <a:t>etrics</a:t>
            </a:r>
          </a:p>
        </p:txBody>
      </p:sp>
      <p:sp>
        <p:nvSpPr>
          <p:cNvPr name="TextBox 15" id="15"/>
          <p:cNvSpPr txBox="true"/>
          <p:nvPr/>
        </p:nvSpPr>
        <p:spPr>
          <a:xfrm rot="0">
            <a:off x="9125969" y="2494445"/>
            <a:ext cx="785470" cy="1506169"/>
          </a:xfrm>
          <a:prstGeom prst="rect">
            <a:avLst/>
          </a:prstGeom>
        </p:spPr>
        <p:txBody>
          <a:bodyPr anchor="t" rtlCol="false" tIns="0" lIns="0" bIns="0" rIns="0">
            <a:spAutoFit/>
          </a:bodyPr>
          <a:lstStyle/>
          <a:p>
            <a:pPr algn="just">
              <a:lnSpc>
                <a:spcPts val="864"/>
              </a:lnSpc>
            </a:pPr>
            <a:r>
              <a:rPr lang="en-US" sz="1728" spc="1">
                <a:solidFill>
                  <a:srgbClr val="2563EB"/>
                </a:solidFill>
                <a:latin typeface="Aptos"/>
                <a:ea typeface="Aptos"/>
                <a:cs typeface="Aptos"/>
                <a:sym typeface="Aptos"/>
              </a:rPr>
              <a:t>1.87%</a:t>
            </a:r>
          </a:p>
          <a:p>
            <a:pPr algn="just">
              <a:lnSpc>
                <a:spcPts val="864"/>
              </a:lnSpc>
            </a:pPr>
          </a:p>
          <a:p>
            <a:pPr algn="just">
              <a:lnSpc>
                <a:spcPts val="864"/>
              </a:lnSpc>
            </a:pPr>
          </a:p>
          <a:p>
            <a:pPr algn="just">
              <a:lnSpc>
                <a:spcPts val="864"/>
              </a:lnSpc>
            </a:pPr>
          </a:p>
          <a:p>
            <a:pPr algn="just">
              <a:lnSpc>
                <a:spcPts val="864"/>
              </a:lnSpc>
            </a:pPr>
            <a:r>
              <a:rPr lang="en-US" sz="1728" spc="1">
                <a:solidFill>
                  <a:srgbClr val="2563EB"/>
                </a:solidFill>
                <a:latin typeface="Aptos"/>
                <a:ea typeface="Aptos"/>
                <a:cs typeface="Aptos"/>
                <a:sym typeface="Aptos"/>
              </a:rPr>
              <a:t>55.6%</a:t>
            </a:r>
          </a:p>
          <a:p>
            <a:pPr algn="just">
              <a:lnSpc>
                <a:spcPts val="864"/>
              </a:lnSpc>
            </a:pPr>
          </a:p>
          <a:p>
            <a:pPr algn="just">
              <a:lnSpc>
                <a:spcPts val="864"/>
              </a:lnSpc>
            </a:pPr>
          </a:p>
          <a:p>
            <a:pPr algn="just">
              <a:lnSpc>
                <a:spcPts val="864"/>
              </a:lnSpc>
            </a:pPr>
          </a:p>
          <a:p>
            <a:pPr algn="just">
              <a:lnSpc>
                <a:spcPts val="864"/>
              </a:lnSpc>
            </a:pPr>
          </a:p>
          <a:p>
            <a:pPr algn="just">
              <a:lnSpc>
                <a:spcPts val="864"/>
              </a:lnSpc>
            </a:pPr>
            <a:r>
              <a:rPr lang="en-US" sz="1728" spc="1">
                <a:solidFill>
                  <a:srgbClr val="2563EB"/>
                </a:solidFill>
                <a:latin typeface="Aptos"/>
                <a:ea typeface="Aptos"/>
                <a:cs typeface="Aptos"/>
                <a:sym typeface="Aptos"/>
              </a:rPr>
              <a:t>$2.07</a:t>
            </a:r>
          </a:p>
          <a:p>
            <a:pPr algn="just" rtl="true">
              <a:lnSpc>
                <a:spcPts val="864"/>
              </a:lnSpc>
            </a:pPr>
          </a:p>
          <a:p>
            <a:pPr algn="just" rtl="true">
              <a:lnSpc>
                <a:spcPts val="864"/>
              </a:lnSpc>
            </a:pPr>
          </a:p>
          <a:p>
            <a:pPr algn="just" rtl="true">
              <a:lnSpc>
                <a:spcPts val="864"/>
              </a:lnSpc>
            </a:pPr>
          </a:p>
          <a:p>
            <a:pPr algn="just">
              <a:lnSpc>
                <a:spcPts val="864"/>
              </a:lnSpc>
            </a:pPr>
            <a:r>
              <a:rPr lang="en-US" sz="1728" spc="1">
                <a:solidFill>
                  <a:srgbClr val="2563EB"/>
                </a:solidFill>
                <a:latin typeface="Aptos"/>
                <a:ea typeface="Aptos"/>
                <a:cs typeface="Aptos"/>
                <a:sym typeface="Aptos"/>
              </a:rPr>
              <a:t>0.03172</a:t>
            </a:r>
          </a:p>
        </p:txBody>
      </p:sp>
      <p:sp>
        <p:nvSpPr>
          <p:cNvPr name="TextBox 16" id="16"/>
          <p:cNvSpPr txBox="true"/>
          <p:nvPr/>
        </p:nvSpPr>
        <p:spPr>
          <a:xfrm rot="0">
            <a:off x="10097767" y="2856471"/>
            <a:ext cx="336775" cy="157172"/>
          </a:xfrm>
          <a:prstGeom prst="rect">
            <a:avLst/>
          </a:prstGeom>
        </p:spPr>
        <p:txBody>
          <a:bodyPr anchor="t" rtlCol="false" tIns="0" lIns="0" bIns="0" rIns="0">
            <a:spAutoFit/>
          </a:bodyPr>
          <a:lstStyle/>
          <a:p>
            <a:pPr algn="l">
              <a:lnSpc>
                <a:spcPts val="1263"/>
              </a:lnSpc>
            </a:pPr>
            <a:r>
              <a:rPr lang="en-US" sz="902">
                <a:solidFill>
                  <a:srgbClr val="475569"/>
                </a:solidFill>
                <a:latin typeface="Aptos"/>
                <a:ea typeface="Aptos"/>
                <a:cs typeface="Aptos"/>
                <a:sym typeface="Aptos"/>
              </a:rPr>
              <a:t>3M DA</a:t>
            </a:r>
          </a:p>
        </p:txBody>
      </p:sp>
      <p:sp>
        <p:nvSpPr>
          <p:cNvPr name="TextBox 17" id="17"/>
          <p:cNvSpPr txBox="true"/>
          <p:nvPr/>
        </p:nvSpPr>
        <p:spPr>
          <a:xfrm rot="0">
            <a:off x="9240269" y="4742478"/>
            <a:ext cx="1849726" cy="689028"/>
          </a:xfrm>
          <a:prstGeom prst="rect">
            <a:avLst/>
          </a:prstGeom>
        </p:spPr>
        <p:txBody>
          <a:bodyPr anchor="t" rtlCol="false" tIns="0" lIns="0" bIns="0" rIns="0">
            <a:spAutoFit/>
          </a:bodyPr>
          <a:lstStyle/>
          <a:p>
            <a:pPr algn="l">
              <a:lnSpc>
                <a:spcPts val="971"/>
              </a:lnSpc>
            </a:pPr>
            <a:r>
              <a:rPr lang="en-US" sz="815">
                <a:solidFill>
                  <a:srgbClr val="0F172A"/>
                </a:solidFill>
                <a:latin typeface="Aptos"/>
                <a:ea typeface="Aptos"/>
                <a:cs typeface="Aptos"/>
                <a:sym typeface="Aptos"/>
              </a:rPr>
              <a:t>Selected fea</a:t>
            </a:r>
            <a:r>
              <a:rPr lang="en-US" sz="815">
                <a:solidFill>
                  <a:srgbClr val="0F172A"/>
                </a:solidFill>
                <a:latin typeface="Aptos"/>
                <a:ea typeface="Aptos"/>
                <a:cs typeface="Aptos"/>
                <a:sym typeface="Aptos"/>
              </a:rPr>
              <a:t>tures: momentum_30d, VIX_MA5, lag_return_14, lag_volume_30, RSI, Bollinger.</a:t>
            </a:r>
          </a:p>
          <a:p>
            <a:pPr algn="l">
              <a:lnSpc>
                <a:spcPts val="1535"/>
              </a:lnSpc>
            </a:pPr>
            <a:r>
              <a:rPr lang="en-US" sz="815">
                <a:solidFill>
                  <a:srgbClr val="0F172A"/>
                </a:solidFill>
                <a:latin typeface="Aptos"/>
                <a:ea typeface="Aptos"/>
                <a:cs typeface="Aptos"/>
                <a:sym typeface="Aptos"/>
              </a:rPr>
              <a:t>Predictions tend to lag when the pric</a:t>
            </a:r>
            <a:r>
              <a:rPr lang="en-US" sz="815">
                <a:solidFill>
                  <a:srgbClr val="0F172A"/>
                </a:solidFill>
                <a:latin typeface="Aptos"/>
                <a:ea typeface="Aptos"/>
                <a:cs typeface="Aptos"/>
                <a:sym typeface="Aptos"/>
              </a:rPr>
              <a:t>e moves sharply.</a:t>
            </a:r>
          </a:p>
        </p:txBody>
      </p:sp>
      <p:sp>
        <p:nvSpPr>
          <p:cNvPr name="TextBox 18" id="18"/>
          <p:cNvSpPr txBox="true"/>
          <p:nvPr/>
        </p:nvSpPr>
        <p:spPr>
          <a:xfrm rot="0">
            <a:off x="533400" y="6334506"/>
            <a:ext cx="2390213"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notebook output, rolling 1-step plots and metrics</a:t>
            </a:r>
          </a:p>
        </p:txBody>
      </p:sp>
      <p:sp>
        <p:nvSpPr>
          <p:cNvPr name="TextBox 19" id="19"/>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15</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427034" y="1627184"/>
            <a:ext cx="8232772" cy="3984622"/>
          </a:xfrm>
          <a:custGeom>
            <a:avLst/>
            <a:gdLst/>
            <a:ahLst/>
            <a:cxnLst/>
            <a:rect r="r" b="b" t="t" l="l"/>
            <a:pathLst>
              <a:path h="3984622" w="8232772">
                <a:moveTo>
                  <a:pt x="0" y="0"/>
                </a:moveTo>
                <a:lnTo>
                  <a:pt x="8232772" y="0"/>
                </a:lnTo>
                <a:lnTo>
                  <a:pt x="8232772" y="3984622"/>
                </a:lnTo>
                <a:lnTo>
                  <a:pt x="0" y="39846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590550" y="1940433"/>
            <a:ext cx="7905750" cy="3358134"/>
            <a:chOff x="0" y="0"/>
            <a:chExt cx="10541000" cy="4477512"/>
          </a:xfrm>
        </p:grpSpPr>
        <p:sp>
          <p:nvSpPr>
            <p:cNvPr name="Freeform 5" id="5"/>
            <p:cNvSpPr/>
            <p:nvPr/>
          </p:nvSpPr>
          <p:spPr>
            <a:xfrm flipH="false" flipV="false" rot="0">
              <a:off x="0" y="0"/>
              <a:ext cx="10541000" cy="4477512"/>
            </a:xfrm>
            <a:custGeom>
              <a:avLst/>
              <a:gdLst/>
              <a:ahLst/>
              <a:cxnLst/>
              <a:rect r="r" b="b" t="t" l="l"/>
              <a:pathLst>
                <a:path h="4477512" w="10541000">
                  <a:moveTo>
                    <a:pt x="0" y="0"/>
                  </a:moveTo>
                  <a:lnTo>
                    <a:pt x="0" y="4477512"/>
                  </a:lnTo>
                  <a:lnTo>
                    <a:pt x="10541000" y="4477512"/>
                  </a:lnTo>
                  <a:lnTo>
                    <a:pt x="10541000" y="0"/>
                  </a:lnTo>
                  <a:lnTo>
                    <a:pt x="0" y="0"/>
                  </a:lnTo>
                  <a:close/>
                </a:path>
              </a:pathLst>
            </a:custGeom>
            <a:blipFill>
              <a:blip r:embed="rId6"/>
              <a:stretch>
                <a:fillRect l="0" t="0" r="0" b="0"/>
              </a:stretch>
            </a:blipFill>
          </p:spPr>
        </p:sp>
      </p:grpSp>
      <p:sp>
        <p:nvSpPr>
          <p:cNvPr name="Freeform 6" id="6"/>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8789984" y="4484684"/>
            <a:ext cx="2517772" cy="1127122"/>
          </a:xfrm>
          <a:custGeom>
            <a:avLst/>
            <a:gdLst/>
            <a:ahLst/>
            <a:cxnLst/>
            <a:rect r="r" b="b" t="t" l="l"/>
            <a:pathLst>
              <a:path h="1127122" w="2517772">
                <a:moveTo>
                  <a:pt x="0" y="0"/>
                </a:moveTo>
                <a:lnTo>
                  <a:pt x="2517772" y="0"/>
                </a:lnTo>
                <a:lnTo>
                  <a:pt x="2517772" y="1127122"/>
                </a:lnTo>
                <a:lnTo>
                  <a:pt x="0" y="11271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8789984" y="1646234"/>
            <a:ext cx="2517772" cy="2784472"/>
          </a:xfrm>
          <a:custGeom>
            <a:avLst/>
            <a:gdLst/>
            <a:ahLst/>
            <a:cxnLst/>
            <a:rect r="r" b="b" t="t" l="l"/>
            <a:pathLst>
              <a:path h="2784472" w="2517772">
                <a:moveTo>
                  <a:pt x="0" y="0"/>
                </a:moveTo>
                <a:lnTo>
                  <a:pt x="2517772" y="0"/>
                </a:lnTo>
                <a:lnTo>
                  <a:pt x="2517772" y="2784472"/>
                </a:lnTo>
                <a:lnTo>
                  <a:pt x="0" y="278447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838200" y="425596"/>
            <a:ext cx="1395517" cy="156801"/>
          </a:xfrm>
          <a:prstGeom prst="rect">
            <a:avLst/>
          </a:prstGeom>
        </p:spPr>
        <p:txBody>
          <a:bodyPr anchor="t" rtlCol="false" tIns="0" lIns="0" bIns="0" rIns="0">
            <a:spAutoFit/>
          </a:bodyPr>
          <a:lstStyle/>
          <a:p>
            <a:pPr algn="l">
              <a:lnSpc>
                <a:spcPts val="1260"/>
              </a:lnSpc>
            </a:pPr>
            <a:r>
              <a:rPr lang="en-US" sz="900">
                <a:solidFill>
                  <a:srgbClr val="0E7490"/>
                </a:solidFill>
                <a:latin typeface="Aptos"/>
                <a:ea typeface="Aptos"/>
                <a:cs typeface="Aptos"/>
                <a:sym typeface="Aptos"/>
              </a:rPr>
              <a:t>ROLLING PLOT -XGBOOST</a:t>
            </a:r>
          </a:p>
        </p:txBody>
      </p:sp>
      <p:sp>
        <p:nvSpPr>
          <p:cNvPr name="TextBox 10" id="10"/>
          <p:cNvSpPr txBox="true"/>
          <p:nvPr/>
        </p:nvSpPr>
        <p:spPr>
          <a:xfrm rot="0">
            <a:off x="10097767" y="2399557"/>
            <a:ext cx="487794" cy="156801"/>
          </a:xfrm>
          <a:prstGeom prst="rect">
            <a:avLst/>
          </a:prstGeom>
        </p:spPr>
        <p:txBody>
          <a:bodyPr anchor="t" rtlCol="false" tIns="0" lIns="0" bIns="0" rIns="0">
            <a:spAutoFit/>
          </a:bodyPr>
          <a:lstStyle/>
          <a:p>
            <a:pPr algn="l">
              <a:lnSpc>
                <a:spcPts val="1260"/>
              </a:lnSpc>
            </a:pPr>
            <a:r>
              <a:rPr lang="en-US" sz="900" spc="0">
                <a:solidFill>
                  <a:srgbClr val="475569"/>
                </a:solidFill>
                <a:latin typeface="Aptos"/>
                <a:ea typeface="Aptos"/>
                <a:cs typeface="Aptos"/>
                <a:sym typeface="Aptos"/>
              </a:rPr>
              <a:t>3M MAPE</a:t>
            </a:r>
          </a:p>
        </p:txBody>
      </p:sp>
      <p:sp>
        <p:nvSpPr>
          <p:cNvPr name="TextBox 11" id="11"/>
          <p:cNvSpPr txBox="true"/>
          <p:nvPr/>
        </p:nvSpPr>
        <p:spPr>
          <a:xfrm rot="0">
            <a:off x="10097767" y="3314214"/>
            <a:ext cx="754780" cy="156801"/>
          </a:xfrm>
          <a:prstGeom prst="rect">
            <a:avLst/>
          </a:prstGeom>
        </p:spPr>
        <p:txBody>
          <a:bodyPr anchor="t" rtlCol="false" tIns="0" lIns="0" bIns="0" rIns="0">
            <a:spAutoFit/>
          </a:bodyPr>
          <a:lstStyle/>
          <a:p>
            <a:pPr algn="l">
              <a:lnSpc>
                <a:spcPts val="1260"/>
              </a:lnSpc>
            </a:pPr>
            <a:r>
              <a:rPr lang="en-US" sz="900" spc="0">
                <a:solidFill>
                  <a:srgbClr val="475569"/>
                </a:solidFill>
                <a:latin typeface="Aptos"/>
                <a:ea typeface="Aptos"/>
                <a:cs typeface="Aptos"/>
                <a:sym typeface="Aptos"/>
              </a:rPr>
              <a:t>Full price MAE</a:t>
            </a:r>
          </a:p>
        </p:txBody>
      </p:sp>
      <p:sp>
        <p:nvSpPr>
          <p:cNvPr name="TextBox 12" id="12"/>
          <p:cNvSpPr txBox="true"/>
          <p:nvPr/>
        </p:nvSpPr>
        <p:spPr>
          <a:xfrm rot="0">
            <a:off x="10097767" y="3771414"/>
            <a:ext cx="692058" cy="156801"/>
          </a:xfrm>
          <a:prstGeom prst="rect">
            <a:avLst/>
          </a:prstGeom>
        </p:spPr>
        <p:txBody>
          <a:bodyPr anchor="t" rtlCol="false" tIns="0" lIns="0" bIns="0" rIns="0">
            <a:spAutoFit/>
          </a:bodyPr>
          <a:lstStyle/>
          <a:p>
            <a:pPr algn="l">
              <a:lnSpc>
                <a:spcPts val="1260"/>
              </a:lnSpc>
            </a:pPr>
            <a:r>
              <a:rPr lang="en-US" sz="900" spc="2">
                <a:solidFill>
                  <a:srgbClr val="475569"/>
                </a:solidFill>
                <a:latin typeface="Aptos"/>
                <a:ea typeface="Aptos"/>
                <a:cs typeface="Aptos"/>
                <a:sym typeface="Aptos"/>
              </a:rPr>
              <a:t>Return RMSE</a:t>
            </a:r>
          </a:p>
        </p:txBody>
      </p:sp>
      <p:sp>
        <p:nvSpPr>
          <p:cNvPr name="TextBox 13" id="13"/>
          <p:cNvSpPr txBox="true"/>
          <p:nvPr/>
        </p:nvSpPr>
        <p:spPr>
          <a:xfrm rot="0">
            <a:off x="5220338" y="1014317"/>
            <a:ext cx="1163688" cy="414966"/>
          </a:xfrm>
          <a:prstGeom prst="rect">
            <a:avLst/>
          </a:prstGeom>
        </p:spPr>
        <p:txBody>
          <a:bodyPr anchor="t" rtlCol="false" tIns="0" lIns="0" bIns="0" rIns="0">
            <a:spAutoFit/>
          </a:bodyPr>
          <a:lstStyle/>
          <a:p>
            <a:pPr algn="l">
              <a:lnSpc>
                <a:spcPts val="3359"/>
              </a:lnSpc>
            </a:pPr>
            <a:r>
              <a:rPr lang="en-US" sz="2400">
                <a:solidFill>
                  <a:srgbClr val="0F172A"/>
                </a:solidFill>
                <a:latin typeface="Aptos"/>
                <a:ea typeface="Aptos"/>
                <a:cs typeface="Aptos"/>
                <a:sym typeface="Aptos"/>
              </a:rPr>
              <a:t>XGBoost</a:t>
            </a:r>
          </a:p>
        </p:txBody>
      </p:sp>
      <p:sp>
        <p:nvSpPr>
          <p:cNvPr name="TextBox 14" id="14"/>
          <p:cNvSpPr txBox="true"/>
          <p:nvPr/>
        </p:nvSpPr>
        <p:spPr>
          <a:xfrm rot="0">
            <a:off x="9087869" y="1902733"/>
            <a:ext cx="1060847" cy="281727"/>
          </a:xfrm>
          <a:prstGeom prst="rect">
            <a:avLst/>
          </a:prstGeom>
        </p:spPr>
        <p:txBody>
          <a:bodyPr anchor="t" rtlCol="false" tIns="0" lIns="0" bIns="0" rIns="0">
            <a:spAutoFit/>
          </a:bodyPr>
          <a:lstStyle/>
          <a:p>
            <a:pPr algn="l">
              <a:lnSpc>
                <a:spcPts val="2321"/>
              </a:lnSpc>
            </a:pPr>
            <a:r>
              <a:rPr lang="en-US" sz="1658">
                <a:solidFill>
                  <a:srgbClr val="0F172A"/>
                </a:solidFill>
                <a:latin typeface="Aptos"/>
                <a:ea typeface="Aptos"/>
                <a:cs typeface="Aptos"/>
                <a:sym typeface="Aptos"/>
              </a:rPr>
              <a:t>Key m</a:t>
            </a:r>
            <a:r>
              <a:rPr lang="en-US" sz="1658">
                <a:solidFill>
                  <a:srgbClr val="0F172A"/>
                </a:solidFill>
                <a:latin typeface="Aptos"/>
                <a:ea typeface="Aptos"/>
                <a:cs typeface="Aptos"/>
                <a:sym typeface="Aptos"/>
              </a:rPr>
              <a:t>etrics</a:t>
            </a:r>
          </a:p>
        </p:txBody>
      </p:sp>
      <p:sp>
        <p:nvSpPr>
          <p:cNvPr name="TextBox 15" id="15"/>
          <p:cNvSpPr txBox="true"/>
          <p:nvPr/>
        </p:nvSpPr>
        <p:spPr>
          <a:xfrm rot="0">
            <a:off x="9125969" y="2494445"/>
            <a:ext cx="785470" cy="1506169"/>
          </a:xfrm>
          <a:prstGeom prst="rect">
            <a:avLst/>
          </a:prstGeom>
        </p:spPr>
        <p:txBody>
          <a:bodyPr anchor="t" rtlCol="false" tIns="0" lIns="0" bIns="0" rIns="0">
            <a:spAutoFit/>
          </a:bodyPr>
          <a:lstStyle/>
          <a:p>
            <a:pPr algn="just">
              <a:lnSpc>
                <a:spcPts val="864"/>
              </a:lnSpc>
            </a:pPr>
            <a:r>
              <a:rPr lang="en-US" sz="1728" spc="1">
                <a:solidFill>
                  <a:srgbClr val="16A34A"/>
                </a:solidFill>
                <a:latin typeface="Aptos"/>
                <a:ea typeface="Aptos"/>
                <a:cs typeface="Aptos"/>
                <a:sym typeface="Aptos"/>
              </a:rPr>
              <a:t>1.87%</a:t>
            </a:r>
          </a:p>
          <a:p>
            <a:pPr algn="just">
              <a:lnSpc>
                <a:spcPts val="864"/>
              </a:lnSpc>
            </a:pPr>
          </a:p>
          <a:p>
            <a:pPr algn="just">
              <a:lnSpc>
                <a:spcPts val="864"/>
              </a:lnSpc>
            </a:pPr>
          </a:p>
          <a:p>
            <a:pPr algn="just">
              <a:lnSpc>
                <a:spcPts val="864"/>
              </a:lnSpc>
            </a:pPr>
          </a:p>
          <a:p>
            <a:pPr algn="just">
              <a:lnSpc>
                <a:spcPts val="864"/>
              </a:lnSpc>
            </a:pPr>
            <a:r>
              <a:rPr lang="en-US" sz="1728" spc="1">
                <a:solidFill>
                  <a:srgbClr val="16A34A"/>
                </a:solidFill>
                <a:latin typeface="Aptos"/>
                <a:ea typeface="Aptos"/>
                <a:cs typeface="Aptos"/>
                <a:sym typeface="Aptos"/>
              </a:rPr>
              <a:t>57.1%</a:t>
            </a:r>
          </a:p>
          <a:p>
            <a:pPr algn="just">
              <a:lnSpc>
                <a:spcPts val="864"/>
              </a:lnSpc>
            </a:pPr>
          </a:p>
          <a:p>
            <a:pPr algn="just">
              <a:lnSpc>
                <a:spcPts val="864"/>
              </a:lnSpc>
            </a:pPr>
          </a:p>
          <a:p>
            <a:pPr algn="just">
              <a:lnSpc>
                <a:spcPts val="864"/>
              </a:lnSpc>
            </a:pPr>
          </a:p>
          <a:p>
            <a:pPr algn="just">
              <a:lnSpc>
                <a:spcPts val="864"/>
              </a:lnSpc>
            </a:pPr>
          </a:p>
          <a:p>
            <a:pPr algn="just">
              <a:lnSpc>
                <a:spcPts val="864"/>
              </a:lnSpc>
            </a:pPr>
            <a:r>
              <a:rPr lang="en-US" sz="1728" spc="1">
                <a:solidFill>
                  <a:srgbClr val="16A34A"/>
                </a:solidFill>
                <a:latin typeface="Aptos"/>
                <a:ea typeface="Aptos"/>
                <a:cs typeface="Aptos"/>
                <a:sym typeface="Aptos"/>
              </a:rPr>
              <a:t>$2.06</a:t>
            </a:r>
          </a:p>
          <a:p>
            <a:pPr algn="just" rtl="true">
              <a:lnSpc>
                <a:spcPts val="864"/>
              </a:lnSpc>
            </a:pPr>
          </a:p>
          <a:p>
            <a:pPr algn="just" rtl="true">
              <a:lnSpc>
                <a:spcPts val="864"/>
              </a:lnSpc>
            </a:pPr>
          </a:p>
          <a:p>
            <a:pPr algn="just" rtl="true">
              <a:lnSpc>
                <a:spcPts val="864"/>
              </a:lnSpc>
            </a:pPr>
          </a:p>
          <a:p>
            <a:pPr algn="just">
              <a:lnSpc>
                <a:spcPts val="864"/>
              </a:lnSpc>
            </a:pPr>
            <a:r>
              <a:rPr lang="en-US" sz="1728" spc="1">
                <a:solidFill>
                  <a:srgbClr val="16A34A"/>
                </a:solidFill>
                <a:latin typeface="Aptos"/>
                <a:ea typeface="Aptos"/>
                <a:cs typeface="Aptos"/>
                <a:sym typeface="Aptos"/>
              </a:rPr>
              <a:t>0.03172</a:t>
            </a:r>
          </a:p>
        </p:txBody>
      </p:sp>
      <p:sp>
        <p:nvSpPr>
          <p:cNvPr name="TextBox 16" id="16"/>
          <p:cNvSpPr txBox="true"/>
          <p:nvPr/>
        </p:nvSpPr>
        <p:spPr>
          <a:xfrm rot="0">
            <a:off x="10097767" y="2856471"/>
            <a:ext cx="336775" cy="157172"/>
          </a:xfrm>
          <a:prstGeom prst="rect">
            <a:avLst/>
          </a:prstGeom>
        </p:spPr>
        <p:txBody>
          <a:bodyPr anchor="t" rtlCol="false" tIns="0" lIns="0" bIns="0" rIns="0">
            <a:spAutoFit/>
          </a:bodyPr>
          <a:lstStyle/>
          <a:p>
            <a:pPr algn="l">
              <a:lnSpc>
                <a:spcPts val="1263"/>
              </a:lnSpc>
            </a:pPr>
            <a:r>
              <a:rPr lang="en-US" sz="902">
                <a:solidFill>
                  <a:srgbClr val="475569"/>
                </a:solidFill>
                <a:latin typeface="Aptos"/>
                <a:ea typeface="Aptos"/>
                <a:cs typeface="Aptos"/>
                <a:sym typeface="Aptos"/>
              </a:rPr>
              <a:t>3M DA</a:t>
            </a:r>
          </a:p>
        </p:txBody>
      </p:sp>
      <p:sp>
        <p:nvSpPr>
          <p:cNvPr name="TextBox 17" id="17"/>
          <p:cNvSpPr txBox="true"/>
          <p:nvPr/>
        </p:nvSpPr>
        <p:spPr>
          <a:xfrm rot="0">
            <a:off x="9240269" y="4742478"/>
            <a:ext cx="1671190" cy="727128"/>
          </a:xfrm>
          <a:prstGeom prst="rect">
            <a:avLst/>
          </a:prstGeom>
        </p:spPr>
        <p:txBody>
          <a:bodyPr anchor="t" rtlCol="false" tIns="0" lIns="0" bIns="0" rIns="0">
            <a:spAutoFit/>
          </a:bodyPr>
          <a:lstStyle/>
          <a:p>
            <a:pPr algn="l">
              <a:lnSpc>
                <a:spcPts val="971"/>
              </a:lnSpc>
            </a:pPr>
            <a:r>
              <a:rPr lang="en-US" sz="815">
                <a:solidFill>
                  <a:srgbClr val="0F172A"/>
                </a:solidFill>
                <a:latin typeface="Aptos"/>
                <a:ea typeface="Aptos"/>
                <a:cs typeface="Aptos"/>
                <a:sym typeface="Aptos"/>
              </a:rPr>
              <a:t>Powerf</a:t>
            </a:r>
            <a:r>
              <a:rPr lang="en-US" sz="815">
                <a:solidFill>
                  <a:srgbClr val="0F172A"/>
                </a:solidFill>
                <a:latin typeface="Aptos"/>
                <a:ea typeface="Aptos"/>
                <a:cs typeface="Aptos"/>
                <a:sym typeface="Aptos"/>
              </a:rPr>
              <a:t>ul features: alpha_vs_SPY, VIX_Close, Today's_Return, alpha_vs_QQQ, Volume.</a:t>
            </a:r>
          </a:p>
          <a:p>
            <a:pPr algn="l">
              <a:lnSpc>
                <a:spcPts val="971"/>
              </a:lnSpc>
            </a:pPr>
            <a:r>
              <a:rPr lang="en-US" sz="815">
                <a:solidFill>
                  <a:srgbClr val="0F172A"/>
                </a:solidFill>
                <a:latin typeface="Aptos"/>
                <a:ea typeface="Aptos"/>
                <a:cs typeface="Aptos"/>
                <a:sym typeface="Aptos"/>
              </a:rPr>
              <a:t>Most</a:t>
            </a:r>
            <a:r>
              <a:rPr lang="en-US" sz="815">
                <a:solidFill>
                  <a:srgbClr val="0F172A"/>
                </a:solidFill>
                <a:latin typeface="Aptos"/>
                <a:ea typeface="Aptos"/>
                <a:cs typeface="Aptos"/>
                <a:sym typeface="Aptos"/>
              </a:rPr>
              <a:t> competitive in terms of return RMSE</a:t>
            </a:r>
          </a:p>
          <a:p>
            <a:pPr algn="l">
              <a:lnSpc>
                <a:spcPts val="1535"/>
              </a:lnSpc>
            </a:pPr>
            <a:r>
              <a:rPr lang="en-US" sz="815">
                <a:solidFill>
                  <a:srgbClr val="0F172A"/>
                </a:solidFill>
                <a:latin typeface="Aptos"/>
                <a:ea typeface="Aptos"/>
                <a:cs typeface="Aptos"/>
                <a:sym typeface="Aptos"/>
              </a:rPr>
              <a:t>along with Random Forest.</a:t>
            </a:r>
          </a:p>
        </p:txBody>
      </p:sp>
      <p:sp>
        <p:nvSpPr>
          <p:cNvPr name="TextBox 18" id="18"/>
          <p:cNvSpPr txBox="true"/>
          <p:nvPr/>
        </p:nvSpPr>
        <p:spPr>
          <a:xfrm rot="0">
            <a:off x="533400" y="6334506"/>
            <a:ext cx="2390213"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notebook output, rolling 1-step plots and metrics</a:t>
            </a:r>
          </a:p>
        </p:txBody>
      </p:sp>
      <p:sp>
        <p:nvSpPr>
          <p:cNvPr name="TextBox 19" id="19"/>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16</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427034" y="1627184"/>
            <a:ext cx="8232772" cy="3984622"/>
          </a:xfrm>
          <a:custGeom>
            <a:avLst/>
            <a:gdLst/>
            <a:ahLst/>
            <a:cxnLst/>
            <a:rect r="r" b="b" t="t" l="l"/>
            <a:pathLst>
              <a:path h="3984622" w="8232772">
                <a:moveTo>
                  <a:pt x="0" y="0"/>
                </a:moveTo>
                <a:lnTo>
                  <a:pt x="8232772" y="0"/>
                </a:lnTo>
                <a:lnTo>
                  <a:pt x="8232772" y="3984622"/>
                </a:lnTo>
                <a:lnTo>
                  <a:pt x="0" y="39846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590550" y="1940433"/>
            <a:ext cx="7905750" cy="3358134"/>
            <a:chOff x="0" y="0"/>
            <a:chExt cx="10541000" cy="4477512"/>
          </a:xfrm>
        </p:grpSpPr>
        <p:sp>
          <p:nvSpPr>
            <p:cNvPr name="Freeform 5" id="5"/>
            <p:cNvSpPr/>
            <p:nvPr/>
          </p:nvSpPr>
          <p:spPr>
            <a:xfrm flipH="false" flipV="false" rot="0">
              <a:off x="0" y="0"/>
              <a:ext cx="10541000" cy="4477512"/>
            </a:xfrm>
            <a:custGeom>
              <a:avLst/>
              <a:gdLst/>
              <a:ahLst/>
              <a:cxnLst/>
              <a:rect r="r" b="b" t="t" l="l"/>
              <a:pathLst>
                <a:path h="4477512" w="10541000">
                  <a:moveTo>
                    <a:pt x="0" y="0"/>
                  </a:moveTo>
                  <a:lnTo>
                    <a:pt x="0" y="4477512"/>
                  </a:lnTo>
                  <a:lnTo>
                    <a:pt x="10541000" y="4477512"/>
                  </a:lnTo>
                  <a:lnTo>
                    <a:pt x="10541000" y="0"/>
                  </a:lnTo>
                  <a:lnTo>
                    <a:pt x="0" y="0"/>
                  </a:lnTo>
                  <a:close/>
                </a:path>
              </a:pathLst>
            </a:custGeom>
            <a:blipFill>
              <a:blip r:embed="rId6"/>
              <a:stretch>
                <a:fillRect l="0" t="0" r="0" b="0"/>
              </a:stretch>
            </a:blipFill>
          </p:spPr>
        </p:sp>
      </p:grpSp>
      <p:sp>
        <p:nvSpPr>
          <p:cNvPr name="Freeform 6" id="6"/>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8789984" y="4484684"/>
            <a:ext cx="2517772" cy="1127122"/>
          </a:xfrm>
          <a:custGeom>
            <a:avLst/>
            <a:gdLst/>
            <a:ahLst/>
            <a:cxnLst/>
            <a:rect r="r" b="b" t="t" l="l"/>
            <a:pathLst>
              <a:path h="1127122" w="2517772">
                <a:moveTo>
                  <a:pt x="0" y="0"/>
                </a:moveTo>
                <a:lnTo>
                  <a:pt x="2517772" y="0"/>
                </a:lnTo>
                <a:lnTo>
                  <a:pt x="2517772" y="1127122"/>
                </a:lnTo>
                <a:lnTo>
                  <a:pt x="0" y="11271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8789984" y="1646234"/>
            <a:ext cx="2517772" cy="2784472"/>
          </a:xfrm>
          <a:custGeom>
            <a:avLst/>
            <a:gdLst/>
            <a:ahLst/>
            <a:cxnLst/>
            <a:rect r="r" b="b" t="t" l="l"/>
            <a:pathLst>
              <a:path h="2784472" w="2517772">
                <a:moveTo>
                  <a:pt x="0" y="0"/>
                </a:moveTo>
                <a:lnTo>
                  <a:pt x="2517772" y="0"/>
                </a:lnTo>
                <a:lnTo>
                  <a:pt x="2517772" y="2784472"/>
                </a:lnTo>
                <a:lnTo>
                  <a:pt x="0" y="278447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10097767" y="2399557"/>
            <a:ext cx="487794" cy="156801"/>
          </a:xfrm>
          <a:prstGeom prst="rect">
            <a:avLst/>
          </a:prstGeom>
        </p:spPr>
        <p:txBody>
          <a:bodyPr anchor="t" rtlCol="false" tIns="0" lIns="0" bIns="0" rIns="0">
            <a:spAutoFit/>
          </a:bodyPr>
          <a:lstStyle/>
          <a:p>
            <a:pPr algn="l">
              <a:lnSpc>
                <a:spcPts val="1260"/>
              </a:lnSpc>
            </a:pPr>
            <a:r>
              <a:rPr lang="en-US" sz="900" spc="0">
                <a:solidFill>
                  <a:srgbClr val="475569"/>
                </a:solidFill>
                <a:latin typeface="Aptos"/>
                <a:ea typeface="Aptos"/>
                <a:cs typeface="Aptos"/>
                <a:sym typeface="Aptos"/>
              </a:rPr>
              <a:t>3M MAPE</a:t>
            </a:r>
          </a:p>
        </p:txBody>
      </p:sp>
      <p:sp>
        <p:nvSpPr>
          <p:cNvPr name="TextBox 10" id="10"/>
          <p:cNvSpPr txBox="true"/>
          <p:nvPr/>
        </p:nvSpPr>
        <p:spPr>
          <a:xfrm rot="0">
            <a:off x="10097767" y="3314214"/>
            <a:ext cx="754780" cy="156801"/>
          </a:xfrm>
          <a:prstGeom prst="rect">
            <a:avLst/>
          </a:prstGeom>
        </p:spPr>
        <p:txBody>
          <a:bodyPr anchor="t" rtlCol="false" tIns="0" lIns="0" bIns="0" rIns="0">
            <a:spAutoFit/>
          </a:bodyPr>
          <a:lstStyle/>
          <a:p>
            <a:pPr algn="l">
              <a:lnSpc>
                <a:spcPts val="1260"/>
              </a:lnSpc>
            </a:pPr>
            <a:r>
              <a:rPr lang="en-US" sz="900" spc="0">
                <a:solidFill>
                  <a:srgbClr val="475569"/>
                </a:solidFill>
                <a:latin typeface="Aptos"/>
                <a:ea typeface="Aptos"/>
                <a:cs typeface="Aptos"/>
                <a:sym typeface="Aptos"/>
              </a:rPr>
              <a:t>Full price MAE</a:t>
            </a:r>
          </a:p>
        </p:txBody>
      </p:sp>
      <p:sp>
        <p:nvSpPr>
          <p:cNvPr name="TextBox 11" id="11"/>
          <p:cNvSpPr txBox="true"/>
          <p:nvPr/>
        </p:nvSpPr>
        <p:spPr>
          <a:xfrm rot="0">
            <a:off x="10097767" y="3771414"/>
            <a:ext cx="692058" cy="156801"/>
          </a:xfrm>
          <a:prstGeom prst="rect">
            <a:avLst/>
          </a:prstGeom>
        </p:spPr>
        <p:txBody>
          <a:bodyPr anchor="t" rtlCol="false" tIns="0" lIns="0" bIns="0" rIns="0">
            <a:spAutoFit/>
          </a:bodyPr>
          <a:lstStyle/>
          <a:p>
            <a:pPr algn="l">
              <a:lnSpc>
                <a:spcPts val="1260"/>
              </a:lnSpc>
            </a:pPr>
            <a:r>
              <a:rPr lang="en-US" sz="900" spc="2">
                <a:solidFill>
                  <a:srgbClr val="475569"/>
                </a:solidFill>
                <a:latin typeface="Aptos"/>
                <a:ea typeface="Aptos"/>
                <a:cs typeface="Aptos"/>
                <a:sym typeface="Aptos"/>
              </a:rPr>
              <a:t>Return RMSE</a:t>
            </a:r>
          </a:p>
        </p:txBody>
      </p:sp>
      <p:sp>
        <p:nvSpPr>
          <p:cNvPr name="TextBox 12" id="12"/>
          <p:cNvSpPr txBox="true"/>
          <p:nvPr/>
        </p:nvSpPr>
        <p:spPr>
          <a:xfrm rot="0">
            <a:off x="838200" y="425596"/>
            <a:ext cx="1443552" cy="156801"/>
          </a:xfrm>
          <a:prstGeom prst="rect">
            <a:avLst/>
          </a:prstGeom>
        </p:spPr>
        <p:txBody>
          <a:bodyPr anchor="t" rtlCol="false" tIns="0" lIns="0" bIns="0" rIns="0">
            <a:spAutoFit/>
          </a:bodyPr>
          <a:lstStyle/>
          <a:p>
            <a:pPr algn="l">
              <a:lnSpc>
                <a:spcPts val="1260"/>
              </a:lnSpc>
            </a:pPr>
            <a:r>
              <a:rPr lang="en-US" sz="900">
                <a:solidFill>
                  <a:srgbClr val="0E7490"/>
                </a:solidFill>
                <a:latin typeface="Aptos"/>
                <a:ea typeface="Aptos"/>
                <a:cs typeface="Aptos"/>
                <a:sym typeface="Aptos"/>
              </a:rPr>
              <a:t>ROLLING PLOT -LIGHTGBM</a:t>
            </a:r>
          </a:p>
        </p:txBody>
      </p:sp>
      <p:sp>
        <p:nvSpPr>
          <p:cNvPr name="TextBox 13" id="13"/>
          <p:cNvSpPr txBox="true"/>
          <p:nvPr/>
        </p:nvSpPr>
        <p:spPr>
          <a:xfrm rot="0">
            <a:off x="533400" y="693639"/>
            <a:ext cx="7917855" cy="405765"/>
          </a:xfrm>
          <a:prstGeom prst="rect">
            <a:avLst/>
          </a:prstGeom>
        </p:spPr>
        <p:txBody>
          <a:bodyPr anchor="t" rtlCol="false" tIns="0" lIns="0" bIns="0" rIns="0">
            <a:spAutoFit/>
          </a:bodyPr>
          <a:lstStyle/>
          <a:p>
            <a:pPr algn="l">
              <a:lnSpc>
                <a:spcPts val="3359"/>
              </a:lnSpc>
            </a:pPr>
            <a:r>
              <a:rPr lang="en-US" sz="2400">
                <a:solidFill>
                  <a:srgbClr val="0F172A"/>
                </a:solidFill>
                <a:latin typeface="Aptos"/>
                <a:ea typeface="Aptos"/>
                <a:cs typeface="Aptos"/>
                <a:sym typeface="Aptos"/>
              </a:rPr>
              <a:t>LightGBM is the cleanest tree-based model for rolling prices.</a:t>
            </a:r>
          </a:p>
        </p:txBody>
      </p:sp>
      <p:sp>
        <p:nvSpPr>
          <p:cNvPr name="TextBox 14" id="14"/>
          <p:cNvSpPr txBox="true"/>
          <p:nvPr/>
        </p:nvSpPr>
        <p:spPr>
          <a:xfrm rot="0">
            <a:off x="9087869" y="1902733"/>
            <a:ext cx="1060847" cy="281727"/>
          </a:xfrm>
          <a:prstGeom prst="rect">
            <a:avLst/>
          </a:prstGeom>
        </p:spPr>
        <p:txBody>
          <a:bodyPr anchor="t" rtlCol="false" tIns="0" lIns="0" bIns="0" rIns="0">
            <a:spAutoFit/>
          </a:bodyPr>
          <a:lstStyle/>
          <a:p>
            <a:pPr algn="l">
              <a:lnSpc>
                <a:spcPts val="2321"/>
              </a:lnSpc>
            </a:pPr>
            <a:r>
              <a:rPr lang="en-US" sz="1658">
                <a:solidFill>
                  <a:srgbClr val="0F172A"/>
                </a:solidFill>
                <a:latin typeface="Aptos"/>
                <a:ea typeface="Aptos"/>
                <a:cs typeface="Aptos"/>
                <a:sym typeface="Aptos"/>
              </a:rPr>
              <a:t>Key m</a:t>
            </a:r>
            <a:r>
              <a:rPr lang="en-US" sz="1658">
                <a:solidFill>
                  <a:srgbClr val="0F172A"/>
                </a:solidFill>
                <a:latin typeface="Aptos"/>
                <a:ea typeface="Aptos"/>
                <a:cs typeface="Aptos"/>
                <a:sym typeface="Aptos"/>
              </a:rPr>
              <a:t>etrics</a:t>
            </a:r>
          </a:p>
        </p:txBody>
      </p:sp>
      <p:sp>
        <p:nvSpPr>
          <p:cNvPr name="TextBox 15" id="15"/>
          <p:cNvSpPr txBox="true"/>
          <p:nvPr/>
        </p:nvSpPr>
        <p:spPr>
          <a:xfrm rot="0">
            <a:off x="9125969" y="2494445"/>
            <a:ext cx="785470" cy="1506169"/>
          </a:xfrm>
          <a:prstGeom prst="rect">
            <a:avLst/>
          </a:prstGeom>
        </p:spPr>
        <p:txBody>
          <a:bodyPr anchor="t" rtlCol="false" tIns="0" lIns="0" bIns="0" rIns="0">
            <a:spAutoFit/>
          </a:bodyPr>
          <a:lstStyle/>
          <a:p>
            <a:pPr algn="just">
              <a:lnSpc>
                <a:spcPts val="864"/>
              </a:lnSpc>
            </a:pPr>
            <a:r>
              <a:rPr lang="en-US" sz="1728" spc="1">
                <a:solidFill>
                  <a:srgbClr val="0E7490"/>
                </a:solidFill>
                <a:latin typeface="Aptos"/>
                <a:ea typeface="Aptos"/>
                <a:cs typeface="Aptos"/>
                <a:sym typeface="Aptos"/>
              </a:rPr>
              <a:t>1.86%</a:t>
            </a:r>
          </a:p>
          <a:p>
            <a:pPr algn="just">
              <a:lnSpc>
                <a:spcPts val="864"/>
              </a:lnSpc>
            </a:pPr>
          </a:p>
          <a:p>
            <a:pPr algn="just">
              <a:lnSpc>
                <a:spcPts val="864"/>
              </a:lnSpc>
            </a:pPr>
          </a:p>
          <a:p>
            <a:pPr algn="just">
              <a:lnSpc>
                <a:spcPts val="864"/>
              </a:lnSpc>
            </a:pPr>
          </a:p>
          <a:p>
            <a:pPr algn="just">
              <a:lnSpc>
                <a:spcPts val="864"/>
              </a:lnSpc>
            </a:pPr>
            <a:r>
              <a:rPr lang="en-US" sz="1728" spc="1">
                <a:solidFill>
                  <a:srgbClr val="0E7490"/>
                </a:solidFill>
                <a:latin typeface="Aptos"/>
                <a:ea typeface="Aptos"/>
                <a:cs typeface="Aptos"/>
                <a:sym typeface="Aptos"/>
              </a:rPr>
              <a:t>57.1%</a:t>
            </a:r>
          </a:p>
          <a:p>
            <a:pPr algn="just">
              <a:lnSpc>
                <a:spcPts val="864"/>
              </a:lnSpc>
            </a:pPr>
          </a:p>
          <a:p>
            <a:pPr algn="just">
              <a:lnSpc>
                <a:spcPts val="864"/>
              </a:lnSpc>
            </a:pPr>
          </a:p>
          <a:p>
            <a:pPr algn="just">
              <a:lnSpc>
                <a:spcPts val="864"/>
              </a:lnSpc>
            </a:pPr>
          </a:p>
          <a:p>
            <a:pPr algn="just">
              <a:lnSpc>
                <a:spcPts val="864"/>
              </a:lnSpc>
            </a:pPr>
          </a:p>
          <a:p>
            <a:pPr algn="just">
              <a:lnSpc>
                <a:spcPts val="864"/>
              </a:lnSpc>
            </a:pPr>
            <a:r>
              <a:rPr lang="en-US" sz="1728" spc="1">
                <a:solidFill>
                  <a:srgbClr val="0E7490"/>
                </a:solidFill>
                <a:latin typeface="Aptos"/>
                <a:ea typeface="Aptos"/>
                <a:cs typeface="Aptos"/>
                <a:sym typeface="Aptos"/>
              </a:rPr>
              <a:t>$2.05</a:t>
            </a:r>
          </a:p>
          <a:p>
            <a:pPr algn="just" rtl="true">
              <a:lnSpc>
                <a:spcPts val="864"/>
              </a:lnSpc>
            </a:pPr>
          </a:p>
          <a:p>
            <a:pPr algn="just" rtl="true">
              <a:lnSpc>
                <a:spcPts val="864"/>
              </a:lnSpc>
            </a:pPr>
          </a:p>
          <a:p>
            <a:pPr algn="just" rtl="true">
              <a:lnSpc>
                <a:spcPts val="864"/>
              </a:lnSpc>
            </a:pPr>
          </a:p>
          <a:p>
            <a:pPr algn="just">
              <a:lnSpc>
                <a:spcPts val="864"/>
              </a:lnSpc>
            </a:pPr>
            <a:r>
              <a:rPr lang="en-US" sz="1728" spc="1">
                <a:solidFill>
                  <a:srgbClr val="0E7490"/>
                </a:solidFill>
                <a:latin typeface="Aptos"/>
                <a:ea typeface="Aptos"/>
                <a:cs typeface="Aptos"/>
                <a:sym typeface="Aptos"/>
              </a:rPr>
              <a:t>0.03174</a:t>
            </a:r>
          </a:p>
        </p:txBody>
      </p:sp>
      <p:sp>
        <p:nvSpPr>
          <p:cNvPr name="TextBox 16" id="16"/>
          <p:cNvSpPr txBox="true"/>
          <p:nvPr/>
        </p:nvSpPr>
        <p:spPr>
          <a:xfrm rot="0">
            <a:off x="10097767" y="2856471"/>
            <a:ext cx="336775" cy="157172"/>
          </a:xfrm>
          <a:prstGeom prst="rect">
            <a:avLst/>
          </a:prstGeom>
        </p:spPr>
        <p:txBody>
          <a:bodyPr anchor="t" rtlCol="false" tIns="0" lIns="0" bIns="0" rIns="0">
            <a:spAutoFit/>
          </a:bodyPr>
          <a:lstStyle/>
          <a:p>
            <a:pPr algn="l">
              <a:lnSpc>
                <a:spcPts val="1263"/>
              </a:lnSpc>
            </a:pPr>
            <a:r>
              <a:rPr lang="en-US" sz="902">
                <a:solidFill>
                  <a:srgbClr val="475569"/>
                </a:solidFill>
                <a:latin typeface="Aptos"/>
                <a:ea typeface="Aptos"/>
                <a:cs typeface="Aptos"/>
                <a:sym typeface="Aptos"/>
              </a:rPr>
              <a:t>3M DA</a:t>
            </a:r>
          </a:p>
        </p:txBody>
      </p:sp>
      <p:sp>
        <p:nvSpPr>
          <p:cNvPr name="TextBox 17" id="17"/>
          <p:cNvSpPr txBox="true"/>
          <p:nvPr/>
        </p:nvSpPr>
        <p:spPr>
          <a:xfrm rot="0">
            <a:off x="9258524" y="4668831"/>
            <a:ext cx="1780384" cy="803328"/>
          </a:xfrm>
          <a:prstGeom prst="rect">
            <a:avLst/>
          </a:prstGeom>
        </p:spPr>
        <p:txBody>
          <a:bodyPr anchor="t" rtlCol="false" tIns="0" lIns="0" bIns="0" rIns="0">
            <a:spAutoFit/>
          </a:bodyPr>
          <a:lstStyle/>
          <a:p>
            <a:pPr algn="l">
              <a:lnSpc>
                <a:spcPts val="971"/>
              </a:lnSpc>
            </a:pPr>
            <a:r>
              <a:rPr lang="en-US" sz="815">
                <a:solidFill>
                  <a:srgbClr val="0F172A"/>
                </a:solidFill>
                <a:latin typeface="Aptos"/>
                <a:ea typeface="Aptos"/>
                <a:cs typeface="Aptos"/>
                <a:sym typeface="Aptos"/>
              </a:rPr>
              <a:t>Powe</a:t>
            </a:r>
            <a:r>
              <a:rPr lang="en-US" sz="815">
                <a:solidFill>
                  <a:srgbClr val="0F172A"/>
                </a:solidFill>
                <a:latin typeface="Aptos"/>
                <a:ea typeface="Aptos"/>
                <a:cs typeface="Aptos"/>
                <a:sym typeface="Aptos"/>
              </a:rPr>
              <a:t>rful features: RSI_14, Volume, Today's Return, volume/close lag, rolling mean/standard deviation, Bollinger Bands.</a:t>
            </a:r>
          </a:p>
          <a:p>
            <a:pPr algn="l">
              <a:lnSpc>
                <a:spcPts val="1535"/>
              </a:lnSpc>
            </a:pPr>
            <a:r>
              <a:rPr lang="en-US" sz="815">
                <a:solidFill>
                  <a:srgbClr val="0F172A"/>
                </a:solidFill>
                <a:latin typeface="Aptos"/>
                <a:ea typeface="Aptos"/>
                <a:cs typeface="Aptos"/>
                <a:sym typeface="Aptos"/>
              </a:rPr>
              <a:t>U</a:t>
            </a:r>
            <a:r>
              <a:rPr lang="en-US" sz="815">
                <a:solidFill>
                  <a:srgbClr val="0F172A"/>
                </a:solidFill>
                <a:latin typeface="Aptos"/>
                <a:ea typeface="Aptos"/>
                <a:cs typeface="Aptos"/>
                <a:sym typeface="Aptos"/>
              </a:rPr>
              <a:t>sed as a baseline for interpretation in previous </a:t>
            </a:r>
            <a:r>
              <a:rPr lang="en-US" sz="815">
                <a:solidFill>
                  <a:srgbClr val="0F172A"/>
                </a:solidFill>
                <a:latin typeface="Aptos"/>
                <a:ea typeface="Aptos"/>
                <a:cs typeface="Aptos"/>
                <a:sym typeface="Aptos"/>
              </a:rPr>
              <a:t>decks.</a:t>
            </a:r>
          </a:p>
        </p:txBody>
      </p:sp>
      <p:sp>
        <p:nvSpPr>
          <p:cNvPr name="TextBox 18" id="18"/>
          <p:cNvSpPr txBox="true"/>
          <p:nvPr/>
        </p:nvSpPr>
        <p:spPr>
          <a:xfrm rot="0">
            <a:off x="533400" y="6334506"/>
            <a:ext cx="2390213"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notebook output, rolling 1-step plots and metrics</a:t>
            </a:r>
          </a:p>
        </p:txBody>
      </p:sp>
      <p:sp>
        <p:nvSpPr>
          <p:cNvPr name="TextBox 19" id="19"/>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17</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427034" y="1627184"/>
            <a:ext cx="8232772" cy="3984622"/>
          </a:xfrm>
          <a:custGeom>
            <a:avLst/>
            <a:gdLst/>
            <a:ahLst/>
            <a:cxnLst/>
            <a:rect r="r" b="b" t="t" l="l"/>
            <a:pathLst>
              <a:path h="3984622" w="8232772">
                <a:moveTo>
                  <a:pt x="0" y="0"/>
                </a:moveTo>
                <a:lnTo>
                  <a:pt x="8232772" y="0"/>
                </a:lnTo>
                <a:lnTo>
                  <a:pt x="8232772" y="3984622"/>
                </a:lnTo>
                <a:lnTo>
                  <a:pt x="0" y="39846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590550" y="1940433"/>
            <a:ext cx="7905750" cy="3358134"/>
            <a:chOff x="0" y="0"/>
            <a:chExt cx="10541000" cy="4477512"/>
          </a:xfrm>
        </p:grpSpPr>
        <p:sp>
          <p:nvSpPr>
            <p:cNvPr name="Freeform 5" id="5"/>
            <p:cNvSpPr/>
            <p:nvPr/>
          </p:nvSpPr>
          <p:spPr>
            <a:xfrm flipH="false" flipV="false" rot="0">
              <a:off x="0" y="0"/>
              <a:ext cx="10541000" cy="4477512"/>
            </a:xfrm>
            <a:custGeom>
              <a:avLst/>
              <a:gdLst/>
              <a:ahLst/>
              <a:cxnLst/>
              <a:rect r="r" b="b" t="t" l="l"/>
              <a:pathLst>
                <a:path h="4477512" w="10541000">
                  <a:moveTo>
                    <a:pt x="0" y="0"/>
                  </a:moveTo>
                  <a:lnTo>
                    <a:pt x="0" y="4477512"/>
                  </a:lnTo>
                  <a:lnTo>
                    <a:pt x="10541000" y="4477512"/>
                  </a:lnTo>
                  <a:lnTo>
                    <a:pt x="10541000" y="0"/>
                  </a:lnTo>
                  <a:lnTo>
                    <a:pt x="0" y="0"/>
                  </a:lnTo>
                  <a:close/>
                </a:path>
              </a:pathLst>
            </a:custGeom>
            <a:blipFill>
              <a:blip r:embed="rId6"/>
              <a:stretch>
                <a:fillRect l="0" t="0" r="0" b="0"/>
              </a:stretch>
            </a:blipFill>
          </p:spPr>
        </p:sp>
      </p:grpSp>
      <p:sp>
        <p:nvSpPr>
          <p:cNvPr name="Freeform 6" id="6"/>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8789984" y="4484684"/>
            <a:ext cx="2517772" cy="1127122"/>
          </a:xfrm>
          <a:custGeom>
            <a:avLst/>
            <a:gdLst/>
            <a:ahLst/>
            <a:cxnLst/>
            <a:rect r="r" b="b" t="t" l="l"/>
            <a:pathLst>
              <a:path h="1127122" w="2517772">
                <a:moveTo>
                  <a:pt x="0" y="0"/>
                </a:moveTo>
                <a:lnTo>
                  <a:pt x="2517772" y="0"/>
                </a:lnTo>
                <a:lnTo>
                  <a:pt x="2517772" y="1127122"/>
                </a:lnTo>
                <a:lnTo>
                  <a:pt x="0" y="11271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8789984" y="1646234"/>
            <a:ext cx="2517772" cy="2784472"/>
          </a:xfrm>
          <a:custGeom>
            <a:avLst/>
            <a:gdLst/>
            <a:ahLst/>
            <a:cxnLst/>
            <a:rect r="r" b="b" t="t" l="l"/>
            <a:pathLst>
              <a:path h="2784472" w="2517772">
                <a:moveTo>
                  <a:pt x="0" y="0"/>
                </a:moveTo>
                <a:lnTo>
                  <a:pt x="2517772" y="0"/>
                </a:lnTo>
                <a:lnTo>
                  <a:pt x="2517772" y="2784472"/>
                </a:lnTo>
                <a:lnTo>
                  <a:pt x="0" y="278447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10097767" y="2399557"/>
            <a:ext cx="487794" cy="156801"/>
          </a:xfrm>
          <a:prstGeom prst="rect">
            <a:avLst/>
          </a:prstGeom>
        </p:spPr>
        <p:txBody>
          <a:bodyPr anchor="t" rtlCol="false" tIns="0" lIns="0" bIns="0" rIns="0">
            <a:spAutoFit/>
          </a:bodyPr>
          <a:lstStyle/>
          <a:p>
            <a:pPr algn="l">
              <a:lnSpc>
                <a:spcPts val="1260"/>
              </a:lnSpc>
            </a:pPr>
            <a:r>
              <a:rPr lang="en-US" sz="900" spc="0">
                <a:solidFill>
                  <a:srgbClr val="475569"/>
                </a:solidFill>
                <a:latin typeface="Aptos"/>
                <a:ea typeface="Aptos"/>
                <a:cs typeface="Aptos"/>
                <a:sym typeface="Aptos"/>
              </a:rPr>
              <a:t>3M MAPE</a:t>
            </a:r>
          </a:p>
        </p:txBody>
      </p:sp>
      <p:sp>
        <p:nvSpPr>
          <p:cNvPr name="TextBox 10" id="10"/>
          <p:cNvSpPr txBox="true"/>
          <p:nvPr/>
        </p:nvSpPr>
        <p:spPr>
          <a:xfrm rot="0">
            <a:off x="10097767" y="3314214"/>
            <a:ext cx="754780" cy="156801"/>
          </a:xfrm>
          <a:prstGeom prst="rect">
            <a:avLst/>
          </a:prstGeom>
        </p:spPr>
        <p:txBody>
          <a:bodyPr anchor="t" rtlCol="false" tIns="0" lIns="0" bIns="0" rIns="0">
            <a:spAutoFit/>
          </a:bodyPr>
          <a:lstStyle/>
          <a:p>
            <a:pPr algn="l">
              <a:lnSpc>
                <a:spcPts val="1260"/>
              </a:lnSpc>
            </a:pPr>
            <a:r>
              <a:rPr lang="en-US" sz="900" spc="0">
                <a:solidFill>
                  <a:srgbClr val="475569"/>
                </a:solidFill>
                <a:latin typeface="Aptos"/>
                <a:ea typeface="Aptos"/>
                <a:cs typeface="Aptos"/>
                <a:sym typeface="Aptos"/>
              </a:rPr>
              <a:t>Full price MAE</a:t>
            </a:r>
          </a:p>
        </p:txBody>
      </p:sp>
      <p:sp>
        <p:nvSpPr>
          <p:cNvPr name="TextBox 11" id="11"/>
          <p:cNvSpPr txBox="true"/>
          <p:nvPr/>
        </p:nvSpPr>
        <p:spPr>
          <a:xfrm rot="0">
            <a:off x="10097767" y="3771414"/>
            <a:ext cx="539439" cy="156801"/>
          </a:xfrm>
          <a:prstGeom prst="rect">
            <a:avLst/>
          </a:prstGeom>
        </p:spPr>
        <p:txBody>
          <a:bodyPr anchor="t" rtlCol="false" tIns="0" lIns="0" bIns="0" rIns="0">
            <a:spAutoFit/>
          </a:bodyPr>
          <a:lstStyle/>
          <a:p>
            <a:pPr algn="l">
              <a:lnSpc>
                <a:spcPts val="1260"/>
              </a:lnSpc>
            </a:pPr>
            <a:r>
              <a:rPr lang="en-US" sz="900" spc="2">
                <a:solidFill>
                  <a:srgbClr val="475569"/>
                </a:solidFill>
                <a:latin typeface="Aptos"/>
                <a:ea typeface="Aptos"/>
                <a:cs typeface="Aptos"/>
                <a:sym typeface="Aptos"/>
              </a:rPr>
              <a:t>Return DA</a:t>
            </a:r>
          </a:p>
        </p:txBody>
      </p:sp>
      <p:sp>
        <p:nvSpPr>
          <p:cNvPr name="TextBox 12" id="12"/>
          <p:cNvSpPr txBox="true"/>
          <p:nvPr/>
        </p:nvSpPr>
        <p:spPr>
          <a:xfrm rot="0">
            <a:off x="838200" y="425596"/>
            <a:ext cx="1906210" cy="156801"/>
          </a:xfrm>
          <a:prstGeom prst="rect">
            <a:avLst/>
          </a:prstGeom>
        </p:spPr>
        <p:txBody>
          <a:bodyPr anchor="t" rtlCol="false" tIns="0" lIns="0" bIns="0" rIns="0">
            <a:spAutoFit/>
          </a:bodyPr>
          <a:lstStyle/>
          <a:p>
            <a:pPr algn="l">
              <a:lnSpc>
                <a:spcPts val="1260"/>
              </a:lnSpc>
            </a:pPr>
            <a:r>
              <a:rPr lang="en-US" sz="900">
                <a:solidFill>
                  <a:srgbClr val="0E7490"/>
                </a:solidFill>
                <a:latin typeface="Aptos"/>
                <a:ea typeface="Aptos"/>
                <a:cs typeface="Aptos"/>
                <a:sym typeface="Aptos"/>
              </a:rPr>
              <a:t>ROLLING PLOT -BILSTM-ATTENTION</a:t>
            </a:r>
          </a:p>
        </p:txBody>
      </p:sp>
      <p:sp>
        <p:nvSpPr>
          <p:cNvPr name="TextBox 13" id="13"/>
          <p:cNvSpPr txBox="true"/>
          <p:nvPr/>
        </p:nvSpPr>
        <p:spPr>
          <a:xfrm rot="0">
            <a:off x="533400" y="693639"/>
            <a:ext cx="10219096" cy="824865"/>
          </a:xfrm>
          <a:prstGeom prst="rect">
            <a:avLst/>
          </a:prstGeom>
        </p:spPr>
        <p:txBody>
          <a:bodyPr anchor="t" rtlCol="false" tIns="0" lIns="0" bIns="0" rIns="0">
            <a:spAutoFit/>
          </a:bodyPr>
          <a:lstStyle/>
          <a:p>
            <a:pPr algn="l">
              <a:lnSpc>
                <a:spcPts val="3359"/>
              </a:lnSpc>
            </a:pPr>
            <a:r>
              <a:rPr lang="en-US" sz="2400">
                <a:solidFill>
                  <a:srgbClr val="0F172A"/>
                </a:solidFill>
                <a:latin typeface="Aptos"/>
                <a:ea typeface="Aptos"/>
                <a:cs typeface="Aptos"/>
                <a:sym typeface="Aptos"/>
              </a:rPr>
              <a:t>BiLSTM-Attention gives the highest directional accuracy on test returns and the last 3 months.</a:t>
            </a:r>
          </a:p>
        </p:txBody>
      </p:sp>
      <p:sp>
        <p:nvSpPr>
          <p:cNvPr name="TextBox 14" id="14"/>
          <p:cNvSpPr txBox="true"/>
          <p:nvPr/>
        </p:nvSpPr>
        <p:spPr>
          <a:xfrm rot="0">
            <a:off x="9087869" y="1902733"/>
            <a:ext cx="1060847" cy="281727"/>
          </a:xfrm>
          <a:prstGeom prst="rect">
            <a:avLst/>
          </a:prstGeom>
        </p:spPr>
        <p:txBody>
          <a:bodyPr anchor="t" rtlCol="false" tIns="0" lIns="0" bIns="0" rIns="0">
            <a:spAutoFit/>
          </a:bodyPr>
          <a:lstStyle/>
          <a:p>
            <a:pPr algn="l">
              <a:lnSpc>
                <a:spcPts val="2321"/>
              </a:lnSpc>
            </a:pPr>
            <a:r>
              <a:rPr lang="en-US" sz="1658">
                <a:solidFill>
                  <a:srgbClr val="0F172A"/>
                </a:solidFill>
                <a:latin typeface="Aptos"/>
                <a:ea typeface="Aptos"/>
                <a:cs typeface="Aptos"/>
                <a:sym typeface="Aptos"/>
              </a:rPr>
              <a:t>Key m</a:t>
            </a:r>
            <a:r>
              <a:rPr lang="en-US" sz="1658">
                <a:solidFill>
                  <a:srgbClr val="0F172A"/>
                </a:solidFill>
                <a:latin typeface="Aptos"/>
                <a:ea typeface="Aptos"/>
                <a:cs typeface="Aptos"/>
                <a:sym typeface="Aptos"/>
              </a:rPr>
              <a:t>etrics</a:t>
            </a:r>
          </a:p>
        </p:txBody>
      </p:sp>
      <p:sp>
        <p:nvSpPr>
          <p:cNvPr name="TextBox 15" id="15"/>
          <p:cNvSpPr txBox="true"/>
          <p:nvPr/>
        </p:nvSpPr>
        <p:spPr>
          <a:xfrm rot="0">
            <a:off x="9125969" y="2494445"/>
            <a:ext cx="731072" cy="1506169"/>
          </a:xfrm>
          <a:prstGeom prst="rect">
            <a:avLst/>
          </a:prstGeom>
        </p:spPr>
        <p:txBody>
          <a:bodyPr anchor="t" rtlCol="false" tIns="0" lIns="0" bIns="0" rIns="0">
            <a:spAutoFit/>
          </a:bodyPr>
          <a:lstStyle/>
          <a:p>
            <a:pPr algn="just">
              <a:lnSpc>
                <a:spcPts val="864"/>
              </a:lnSpc>
            </a:pPr>
            <a:r>
              <a:rPr lang="en-US" sz="1728" spc="1">
                <a:solidFill>
                  <a:srgbClr val="7C3AED"/>
                </a:solidFill>
                <a:latin typeface="Aptos"/>
                <a:ea typeface="Aptos"/>
                <a:cs typeface="Aptos"/>
                <a:sym typeface="Aptos"/>
              </a:rPr>
              <a:t>1.89%</a:t>
            </a:r>
          </a:p>
          <a:p>
            <a:pPr algn="just">
              <a:lnSpc>
                <a:spcPts val="864"/>
              </a:lnSpc>
            </a:pPr>
          </a:p>
          <a:p>
            <a:pPr algn="just">
              <a:lnSpc>
                <a:spcPts val="864"/>
              </a:lnSpc>
            </a:pPr>
          </a:p>
          <a:p>
            <a:pPr algn="just">
              <a:lnSpc>
                <a:spcPts val="864"/>
              </a:lnSpc>
            </a:pPr>
          </a:p>
          <a:p>
            <a:pPr algn="just">
              <a:lnSpc>
                <a:spcPts val="864"/>
              </a:lnSpc>
            </a:pPr>
            <a:r>
              <a:rPr lang="en-US" sz="1728" spc="1">
                <a:solidFill>
                  <a:srgbClr val="7C3AED"/>
                </a:solidFill>
                <a:latin typeface="Aptos"/>
                <a:ea typeface="Aptos"/>
                <a:cs typeface="Aptos"/>
                <a:sym typeface="Aptos"/>
              </a:rPr>
              <a:t>58.7%</a:t>
            </a:r>
          </a:p>
          <a:p>
            <a:pPr algn="just">
              <a:lnSpc>
                <a:spcPts val="864"/>
              </a:lnSpc>
            </a:pPr>
          </a:p>
          <a:p>
            <a:pPr algn="just">
              <a:lnSpc>
                <a:spcPts val="864"/>
              </a:lnSpc>
            </a:pPr>
          </a:p>
          <a:p>
            <a:pPr algn="just">
              <a:lnSpc>
                <a:spcPts val="864"/>
              </a:lnSpc>
            </a:pPr>
          </a:p>
          <a:p>
            <a:pPr algn="just">
              <a:lnSpc>
                <a:spcPts val="864"/>
              </a:lnSpc>
            </a:pPr>
          </a:p>
          <a:p>
            <a:pPr algn="just">
              <a:lnSpc>
                <a:spcPts val="864"/>
              </a:lnSpc>
            </a:pPr>
            <a:r>
              <a:rPr lang="en-US" sz="1728" spc="1">
                <a:solidFill>
                  <a:srgbClr val="7C3AED"/>
                </a:solidFill>
                <a:latin typeface="Aptos"/>
                <a:ea typeface="Aptos"/>
                <a:cs typeface="Aptos"/>
                <a:sym typeface="Aptos"/>
              </a:rPr>
              <a:t>$2.10</a:t>
            </a:r>
          </a:p>
          <a:p>
            <a:pPr algn="just" rtl="true">
              <a:lnSpc>
                <a:spcPts val="864"/>
              </a:lnSpc>
            </a:pPr>
          </a:p>
          <a:p>
            <a:pPr algn="just" rtl="true">
              <a:lnSpc>
                <a:spcPts val="864"/>
              </a:lnSpc>
            </a:pPr>
          </a:p>
          <a:p>
            <a:pPr algn="just" rtl="true">
              <a:lnSpc>
                <a:spcPts val="864"/>
              </a:lnSpc>
            </a:pPr>
          </a:p>
          <a:p>
            <a:pPr algn="just">
              <a:lnSpc>
                <a:spcPts val="864"/>
              </a:lnSpc>
            </a:pPr>
            <a:r>
              <a:rPr lang="en-US" sz="1728" spc="1">
                <a:solidFill>
                  <a:srgbClr val="7C3AED"/>
                </a:solidFill>
                <a:latin typeface="Aptos"/>
                <a:ea typeface="Aptos"/>
                <a:cs typeface="Aptos"/>
                <a:sym typeface="Aptos"/>
              </a:rPr>
              <a:t>54.85%</a:t>
            </a:r>
          </a:p>
        </p:txBody>
      </p:sp>
      <p:sp>
        <p:nvSpPr>
          <p:cNvPr name="TextBox 16" id="16"/>
          <p:cNvSpPr txBox="true"/>
          <p:nvPr/>
        </p:nvSpPr>
        <p:spPr>
          <a:xfrm rot="0">
            <a:off x="10097767" y="2856471"/>
            <a:ext cx="336775" cy="157172"/>
          </a:xfrm>
          <a:prstGeom prst="rect">
            <a:avLst/>
          </a:prstGeom>
        </p:spPr>
        <p:txBody>
          <a:bodyPr anchor="t" rtlCol="false" tIns="0" lIns="0" bIns="0" rIns="0">
            <a:spAutoFit/>
          </a:bodyPr>
          <a:lstStyle/>
          <a:p>
            <a:pPr algn="l">
              <a:lnSpc>
                <a:spcPts val="1263"/>
              </a:lnSpc>
            </a:pPr>
            <a:r>
              <a:rPr lang="en-US" sz="902">
                <a:solidFill>
                  <a:srgbClr val="475569"/>
                </a:solidFill>
                <a:latin typeface="Aptos"/>
                <a:ea typeface="Aptos"/>
                <a:cs typeface="Aptos"/>
                <a:sym typeface="Aptos"/>
              </a:rPr>
              <a:t>3M DA</a:t>
            </a:r>
          </a:p>
        </p:txBody>
      </p:sp>
      <p:sp>
        <p:nvSpPr>
          <p:cNvPr name="TextBox 17" id="17"/>
          <p:cNvSpPr txBox="true"/>
          <p:nvPr/>
        </p:nvSpPr>
        <p:spPr>
          <a:xfrm rot="0">
            <a:off x="9240269" y="4742478"/>
            <a:ext cx="1862938" cy="572433"/>
          </a:xfrm>
          <a:prstGeom prst="rect">
            <a:avLst/>
          </a:prstGeom>
        </p:spPr>
        <p:txBody>
          <a:bodyPr anchor="t" rtlCol="false" tIns="0" lIns="0" bIns="0" rIns="0">
            <a:spAutoFit/>
          </a:bodyPr>
          <a:lstStyle/>
          <a:p>
            <a:pPr algn="l">
              <a:lnSpc>
                <a:spcPts val="971"/>
              </a:lnSpc>
            </a:pPr>
            <a:r>
              <a:rPr lang="en-US" sz="815">
                <a:solidFill>
                  <a:srgbClr val="0F172A"/>
                </a:solidFill>
                <a:latin typeface="Aptos"/>
                <a:ea typeface="Aptos"/>
                <a:cs typeface="Aptos"/>
                <a:sym typeface="Aptos"/>
              </a:rPr>
              <a:t>Sequence time_steps=10 with 20 selected features.</a:t>
            </a:r>
          </a:p>
          <a:p>
            <a:pPr algn="l">
              <a:lnSpc>
                <a:spcPts val="971"/>
              </a:lnSpc>
            </a:pPr>
          </a:p>
          <a:p>
            <a:pPr algn="l">
              <a:lnSpc>
                <a:spcPts val="971"/>
              </a:lnSpc>
            </a:pPr>
            <a:r>
              <a:rPr lang="en-US" sz="815">
                <a:solidFill>
                  <a:srgbClr val="0F172A"/>
                </a:solidFill>
                <a:latin typeface="Aptos"/>
                <a:ea typeface="Aptos"/>
                <a:cs typeface="Aptos"/>
                <a:sym typeface="Aptos"/>
              </a:rPr>
              <a:t>This m</a:t>
            </a:r>
            <a:r>
              <a:rPr lang="en-US" sz="815">
                <a:solidFill>
                  <a:srgbClr val="0F172A"/>
                </a:solidFill>
                <a:latin typeface="Aptos"/>
                <a:ea typeface="Aptos"/>
                <a:cs typeface="Aptos"/>
                <a:sym typeface="Aptos"/>
              </a:rPr>
              <a:t>odel is a prime candidate for XAI BiLSTM.</a:t>
            </a:r>
          </a:p>
        </p:txBody>
      </p:sp>
      <p:sp>
        <p:nvSpPr>
          <p:cNvPr name="TextBox 18" id="18"/>
          <p:cNvSpPr txBox="true"/>
          <p:nvPr/>
        </p:nvSpPr>
        <p:spPr>
          <a:xfrm rot="0">
            <a:off x="533400" y="6334506"/>
            <a:ext cx="2390213"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notebook output, rolling 1-step plots and metrics</a:t>
            </a:r>
          </a:p>
        </p:txBody>
      </p:sp>
      <p:sp>
        <p:nvSpPr>
          <p:cNvPr name="TextBox 19" id="19"/>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18</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427034" y="1627184"/>
            <a:ext cx="8232772" cy="3984622"/>
          </a:xfrm>
          <a:custGeom>
            <a:avLst/>
            <a:gdLst/>
            <a:ahLst/>
            <a:cxnLst/>
            <a:rect r="r" b="b" t="t" l="l"/>
            <a:pathLst>
              <a:path h="3984622" w="8232772">
                <a:moveTo>
                  <a:pt x="0" y="0"/>
                </a:moveTo>
                <a:lnTo>
                  <a:pt x="8232772" y="0"/>
                </a:lnTo>
                <a:lnTo>
                  <a:pt x="8232772" y="3984622"/>
                </a:lnTo>
                <a:lnTo>
                  <a:pt x="0" y="39846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590550" y="1940433"/>
            <a:ext cx="7905750" cy="3358134"/>
            <a:chOff x="0" y="0"/>
            <a:chExt cx="10541000" cy="4477512"/>
          </a:xfrm>
        </p:grpSpPr>
        <p:sp>
          <p:nvSpPr>
            <p:cNvPr name="Freeform 5" id="5"/>
            <p:cNvSpPr/>
            <p:nvPr/>
          </p:nvSpPr>
          <p:spPr>
            <a:xfrm flipH="false" flipV="false" rot="0">
              <a:off x="0" y="0"/>
              <a:ext cx="10541000" cy="4477512"/>
            </a:xfrm>
            <a:custGeom>
              <a:avLst/>
              <a:gdLst/>
              <a:ahLst/>
              <a:cxnLst/>
              <a:rect r="r" b="b" t="t" l="l"/>
              <a:pathLst>
                <a:path h="4477512" w="10541000">
                  <a:moveTo>
                    <a:pt x="0" y="0"/>
                  </a:moveTo>
                  <a:lnTo>
                    <a:pt x="0" y="4477512"/>
                  </a:lnTo>
                  <a:lnTo>
                    <a:pt x="10541000" y="4477512"/>
                  </a:lnTo>
                  <a:lnTo>
                    <a:pt x="10541000" y="0"/>
                  </a:lnTo>
                  <a:lnTo>
                    <a:pt x="0" y="0"/>
                  </a:lnTo>
                  <a:close/>
                </a:path>
              </a:pathLst>
            </a:custGeom>
            <a:blipFill>
              <a:blip r:embed="rId6"/>
              <a:stretch>
                <a:fillRect l="0" t="0" r="0" b="0"/>
              </a:stretch>
            </a:blipFill>
          </p:spPr>
        </p:sp>
      </p:grpSp>
      <p:sp>
        <p:nvSpPr>
          <p:cNvPr name="Freeform 6" id="6"/>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8789984" y="4484684"/>
            <a:ext cx="2517772" cy="1127122"/>
          </a:xfrm>
          <a:custGeom>
            <a:avLst/>
            <a:gdLst/>
            <a:ahLst/>
            <a:cxnLst/>
            <a:rect r="r" b="b" t="t" l="l"/>
            <a:pathLst>
              <a:path h="1127122" w="2517772">
                <a:moveTo>
                  <a:pt x="0" y="0"/>
                </a:moveTo>
                <a:lnTo>
                  <a:pt x="2517772" y="0"/>
                </a:lnTo>
                <a:lnTo>
                  <a:pt x="2517772" y="1127122"/>
                </a:lnTo>
                <a:lnTo>
                  <a:pt x="0" y="11271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8789984" y="1646234"/>
            <a:ext cx="2517772" cy="2784472"/>
          </a:xfrm>
          <a:custGeom>
            <a:avLst/>
            <a:gdLst/>
            <a:ahLst/>
            <a:cxnLst/>
            <a:rect r="r" b="b" t="t" l="l"/>
            <a:pathLst>
              <a:path h="2784472" w="2517772">
                <a:moveTo>
                  <a:pt x="0" y="0"/>
                </a:moveTo>
                <a:lnTo>
                  <a:pt x="2517772" y="0"/>
                </a:lnTo>
                <a:lnTo>
                  <a:pt x="2517772" y="2784472"/>
                </a:lnTo>
                <a:lnTo>
                  <a:pt x="0" y="278447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10097767" y="2399557"/>
            <a:ext cx="417843" cy="156801"/>
          </a:xfrm>
          <a:prstGeom prst="rect">
            <a:avLst/>
          </a:prstGeom>
        </p:spPr>
        <p:txBody>
          <a:bodyPr anchor="t" rtlCol="false" tIns="0" lIns="0" bIns="0" rIns="0">
            <a:spAutoFit/>
          </a:bodyPr>
          <a:lstStyle/>
          <a:p>
            <a:pPr algn="l">
              <a:lnSpc>
                <a:spcPts val="1260"/>
              </a:lnSpc>
            </a:pPr>
            <a:r>
              <a:rPr lang="en-US" sz="900" spc="1">
                <a:solidFill>
                  <a:srgbClr val="475569"/>
                </a:solidFill>
                <a:latin typeface="Aptos"/>
                <a:ea typeface="Aptos"/>
                <a:cs typeface="Aptos"/>
                <a:sym typeface="Aptos"/>
              </a:rPr>
              <a:t>3M MAE</a:t>
            </a:r>
          </a:p>
        </p:txBody>
      </p:sp>
      <p:sp>
        <p:nvSpPr>
          <p:cNvPr name="TextBox 10" id="10"/>
          <p:cNvSpPr txBox="true"/>
          <p:nvPr/>
        </p:nvSpPr>
        <p:spPr>
          <a:xfrm rot="0">
            <a:off x="10097767" y="3314214"/>
            <a:ext cx="336471" cy="156801"/>
          </a:xfrm>
          <a:prstGeom prst="rect">
            <a:avLst/>
          </a:prstGeom>
        </p:spPr>
        <p:txBody>
          <a:bodyPr anchor="t" rtlCol="false" tIns="0" lIns="0" bIns="0" rIns="0">
            <a:spAutoFit/>
          </a:bodyPr>
          <a:lstStyle/>
          <a:p>
            <a:pPr algn="l">
              <a:lnSpc>
                <a:spcPts val="1260"/>
              </a:lnSpc>
            </a:pPr>
            <a:r>
              <a:rPr lang="en-US" sz="900">
                <a:solidFill>
                  <a:srgbClr val="475569"/>
                </a:solidFill>
                <a:latin typeface="Aptos"/>
                <a:ea typeface="Aptos"/>
                <a:cs typeface="Aptos"/>
                <a:sym typeface="Aptos"/>
              </a:rPr>
              <a:t>3M DA</a:t>
            </a:r>
          </a:p>
        </p:txBody>
      </p:sp>
      <p:sp>
        <p:nvSpPr>
          <p:cNvPr name="TextBox 11" id="11"/>
          <p:cNvSpPr txBox="true"/>
          <p:nvPr/>
        </p:nvSpPr>
        <p:spPr>
          <a:xfrm rot="0">
            <a:off x="10097767" y="3771414"/>
            <a:ext cx="692058" cy="156801"/>
          </a:xfrm>
          <a:prstGeom prst="rect">
            <a:avLst/>
          </a:prstGeom>
        </p:spPr>
        <p:txBody>
          <a:bodyPr anchor="t" rtlCol="false" tIns="0" lIns="0" bIns="0" rIns="0">
            <a:spAutoFit/>
          </a:bodyPr>
          <a:lstStyle/>
          <a:p>
            <a:pPr algn="l">
              <a:lnSpc>
                <a:spcPts val="1260"/>
              </a:lnSpc>
            </a:pPr>
            <a:r>
              <a:rPr lang="en-US" sz="900" spc="2">
                <a:solidFill>
                  <a:srgbClr val="475569"/>
                </a:solidFill>
                <a:latin typeface="Aptos"/>
                <a:ea typeface="Aptos"/>
                <a:cs typeface="Aptos"/>
                <a:sym typeface="Aptos"/>
              </a:rPr>
              <a:t>Return RMSE</a:t>
            </a:r>
          </a:p>
        </p:txBody>
      </p:sp>
      <p:sp>
        <p:nvSpPr>
          <p:cNvPr name="TextBox 12" id="12"/>
          <p:cNvSpPr txBox="true"/>
          <p:nvPr/>
        </p:nvSpPr>
        <p:spPr>
          <a:xfrm rot="0">
            <a:off x="838200" y="425596"/>
            <a:ext cx="1947786" cy="156801"/>
          </a:xfrm>
          <a:prstGeom prst="rect">
            <a:avLst/>
          </a:prstGeom>
        </p:spPr>
        <p:txBody>
          <a:bodyPr anchor="t" rtlCol="false" tIns="0" lIns="0" bIns="0" rIns="0">
            <a:spAutoFit/>
          </a:bodyPr>
          <a:lstStyle/>
          <a:p>
            <a:pPr algn="l">
              <a:lnSpc>
                <a:spcPts val="1260"/>
              </a:lnSpc>
            </a:pPr>
            <a:r>
              <a:rPr lang="en-US" sz="900" spc="1">
                <a:solidFill>
                  <a:srgbClr val="0E7490"/>
                </a:solidFill>
                <a:latin typeface="Aptos"/>
                <a:ea typeface="Aptos"/>
                <a:cs typeface="Aptos"/>
                <a:sym typeface="Aptos"/>
              </a:rPr>
              <a:t>ROLLING PLOT -RIDGE REGRESSION</a:t>
            </a:r>
          </a:p>
        </p:txBody>
      </p:sp>
      <p:sp>
        <p:nvSpPr>
          <p:cNvPr name="TextBox 13" id="13"/>
          <p:cNvSpPr txBox="true"/>
          <p:nvPr/>
        </p:nvSpPr>
        <p:spPr>
          <a:xfrm rot="0">
            <a:off x="533400" y="693639"/>
            <a:ext cx="8746530" cy="405765"/>
          </a:xfrm>
          <a:prstGeom prst="rect">
            <a:avLst/>
          </a:prstGeom>
        </p:spPr>
        <p:txBody>
          <a:bodyPr anchor="t" rtlCol="false" tIns="0" lIns="0" bIns="0" rIns="0">
            <a:spAutoFit/>
          </a:bodyPr>
          <a:lstStyle/>
          <a:p>
            <a:pPr algn="l">
              <a:lnSpc>
                <a:spcPts val="3359"/>
              </a:lnSpc>
            </a:pPr>
            <a:r>
              <a:rPr lang="en-US" sz="2400">
                <a:solidFill>
                  <a:srgbClr val="0F172A"/>
                </a:solidFill>
                <a:latin typeface="Aptos"/>
                <a:ea typeface="Aptos"/>
                <a:cs typeface="Aptos"/>
                <a:sym typeface="Aptos"/>
              </a:rPr>
              <a:t>Ridge is a linear baseline, but the 3-month price error is the largest.</a:t>
            </a:r>
          </a:p>
        </p:txBody>
      </p:sp>
      <p:sp>
        <p:nvSpPr>
          <p:cNvPr name="TextBox 14" id="14"/>
          <p:cNvSpPr txBox="true"/>
          <p:nvPr/>
        </p:nvSpPr>
        <p:spPr>
          <a:xfrm rot="0">
            <a:off x="9087869" y="1902733"/>
            <a:ext cx="1060847" cy="281727"/>
          </a:xfrm>
          <a:prstGeom prst="rect">
            <a:avLst/>
          </a:prstGeom>
        </p:spPr>
        <p:txBody>
          <a:bodyPr anchor="t" rtlCol="false" tIns="0" lIns="0" bIns="0" rIns="0">
            <a:spAutoFit/>
          </a:bodyPr>
          <a:lstStyle/>
          <a:p>
            <a:pPr algn="l">
              <a:lnSpc>
                <a:spcPts val="2321"/>
              </a:lnSpc>
            </a:pPr>
            <a:r>
              <a:rPr lang="en-US" sz="1658">
                <a:solidFill>
                  <a:srgbClr val="0F172A"/>
                </a:solidFill>
                <a:latin typeface="Aptos"/>
                <a:ea typeface="Aptos"/>
                <a:cs typeface="Aptos"/>
                <a:sym typeface="Aptos"/>
              </a:rPr>
              <a:t>Key m</a:t>
            </a:r>
            <a:r>
              <a:rPr lang="en-US" sz="1658">
                <a:solidFill>
                  <a:srgbClr val="0F172A"/>
                </a:solidFill>
                <a:latin typeface="Aptos"/>
                <a:ea typeface="Aptos"/>
                <a:cs typeface="Aptos"/>
                <a:sym typeface="Aptos"/>
              </a:rPr>
              <a:t>etrics</a:t>
            </a:r>
          </a:p>
        </p:txBody>
      </p:sp>
      <p:sp>
        <p:nvSpPr>
          <p:cNvPr name="TextBox 15" id="15"/>
          <p:cNvSpPr txBox="true"/>
          <p:nvPr/>
        </p:nvSpPr>
        <p:spPr>
          <a:xfrm rot="0">
            <a:off x="9125969" y="2494445"/>
            <a:ext cx="785470" cy="1506169"/>
          </a:xfrm>
          <a:prstGeom prst="rect">
            <a:avLst/>
          </a:prstGeom>
        </p:spPr>
        <p:txBody>
          <a:bodyPr anchor="t" rtlCol="false" tIns="0" lIns="0" bIns="0" rIns="0">
            <a:spAutoFit/>
          </a:bodyPr>
          <a:lstStyle/>
          <a:p>
            <a:pPr algn="just">
              <a:lnSpc>
                <a:spcPts val="864"/>
              </a:lnSpc>
            </a:pPr>
            <a:r>
              <a:rPr lang="en-US" sz="1728" spc="1">
                <a:solidFill>
                  <a:srgbClr val="CA8A04"/>
                </a:solidFill>
                <a:latin typeface="Aptos"/>
                <a:ea typeface="Aptos"/>
                <a:cs typeface="Aptos"/>
                <a:sym typeface="Aptos"/>
              </a:rPr>
              <a:t>$9.92</a:t>
            </a:r>
          </a:p>
          <a:p>
            <a:pPr algn="just">
              <a:lnSpc>
                <a:spcPts val="864"/>
              </a:lnSpc>
            </a:pPr>
          </a:p>
          <a:p>
            <a:pPr algn="just">
              <a:lnSpc>
                <a:spcPts val="864"/>
              </a:lnSpc>
            </a:pPr>
          </a:p>
          <a:p>
            <a:pPr algn="just">
              <a:lnSpc>
                <a:spcPts val="864"/>
              </a:lnSpc>
            </a:pPr>
          </a:p>
          <a:p>
            <a:pPr algn="just">
              <a:lnSpc>
                <a:spcPts val="864"/>
              </a:lnSpc>
            </a:pPr>
            <a:r>
              <a:rPr lang="en-US" sz="1728" spc="1">
                <a:solidFill>
                  <a:srgbClr val="CA8A04"/>
                </a:solidFill>
                <a:latin typeface="Aptos"/>
                <a:ea typeface="Aptos"/>
                <a:cs typeface="Aptos"/>
                <a:sym typeface="Aptos"/>
              </a:rPr>
              <a:t>5.18%</a:t>
            </a:r>
          </a:p>
          <a:p>
            <a:pPr algn="just">
              <a:lnSpc>
                <a:spcPts val="864"/>
              </a:lnSpc>
            </a:pPr>
          </a:p>
          <a:p>
            <a:pPr algn="just">
              <a:lnSpc>
                <a:spcPts val="864"/>
              </a:lnSpc>
            </a:pPr>
          </a:p>
          <a:p>
            <a:pPr algn="just">
              <a:lnSpc>
                <a:spcPts val="864"/>
              </a:lnSpc>
            </a:pPr>
          </a:p>
          <a:p>
            <a:pPr algn="just">
              <a:lnSpc>
                <a:spcPts val="864"/>
              </a:lnSpc>
            </a:pPr>
          </a:p>
          <a:p>
            <a:pPr algn="just">
              <a:lnSpc>
                <a:spcPts val="864"/>
              </a:lnSpc>
            </a:pPr>
            <a:r>
              <a:rPr lang="en-US" sz="1728" spc="1">
                <a:solidFill>
                  <a:srgbClr val="CA8A04"/>
                </a:solidFill>
                <a:latin typeface="Aptos"/>
                <a:ea typeface="Aptos"/>
                <a:cs typeface="Aptos"/>
                <a:sym typeface="Aptos"/>
              </a:rPr>
              <a:t>55.6%</a:t>
            </a:r>
          </a:p>
          <a:p>
            <a:pPr algn="just" rtl="true">
              <a:lnSpc>
                <a:spcPts val="864"/>
              </a:lnSpc>
            </a:pPr>
          </a:p>
          <a:p>
            <a:pPr algn="just" rtl="true">
              <a:lnSpc>
                <a:spcPts val="864"/>
              </a:lnSpc>
            </a:pPr>
          </a:p>
          <a:p>
            <a:pPr algn="just" rtl="true">
              <a:lnSpc>
                <a:spcPts val="864"/>
              </a:lnSpc>
            </a:pPr>
          </a:p>
          <a:p>
            <a:pPr algn="just">
              <a:lnSpc>
                <a:spcPts val="864"/>
              </a:lnSpc>
            </a:pPr>
            <a:r>
              <a:rPr lang="en-US" sz="1728" spc="1">
                <a:solidFill>
                  <a:srgbClr val="CA8A04"/>
                </a:solidFill>
                <a:latin typeface="Aptos"/>
                <a:ea typeface="Aptos"/>
                <a:cs typeface="Aptos"/>
                <a:sym typeface="Aptos"/>
              </a:rPr>
              <a:t>0.05404</a:t>
            </a:r>
          </a:p>
        </p:txBody>
      </p:sp>
      <p:sp>
        <p:nvSpPr>
          <p:cNvPr name="TextBox 16" id="16"/>
          <p:cNvSpPr txBox="true"/>
          <p:nvPr/>
        </p:nvSpPr>
        <p:spPr>
          <a:xfrm rot="0">
            <a:off x="10097767" y="2856471"/>
            <a:ext cx="488042" cy="157172"/>
          </a:xfrm>
          <a:prstGeom prst="rect">
            <a:avLst/>
          </a:prstGeom>
        </p:spPr>
        <p:txBody>
          <a:bodyPr anchor="t" rtlCol="false" tIns="0" lIns="0" bIns="0" rIns="0">
            <a:spAutoFit/>
          </a:bodyPr>
          <a:lstStyle/>
          <a:p>
            <a:pPr algn="l">
              <a:lnSpc>
                <a:spcPts val="1263"/>
              </a:lnSpc>
            </a:pPr>
            <a:r>
              <a:rPr lang="en-US" sz="902">
                <a:solidFill>
                  <a:srgbClr val="475569"/>
                </a:solidFill>
                <a:latin typeface="Aptos"/>
                <a:ea typeface="Aptos"/>
                <a:cs typeface="Aptos"/>
                <a:sym typeface="Aptos"/>
              </a:rPr>
              <a:t>3M MAPE</a:t>
            </a:r>
          </a:p>
        </p:txBody>
      </p:sp>
      <p:sp>
        <p:nvSpPr>
          <p:cNvPr name="TextBox 17" id="17"/>
          <p:cNvSpPr txBox="true"/>
          <p:nvPr/>
        </p:nvSpPr>
        <p:spPr>
          <a:xfrm rot="0">
            <a:off x="9240269" y="4742478"/>
            <a:ext cx="1803321" cy="612828"/>
          </a:xfrm>
          <a:prstGeom prst="rect">
            <a:avLst/>
          </a:prstGeom>
        </p:spPr>
        <p:txBody>
          <a:bodyPr anchor="t" rtlCol="false" tIns="0" lIns="0" bIns="0" rIns="0">
            <a:spAutoFit/>
          </a:bodyPr>
          <a:lstStyle/>
          <a:p>
            <a:pPr algn="l">
              <a:lnSpc>
                <a:spcPts val="971"/>
              </a:lnSpc>
            </a:pPr>
            <a:r>
              <a:rPr lang="en-US" sz="815">
                <a:solidFill>
                  <a:srgbClr val="0F172A"/>
                </a:solidFill>
                <a:latin typeface="Aptos"/>
                <a:ea typeface="Aptos"/>
                <a:cs typeface="Aptos"/>
                <a:sym typeface="Aptos"/>
              </a:rPr>
              <a:t>The selected fea</a:t>
            </a:r>
            <a:r>
              <a:rPr lang="en-US" sz="815">
                <a:solidFill>
                  <a:srgbClr val="0F172A"/>
                </a:solidFill>
                <a:latin typeface="Aptos"/>
                <a:ea typeface="Aptos"/>
                <a:cs typeface="Aptos"/>
                <a:sym typeface="Aptos"/>
              </a:rPr>
              <a:t>tures are mostly based on lag_close, rolling_std, MACD, VIX, and alpha_vs_QQQ.</a:t>
            </a:r>
          </a:p>
          <a:p>
            <a:pPr algn="l">
              <a:lnSpc>
                <a:spcPts val="971"/>
              </a:lnSpc>
            </a:pPr>
            <a:r>
              <a:rPr lang="en-US" sz="815">
                <a:solidFill>
                  <a:srgbClr val="0F172A"/>
                </a:solidFill>
                <a:latin typeface="Aptos"/>
                <a:ea typeface="Aptos"/>
                <a:cs typeface="Aptos"/>
                <a:sym typeface="Aptos"/>
              </a:rPr>
              <a:t>It</a:t>
            </a:r>
            <a:r>
              <a:rPr lang="en-US" sz="815">
                <a:solidFill>
                  <a:srgbClr val="0F172A"/>
                </a:solidFill>
                <a:latin typeface="Aptos"/>
                <a:ea typeface="Aptos"/>
                <a:cs typeface="Aptos"/>
                <a:sym typeface="Aptos"/>
              </a:rPr>
              <a:t> occasionally wins, but</a:t>
            </a:r>
          </a:p>
          <a:p>
            <a:pPr algn="l">
              <a:lnSpc>
                <a:spcPts val="1535"/>
              </a:lnSpc>
            </a:pPr>
            <a:r>
              <a:rPr lang="en-US" sz="815">
                <a:solidFill>
                  <a:srgbClr val="0F172A"/>
                </a:solidFill>
                <a:latin typeface="Aptos"/>
                <a:ea typeface="Aptos"/>
                <a:cs typeface="Aptos"/>
                <a:sym typeface="Aptos"/>
              </a:rPr>
              <a:t>f</a:t>
            </a:r>
            <a:r>
              <a:rPr lang="en-US" sz="815">
                <a:solidFill>
                  <a:srgbClr val="0F172A"/>
                </a:solidFill>
                <a:latin typeface="Aptos"/>
                <a:ea typeface="Aptos"/>
                <a:cs typeface="Aptos"/>
                <a:sym typeface="Aptos"/>
              </a:rPr>
              <a:t>ails to maintain price levels.</a:t>
            </a:r>
          </a:p>
        </p:txBody>
      </p:sp>
      <p:sp>
        <p:nvSpPr>
          <p:cNvPr name="TextBox 18" id="18"/>
          <p:cNvSpPr txBox="true"/>
          <p:nvPr/>
        </p:nvSpPr>
        <p:spPr>
          <a:xfrm rot="0">
            <a:off x="533400" y="6334506"/>
            <a:ext cx="2390213"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notebook output, rolling 1-step plots and metrics</a:t>
            </a:r>
          </a:p>
        </p:txBody>
      </p:sp>
      <p:sp>
        <p:nvSpPr>
          <p:cNvPr name="TextBox 19" id="19"/>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19</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427034" y="1627184"/>
            <a:ext cx="8232772" cy="3984622"/>
          </a:xfrm>
          <a:custGeom>
            <a:avLst/>
            <a:gdLst/>
            <a:ahLst/>
            <a:cxnLst/>
            <a:rect r="r" b="b" t="t" l="l"/>
            <a:pathLst>
              <a:path h="3984622" w="8232772">
                <a:moveTo>
                  <a:pt x="0" y="0"/>
                </a:moveTo>
                <a:lnTo>
                  <a:pt x="8232772" y="0"/>
                </a:lnTo>
                <a:lnTo>
                  <a:pt x="8232772" y="3984622"/>
                </a:lnTo>
                <a:lnTo>
                  <a:pt x="0" y="39846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590550" y="1940433"/>
            <a:ext cx="7905750" cy="3358134"/>
            <a:chOff x="0" y="0"/>
            <a:chExt cx="10541000" cy="4477512"/>
          </a:xfrm>
        </p:grpSpPr>
        <p:sp>
          <p:nvSpPr>
            <p:cNvPr name="Freeform 5" id="5"/>
            <p:cNvSpPr/>
            <p:nvPr/>
          </p:nvSpPr>
          <p:spPr>
            <a:xfrm flipH="false" flipV="false" rot="0">
              <a:off x="0" y="0"/>
              <a:ext cx="10541000" cy="4477512"/>
            </a:xfrm>
            <a:custGeom>
              <a:avLst/>
              <a:gdLst/>
              <a:ahLst/>
              <a:cxnLst/>
              <a:rect r="r" b="b" t="t" l="l"/>
              <a:pathLst>
                <a:path h="4477512" w="10541000">
                  <a:moveTo>
                    <a:pt x="0" y="0"/>
                  </a:moveTo>
                  <a:lnTo>
                    <a:pt x="0" y="4477512"/>
                  </a:lnTo>
                  <a:lnTo>
                    <a:pt x="10541000" y="4477512"/>
                  </a:lnTo>
                  <a:lnTo>
                    <a:pt x="10541000" y="0"/>
                  </a:lnTo>
                  <a:lnTo>
                    <a:pt x="0" y="0"/>
                  </a:lnTo>
                  <a:close/>
                </a:path>
              </a:pathLst>
            </a:custGeom>
            <a:blipFill>
              <a:blip r:embed="rId6"/>
              <a:stretch>
                <a:fillRect l="0" t="0" r="0" b="0"/>
              </a:stretch>
            </a:blipFill>
          </p:spPr>
        </p:sp>
      </p:grpSp>
      <p:sp>
        <p:nvSpPr>
          <p:cNvPr name="Freeform 6" id="6"/>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8789984" y="4484684"/>
            <a:ext cx="2517772" cy="1127122"/>
          </a:xfrm>
          <a:custGeom>
            <a:avLst/>
            <a:gdLst/>
            <a:ahLst/>
            <a:cxnLst/>
            <a:rect r="r" b="b" t="t" l="l"/>
            <a:pathLst>
              <a:path h="1127122" w="2517772">
                <a:moveTo>
                  <a:pt x="0" y="0"/>
                </a:moveTo>
                <a:lnTo>
                  <a:pt x="2517772" y="0"/>
                </a:lnTo>
                <a:lnTo>
                  <a:pt x="2517772" y="1127122"/>
                </a:lnTo>
                <a:lnTo>
                  <a:pt x="0" y="11271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8789984" y="1646234"/>
            <a:ext cx="2517772" cy="2784472"/>
          </a:xfrm>
          <a:custGeom>
            <a:avLst/>
            <a:gdLst/>
            <a:ahLst/>
            <a:cxnLst/>
            <a:rect r="r" b="b" t="t" l="l"/>
            <a:pathLst>
              <a:path h="2784472" w="2517772">
                <a:moveTo>
                  <a:pt x="0" y="0"/>
                </a:moveTo>
                <a:lnTo>
                  <a:pt x="2517772" y="0"/>
                </a:lnTo>
                <a:lnTo>
                  <a:pt x="2517772" y="2784472"/>
                </a:lnTo>
                <a:lnTo>
                  <a:pt x="0" y="278447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10097767" y="2399557"/>
            <a:ext cx="417843" cy="156801"/>
          </a:xfrm>
          <a:prstGeom prst="rect">
            <a:avLst/>
          </a:prstGeom>
        </p:spPr>
        <p:txBody>
          <a:bodyPr anchor="t" rtlCol="false" tIns="0" lIns="0" bIns="0" rIns="0">
            <a:spAutoFit/>
          </a:bodyPr>
          <a:lstStyle/>
          <a:p>
            <a:pPr algn="l">
              <a:lnSpc>
                <a:spcPts val="1260"/>
              </a:lnSpc>
            </a:pPr>
            <a:r>
              <a:rPr lang="en-US" sz="900" spc="1">
                <a:solidFill>
                  <a:srgbClr val="475569"/>
                </a:solidFill>
                <a:latin typeface="Aptos"/>
                <a:ea typeface="Aptos"/>
                <a:cs typeface="Aptos"/>
                <a:sym typeface="Aptos"/>
              </a:rPr>
              <a:t>3M MAE</a:t>
            </a:r>
          </a:p>
        </p:txBody>
      </p:sp>
      <p:sp>
        <p:nvSpPr>
          <p:cNvPr name="TextBox 10" id="10"/>
          <p:cNvSpPr txBox="true"/>
          <p:nvPr/>
        </p:nvSpPr>
        <p:spPr>
          <a:xfrm rot="0">
            <a:off x="10097767" y="3314214"/>
            <a:ext cx="336471" cy="156801"/>
          </a:xfrm>
          <a:prstGeom prst="rect">
            <a:avLst/>
          </a:prstGeom>
        </p:spPr>
        <p:txBody>
          <a:bodyPr anchor="t" rtlCol="false" tIns="0" lIns="0" bIns="0" rIns="0">
            <a:spAutoFit/>
          </a:bodyPr>
          <a:lstStyle/>
          <a:p>
            <a:pPr algn="l">
              <a:lnSpc>
                <a:spcPts val="1260"/>
              </a:lnSpc>
            </a:pPr>
            <a:r>
              <a:rPr lang="en-US" sz="900">
                <a:solidFill>
                  <a:srgbClr val="475569"/>
                </a:solidFill>
                <a:latin typeface="Aptos"/>
                <a:ea typeface="Aptos"/>
                <a:cs typeface="Aptos"/>
                <a:sym typeface="Aptos"/>
              </a:rPr>
              <a:t>3M DA</a:t>
            </a:r>
          </a:p>
        </p:txBody>
      </p:sp>
      <p:sp>
        <p:nvSpPr>
          <p:cNvPr name="TextBox 11" id="11"/>
          <p:cNvSpPr txBox="true"/>
          <p:nvPr/>
        </p:nvSpPr>
        <p:spPr>
          <a:xfrm rot="0">
            <a:off x="10097767" y="3771414"/>
            <a:ext cx="692058" cy="156801"/>
          </a:xfrm>
          <a:prstGeom prst="rect">
            <a:avLst/>
          </a:prstGeom>
        </p:spPr>
        <p:txBody>
          <a:bodyPr anchor="t" rtlCol="false" tIns="0" lIns="0" bIns="0" rIns="0">
            <a:spAutoFit/>
          </a:bodyPr>
          <a:lstStyle/>
          <a:p>
            <a:pPr algn="l">
              <a:lnSpc>
                <a:spcPts val="1260"/>
              </a:lnSpc>
            </a:pPr>
            <a:r>
              <a:rPr lang="en-US" sz="900" spc="2">
                <a:solidFill>
                  <a:srgbClr val="475569"/>
                </a:solidFill>
                <a:latin typeface="Aptos"/>
                <a:ea typeface="Aptos"/>
                <a:cs typeface="Aptos"/>
                <a:sym typeface="Aptos"/>
              </a:rPr>
              <a:t>Return RMSE</a:t>
            </a:r>
          </a:p>
        </p:txBody>
      </p:sp>
      <p:sp>
        <p:nvSpPr>
          <p:cNvPr name="TextBox 12" id="12"/>
          <p:cNvSpPr txBox="true"/>
          <p:nvPr/>
        </p:nvSpPr>
        <p:spPr>
          <a:xfrm rot="0">
            <a:off x="838200" y="425596"/>
            <a:ext cx="1086336" cy="156801"/>
          </a:xfrm>
          <a:prstGeom prst="rect">
            <a:avLst/>
          </a:prstGeom>
        </p:spPr>
        <p:txBody>
          <a:bodyPr anchor="t" rtlCol="false" tIns="0" lIns="0" bIns="0" rIns="0">
            <a:spAutoFit/>
          </a:bodyPr>
          <a:lstStyle/>
          <a:p>
            <a:pPr algn="l">
              <a:lnSpc>
                <a:spcPts val="1260"/>
              </a:lnSpc>
            </a:pPr>
            <a:r>
              <a:rPr lang="en-US" sz="900">
                <a:solidFill>
                  <a:srgbClr val="0E7490"/>
                </a:solidFill>
                <a:latin typeface="Aptos"/>
                <a:ea typeface="Aptos"/>
                <a:cs typeface="Aptos"/>
                <a:sym typeface="Aptos"/>
              </a:rPr>
              <a:t>ROLLING PLOT -SVR</a:t>
            </a:r>
          </a:p>
        </p:txBody>
      </p:sp>
      <p:sp>
        <p:nvSpPr>
          <p:cNvPr name="TextBox 13" id="13"/>
          <p:cNvSpPr txBox="true"/>
          <p:nvPr/>
        </p:nvSpPr>
        <p:spPr>
          <a:xfrm rot="0">
            <a:off x="533400" y="693639"/>
            <a:ext cx="8821539" cy="405765"/>
          </a:xfrm>
          <a:prstGeom prst="rect">
            <a:avLst/>
          </a:prstGeom>
        </p:spPr>
        <p:txBody>
          <a:bodyPr anchor="t" rtlCol="false" tIns="0" lIns="0" bIns="0" rIns="0">
            <a:spAutoFit/>
          </a:bodyPr>
          <a:lstStyle/>
          <a:p>
            <a:pPr algn="l">
              <a:lnSpc>
                <a:spcPts val="3359"/>
              </a:lnSpc>
            </a:pPr>
            <a:r>
              <a:rPr lang="en-US" sz="2400">
                <a:solidFill>
                  <a:srgbClr val="0F172A"/>
                </a:solidFill>
                <a:latin typeface="Aptos"/>
                <a:ea typeface="Aptos"/>
                <a:cs typeface="Aptos"/>
                <a:sym typeface="Aptos"/>
              </a:rPr>
              <a:t>The strongest </a:t>
            </a:r>
            <a:r>
              <a:rPr lang="en-US" sz="2400">
                <a:solidFill>
                  <a:srgbClr val="0F172A"/>
                </a:solidFill>
                <a:latin typeface="Aptos"/>
                <a:ea typeface="Aptos"/>
                <a:cs typeface="Aptos"/>
                <a:sym typeface="Aptos"/>
              </a:rPr>
              <a:t>SVR in the 3-month window in terms of MAPE and DA.</a:t>
            </a:r>
          </a:p>
        </p:txBody>
      </p:sp>
      <p:sp>
        <p:nvSpPr>
          <p:cNvPr name="TextBox 14" id="14"/>
          <p:cNvSpPr txBox="true"/>
          <p:nvPr/>
        </p:nvSpPr>
        <p:spPr>
          <a:xfrm rot="0">
            <a:off x="9087869" y="1902733"/>
            <a:ext cx="1060847" cy="281727"/>
          </a:xfrm>
          <a:prstGeom prst="rect">
            <a:avLst/>
          </a:prstGeom>
        </p:spPr>
        <p:txBody>
          <a:bodyPr anchor="t" rtlCol="false" tIns="0" lIns="0" bIns="0" rIns="0">
            <a:spAutoFit/>
          </a:bodyPr>
          <a:lstStyle/>
          <a:p>
            <a:pPr algn="l">
              <a:lnSpc>
                <a:spcPts val="2321"/>
              </a:lnSpc>
            </a:pPr>
            <a:r>
              <a:rPr lang="en-US" sz="1658">
                <a:solidFill>
                  <a:srgbClr val="0F172A"/>
                </a:solidFill>
                <a:latin typeface="Aptos"/>
                <a:ea typeface="Aptos"/>
                <a:cs typeface="Aptos"/>
                <a:sym typeface="Aptos"/>
              </a:rPr>
              <a:t>Key m</a:t>
            </a:r>
            <a:r>
              <a:rPr lang="en-US" sz="1658">
                <a:solidFill>
                  <a:srgbClr val="0F172A"/>
                </a:solidFill>
                <a:latin typeface="Aptos"/>
                <a:ea typeface="Aptos"/>
                <a:cs typeface="Aptos"/>
                <a:sym typeface="Aptos"/>
              </a:rPr>
              <a:t>etrics</a:t>
            </a:r>
          </a:p>
        </p:txBody>
      </p:sp>
      <p:sp>
        <p:nvSpPr>
          <p:cNvPr name="TextBox 15" id="15"/>
          <p:cNvSpPr txBox="true"/>
          <p:nvPr/>
        </p:nvSpPr>
        <p:spPr>
          <a:xfrm rot="0">
            <a:off x="9125969" y="2494445"/>
            <a:ext cx="785470" cy="1506169"/>
          </a:xfrm>
          <a:prstGeom prst="rect">
            <a:avLst/>
          </a:prstGeom>
        </p:spPr>
        <p:txBody>
          <a:bodyPr anchor="t" rtlCol="false" tIns="0" lIns="0" bIns="0" rIns="0">
            <a:spAutoFit/>
          </a:bodyPr>
          <a:lstStyle/>
          <a:p>
            <a:pPr algn="just">
              <a:lnSpc>
                <a:spcPts val="864"/>
              </a:lnSpc>
            </a:pPr>
            <a:r>
              <a:rPr lang="en-US" sz="1728" spc="1">
                <a:solidFill>
                  <a:srgbClr val="16A34A"/>
                </a:solidFill>
                <a:latin typeface="Aptos"/>
                <a:ea typeface="Aptos"/>
                <a:cs typeface="Aptos"/>
                <a:sym typeface="Aptos"/>
              </a:rPr>
              <a:t>$3.69</a:t>
            </a:r>
          </a:p>
          <a:p>
            <a:pPr algn="just">
              <a:lnSpc>
                <a:spcPts val="864"/>
              </a:lnSpc>
            </a:pPr>
          </a:p>
          <a:p>
            <a:pPr algn="just">
              <a:lnSpc>
                <a:spcPts val="864"/>
              </a:lnSpc>
            </a:pPr>
          </a:p>
          <a:p>
            <a:pPr algn="just">
              <a:lnSpc>
                <a:spcPts val="864"/>
              </a:lnSpc>
            </a:pPr>
          </a:p>
          <a:p>
            <a:pPr algn="just">
              <a:lnSpc>
                <a:spcPts val="864"/>
              </a:lnSpc>
            </a:pPr>
            <a:r>
              <a:rPr lang="en-US" sz="1728" spc="1">
                <a:solidFill>
                  <a:srgbClr val="16A34A"/>
                </a:solidFill>
                <a:latin typeface="Aptos"/>
                <a:ea typeface="Aptos"/>
                <a:cs typeface="Aptos"/>
                <a:sym typeface="Aptos"/>
              </a:rPr>
              <a:t>1.90%</a:t>
            </a:r>
          </a:p>
          <a:p>
            <a:pPr algn="just">
              <a:lnSpc>
                <a:spcPts val="864"/>
              </a:lnSpc>
            </a:pPr>
          </a:p>
          <a:p>
            <a:pPr algn="just">
              <a:lnSpc>
                <a:spcPts val="864"/>
              </a:lnSpc>
            </a:pPr>
          </a:p>
          <a:p>
            <a:pPr algn="just">
              <a:lnSpc>
                <a:spcPts val="864"/>
              </a:lnSpc>
            </a:pPr>
          </a:p>
          <a:p>
            <a:pPr algn="just">
              <a:lnSpc>
                <a:spcPts val="864"/>
              </a:lnSpc>
            </a:pPr>
          </a:p>
          <a:p>
            <a:pPr algn="just">
              <a:lnSpc>
                <a:spcPts val="864"/>
              </a:lnSpc>
            </a:pPr>
            <a:r>
              <a:rPr lang="en-US" sz="1728" spc="1">
                <a:solidFill>
                  <a:srgbClr val="16A34A"/>
                </a:solidFill>
                <a:latin typeface="Aptos"/>
                <a:ea typeface="Aptos"/>
                <a:cs typeface="Aptos"/>
                <a:sym typeface="Aptos"/>
              </a:rPr>
              <a:t>58.7%</a:t>
            </a:r>
          </a:p>
          <a:p>
            <a:pPr algn="just" rtl="true">
              <a:lnSpc>
                <a:spcPts val="864"/>
              </a:lnSpc>
            </a:pPr>
          </a:p>
          <a:p>
            <a:pPr algn="just" rtl="true">
              <a:lnSpc>
                <a:spcPts val="864"/>
              </a:lnSpc>
            </a:pPr>
          </a:p>
          <a:p>
            <a:pPr algn="just" rtl="true">
              <a:lnSpc>
                <a:spcPts val="864"/>
              </a:lnSpc>
            </a:pPr>
          </a:p>
          <a:p>
            <a:pPr algn="just">
              <a:lnSpc>
                <a:spcPts val="864"/>
              </a:lnSpc>
            </a:pPr>
            <a:r>
              <a:rPr lang="en-US" sz="1728" spc="1">
                <a:solidFill>
                  <a:srgbClr val="16A34A"/>
                </a:solidFill>
                <a:latin typeface="Aptos"/>
                <a:ea typeface="Aptos"/>
                <a:cs typeface="Aptos"/>
                <a:sym typeface="Aptos"/>
              </a:rPr>
              <a:t>0.03210</a:t>
            </a:r>
          </a:p>
        </p:txBody>
      </p:sp>
      <p:sp>
        <p:nvSpPr>
          <p:cNvPr name="TextBox 16" id="16"/>
          <p:cNvSpPr txBox="true"/>
          <p:nvPr/>
        </p:nvSpPr>
        <p:spPr>
          <a:xfrm rot="0">
            <a:off x="10097767" y="2856471"/>
            <a:ext cx="488042" cy="157172"/>
          </a:xfrm>
          <a:prstGeom prst="rect">
            <a:avLst/>
          </a:prstGeom>
        </p:spPr>
        <p:txBody>
          <a:bodyPr anchor="t" rtlCol="false" tIns="0" lIns="0" bIns="0" rIns="0">
            <a:spAutoFit/>
          </a:bodyPr>
          <a:lstStyle/>
          <a:p>
            <a:pPr algn="l">
              <a:lnSpc>
                <a:spcPts val="1263"/>
              </a:lnSpc>
            </a:pPr>
            <a:r>
              <a:rPr lang="en-US" sz="902">
                <a:solidFill>
                  <a:srgbClr val="475569"/>
                </a:solidFill>
                <a:latin typeface="Aptos"/>
                <a:ea typeface="Aptos"/>
                <a:cs typeface="Aptos"/>
                <a:sym typeface="Aptos"/>
              </a:rPr>
              <a:t>3M MAPE</a:t>
            </a:r>
          </a:p>
        </p:txBody>
      </p:sp>
      <p:sp>
        <p:nvSpPr>
          <p:cNvPr name="TextBox 17" id="17"/>
          <p:cNvSpPr txBox="true"/>
          <p:nvPr/>
        </p:nvSpPr>
        <p:spPr>
          <a:xfrm rot="0">
            <a:off x="9228982" y="4646581"/>
            <a:ext cx="1737570" cy="803328"/>
          </a:xfrm>
          <a:prstGeom prst="rect">
            <a:avLst/>
          </a:prstGeom>
        </p:spPr>
        <p:txBody>
          <a:bodyPr anchor="t" rtlCol="false" tIns="0" lIns="0" bIns="0" rIns="0">
            <a:spAutoFit/>
          </a:bodyPr>
          <a:lstStyle/>
          <a:p>
            <a:pPr algn="just">
              <a:lnSpc>
                <a:spcPts val="971"/>
              </a:lnSpc>
            </a:pPr>
            <a:r>
              <a:rPr lang="en-US" sz="815">
                <a:solidFill>
                  <a:srgbClr val="0F172A"/>
                </a:solidFill>
                <a:latin typeface="Aptos"/>
                <a:ea typeface="Aptos"/>
                <a:cs typeface="Aptos"/>
                <a:sym typeface="Aptos"/>
              </a:rPr>
              <a:t>Selec</a:t>
            </a:r>
            <a:r>
              <a:rPr lang="en-US" sz="815">
                <a:solidFill>
                  <a:srgbClr val="0F172A"/>
                </a:solidFill>
                <a:latin typeface="Aptos"/>
                <a:ea typeface="Aptos"/>
                <a:cs typeface="Aptos"/>
                <a:sym typeface="Aptos"/>
              </a:rPr>
              <a:t>ted features: rolling_std, lag_close, alpha_vs_QQQ, return, MACD, VIX, volume.</a:t>
            </a:r>
          </a:p>
          <a:p>
            <a:pPr algn="just">
              <a:lnSpc>
                <a:spcPts val="971"/>
              </a:lnSpc>
            </a:pPr>
          </a:p>
          <a:p>
            <a:pPr algn="just">
              <a:lnSpc>
                <a:spcPts val="1535"/>
              </a:lnSpc>
            </a:pPr>
            <a:r>
              <a:rPr lang="en-US" sz="815">
                <a:solidFill>
                  <a:srgbClr val="0F172A"/>
                </a:solidFill>
                <a:latin typeface="Aptos"/>
                <a:ea typeface="Aptos"/>
                <a:cs typeface="Aptos"/>
                <a:sym typeface="Aptos"/>
              </a:rPr>
              <a:t>In lin</a:t>
            </a:r>
            <a:r>
              <a:rPr lang="en-US" sz="815">
                <a:solidFill>
                  <a:srgbClr val="0F172A"/>
                </a:solidFill>
                <a:latin typeface="Aptos"/>
                <a:ea typeface="Aptos"/>
                <a:cs typeface="Aptos"/>
                <a:sym typeface="Aptos"/>
              </a:rPr>
              <a:t>e with CEEJ 2021: SVR c</a:t>
            </a:r>
            <a:r>
              <a:rPr lang="en-US" sz="815">
                <a:solidFill>
                  <a:srgbClr val="0F172A"/>
                </a:solidFill>
                <a:latin typeface="Aptos"/>
                <a:ea typeface="Aptos"/>
                <a:cs typeface="Aptos"/>
                <a:sym typeface="Aptos"/>
              </a:rPr>
              <a:t>an be very competitive with NVDA returns.</a:t>
            </a:r>
          </a:p>
        </p:txBody>
      </p:sp>
      <p:sp>
        <p:nvSpPr>
          <p:cNvPr name="TextBox 18" id="18"/>
          <p:cNvSpPr txBox="true"/>
          <p:nvPr/>
        </p:nvSpPr>
        <p:spPr>
          <a:xfrm rot="0">
            <a:off x="533400" y="6334506"/>
            <a:ext cx="2390213"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notebook output, rolling 1-step plots and metrics</a:t>
            </a:r>
          </a:p>
        </p:txBody>
      </p:sp>
      <p:sp>
        <p:nvSpPr>
          <p:cNvPr name="TextBox 19" id="19"/>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20</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427034" y="1627184"/>
            <a:ext cx="8232772" cy="3984622"/>
          </a:xfrm>
          <a:custGeom>
            <a:avLst/>
            <a:gdLst/>
            <a:ahLst/>
            <a:cxnLst/>
            <a:rect r="r" b="b" t="t" l="l"/>
            <a:pathLst>
              <a:path h="3984622" w="8232772">
                <a:moveTo>
                  <a:pt x="0" y="0"/>
                </a:moveTo>
                <a:lnTo>
                  <a:pt x="8232772" y="0"/>
                </a:lnTo>
                <a:lnTo>
                  <a:pt x="8232772" y="3984622"/>
                </a:lnTo>
                <a:lnTo>
                  <a:pt x="0" y="39846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590550" y="1940433"/>
            <a:ext cx="7905750" cy="3358134"/>
            <a:chOff x="0" y="0"/>
            <a:chExt cx="10541000" cy="4477512"/>
          </a:xfrm>
        </p:grpSpPr>
        <p:sp>
          <p:nvSpPr>
            <p:cNvPr name="Freeform 5" id="5"/>
            <p:cNvSpPr/>
            <p:nvPr/>
          </p:nvSpPr>
          <p:spPr>
            <a:xfrm flipH="false" flipV="false" rot="0">
              <a:off x="0" y="0"/>
              <a:ext cx="10541000" cy="4477512"/>
            </a:xfrm>
            <a:custGeom>
              <a:avLst/>
              <a:gdLst/>
              <a:ahLst/>
              <a:cxnLst/>
              <a:rect r="r" b="b" t="t" l="l"/>
              <a:pathLst>
                <a:path h="4477512" w="10541000">
                  <a:moveTo>
                    <a:pt x="0" y="0"/>
                  </a:moveTo>
                  <a:lnTo>
                    <a:pt x="0" y="4477512"/>
                  </a:lnTo>
                  <a:lnTo>
                    <a:pt x="10541000" y="4477512"/>
                  </a:lnTo>
                  <a:lnTo>
                    <a:pt x="10541000" y="0"/>
                  </a:lnTo>
                  <a:lnTo>
                    <a:pt x="0" y="0"/>
                  </a:lnTo>
                  <a:close/>
                </a:path>
              </a:pathLst>
            </a:custGeom>
            <a:blipFill>
              <a:blip r:embed="rId6"/>
              <a:stretch>
                <a:fillRect l="0" t="0" r="0" b="0"/>
              </a:stretch>
            </a:blipFill>
          </p:spPr>
        </p:sp>
      </p:grpSp>
      <p:sp>
        <p:nvSpPr>
          <p:cNvPr name="Freeform 6" id="6"/>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8789984" y="4484684"/>
            <a:ext cx="2517772" cy="1127122"/>
          </a:xfrm>
          <a:custGeom>
            <a:avLst/>
            <a:gdLst/>
            <a:ahLst/>
            <a:cxnLst/>
            <a:rect r="r" b="b" t="t" l="l"/>
            <a:pathLst>
              <a:path h="1127122" w="2517772">
                <a:moveTo>
                  <a:pt x="0" y="0"/>
                </a:moveTo>
                <a:lnTo>
                  <a:pt x="2517772" y="0"/>
                </a:lnTo>
                <a:lnTo>
                  <a:pt x="2517772" y="1127122"/>
                </a:lnTo>
                <a:lnTo>
                  <a:pt x="0" y="11271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8789984" y="1646234"/>
            <a:ext cx="2517772" cy="2784472"/>
          </a:xfrm>
          <a:custGeom>
            <a:avLst/>
            <a:gdLst/>
            <a:ahLst/>
            <a:cxnLst/>
            <a:rect r="r" b="b" t="t" l="l"/>
            <a:pathLst>
              <a:path h="2784472" w="2517772">
                <a:moveTo>
                  <a:pt x="0" y="0"/>
                </a:moveTo>
                <a:lnTo>
                  <a:pt x="2517772" y="0"/>
                </a:lnTo>
                <a:lnTo>
                  <a:pt x="2517772" y="2784472"/>
                </a:lnTo>
                <a:lnTo>
                  <a:pt x="0" y="278447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10097767" y="2399557"/>
            <a:ext cx="417843" cy="156801"/>
          </a:xfrm>
          <a:prstGeom prst="rect">
            <a:avLst/>
          </a:prstGeom>
        </p:spPr>
        <p:txBody>
          <a:bodyPr anchor="t" rtlCol="false" tIns="0" lIns="0" bIns="0" rIns="0">
            <a:spAutoFit/>
          </a:bodyPr>
          <a:lstStyle/>
          <a:p>
            <a:pPr algn="l">
              <a:lnSpc>
                <a:spcPts val="1260"/>
              </a:lnSpc>
            </a:pPr>
            <a:r>
              <a:rPr lang="en-US" sz="900" spc="1">
                <a:solidFill>
                  <a:srgbClr val="475569"/>
                </a:solidFill>
                <a:latin typeface="Aptos"/>
                <a:ea typeface="Aptos"/>
                <a:cs typeface="Aptos"/>
                <a:sym typeface="Aptos"/>
              </a:rPr>
              <a:t>3M MAE</a:t>
            </a:r>
          </a:p>
        </p:txBody>
      </p:sp>
      <p:sp>
        <p:nvSpPr>
          <p:cNvPr name="TextBox 10" id="10"/>
          <p:cNvSpPr txBox="true"/>
          <p:nvPr/>
        </p:nvSpPr>
        <p:spPr>
          <a:xfrm rot="0">
            <a:off x="10097767" y="3314214"/>
            <a:ext cx="336471" cy="156801"/>
          </a:xfrm>
          <a:prstGeom prst="rect">
            <a:avLst/>
          </a:prstGeom>
        </p:spPr>
        <p:txBody>
          <a:bodyPr anchor="t" rtlCol="false" tIns="0" lIns="0" bIns="0" rIns="0">
            <a:spAutoFit/>
          </a:bodyPr>
          <a:lstStyle/>
          <a:p>
            <a:pPr algn="l">
              <a:lnSpc>
                <a:spcPts val="1260"/>
              </a:lnSpc>
            </a:pPr>
            <a:r>
              <a:rPr lang="en-US" sz="900">
                <a:solidFill>
                  <a:srgbClr val="475569"/>
                </a:solidFill>
                <a:latin typeface="Aptos"/>
                <a:ea typeface="Aptos"/>
                <a:cs typeface="Aptos"/>
                <a:sym typeface="Aptos"/>
              </a:rPr>
              <a:t>3M DA</a:t>
            </a:r>
          </a:p>
        </p:txBody>
      </p:sp>
      <p:sp>
        <p:nvSpPr>
          <p:cNvPr name="TextBox 11" id="11"/>
          <p:cNvSpPr txBox="true"/>
          <p:nvPr/>
        </p:nvSpPr>
        <p:spPr>
          <a:xfrm rot="0">
            <a:off x="10097767" y="3771414"/>
            <a:ext cx="539439" cy="156801"/>
          </a:xfrm>
          <a:prstGeom prst="rect">
            <a:avLst/>
          </a:prstGeom>
        </p:spPr>
        <p:txBody>
          <a:bodyPr anchor="t" rtlCol="false" tIns="0" lIns="0" bIns="0" rIns="0">
            <a:spAutoFit/>
          </a:bodyPr>
          <a:lstStyle/>
          <a:p>
            <a:pPr algn="l">
              <a:lnSpc>
                <a:spcPts val="1260"/>
              </a:lnSpc>
            </a:pPr>
            <a:r>
              <a:rPr lang="en-US" sz="900" spc="2">
                <a:solidFill>
                  <a:srgbClr val="475569"/>
                </a:solidFill>
                <a:latin typeface="Aptos"/>
                <a:ea typeface="Aptos"/>
                <a:cs typeface="Aptos"/>
                <a:sym typeface="Aptos"/>
              </a:rPr>
              <a:t>Return DA</a:t>
            </a:r>
          </a:p>
        </p:txBody>
      </p:sp>
      <p:sp>
        <p:nvSpPr>
          <p:cNvPr name="TextBox 12" id="12"/>
          <p:cNvSpPr txBox="true"/>
          <p:nvPr/>
        </p:nvSpPr>
        <p:spPr>
          <a:xfrm rot="0">
            <a:off x="838200" y="425596"/>
            <a:ext cx="2287867" cy="156801"/>
          </a:xfrm>
          <a:prstGeom prst="rect">
            <a:avLst/>
          </a:prstGeom>
        </p:spPr>
        <p:txBody>
          <a:bodyPr anchor="t" rtlCol="false" tIns="0" lIns="0" bIns="0" rIns="0">
            <a:spAutoFit/>
          </a:bodyPr>
          <a:lstStyle/>
          <a:p>
            <a:pPr algn="l">
              <a:lnSpc>
                <a:spcPts val="1260"/>
              </a:lnSpc>
            </a:pPr>
            <a:r>
              <a:rPr lang="en-US" sz="900" spc="1">
                <a:solidFill>
                  <a:srgbClr val="0E7490"/>
                </a:solidFill>
                <a:latin typeface="Aptos"/>
                <a:ea typeface="Aptos"/>
                <a:cs typeface="Aptos"/>
                <a:sym typeface="Aptos"/>
              </a:rPr>
              <a:t>ROLLING PLOT -STACKING META-LEARNER</a:t>
            </a:r>
          </a:p>
        </p:txBody>
      </p:sp>
      <p:sp>
        <p:nvSpPr>
          <p:cNvPr name="TextBox 13" id="13"/>
          <p:cNvSpPr txBox="true"/>
          <p:nvPr/>
        </p:nvSpPr>
        <p:spPr>
          <a:xfrm rot="0">
            <a:off x="533400" y="693639"/>
            <a:ext cx="7467799" cy="405765"/>
          </a:xfrm>
          <a:prstGeom prst="rect">
            <a:avLst/>
          </a:prstGeom>
        </p:spPr>
        <p:txBody>
          <a:bodyPr anchor="t" rtlCol="false" tIns="0" lIns="0" bIns="0" rIns="0">
            <a:spAutoFit/>
          </a:bodyPr>
          <a:lstStyle/>
          <a:p>
            <a:pPr algn="l">
              <a:lnSpc>
                <a:spcPts val="3359"/>
              </a:lnSpc>
            </a:pPr>
            <a:r>
              <a:rPr lang="en-US" sz="2400">
                <a:solidFill>
                  <a:srgbClr val="0F172A"/>
                </a:solidFill>
                <a:latin typeface="Aptos"/>
                <a:ea typeface="Aptos"/>
                <a:cs typeface="Aptos"/>
                <a:sym typeface="Aptos"/>
              </a:rPr>
              <a:t>Stacking lowers 3-month MAPE, but DA test return drops.</a:t>
            </a:r>
          </a:p>
        </p:txBody>
      </p:sp>
      <p:sp>
        <p:nvSpPr>
          <p:cNvPr name="TextBox 14" id="14"/>
          <p:cNvSpPr txBox="true"/>
          <p:nvPr/>
        </p:nvSpPr>
        <p:spPr>
          <a:xfrm rot="0">
            <a:off x="9087869" y="1902733"/>
            <a:ext cx="1060847" cy="281727"/>
          </a:xfrm>
          <a:prstGeom prst="rect">
            <a:avLst/>
          </a:prstGeom>
        </p:spPr>
        <p:txBody>
          <a:bodyPr anchor="t" rtlCol="false" tIns="0" lIns="0" bIns="0" rIns="0">
            <a:spAutoFit/>
          </a:bodyPr>
          <a:lstStyle/>
          <a:p>
            <a:pPr algn="l">
              <a:lnSpc>
                <a:spcPts val="2321"/>
              </a:lnSpc>
            </a:pPr>
            <a:r>
              <a:rPr lang="en-US" sz="1658">
                <a:solidFill>
                  <a:srgbClr val="0F172A"/>
                </a:solidFill>
                <a:latin typeface="Aptos"/>
                <a:ea typeface="Aptos"/>
                <a:cs typeface="Aptos"/>
                <a:sym typeface="Aptos"/>
              </a:rPr>
              <a:t>Key m</a:t>
            </a:r>
            <a:r>
              <a:rPr lang="en-US" sz="1658">
                <a:solidFill>
                  <a:srgbClr val="0F172A"/>
                </a:solidFill>
                <a:latin typeface="Aptos"/>
                <a:ea typeface="Aptos"/>
                <a:cs typeface="Aptos"/>
                <a:sym typeface="Aptos"/>
              </a:rPr>
              <a:t>etrics</a:t>
            </a:r>
          </a:p>
        </p:txBody>
      </p:sp>
      <p:sp>
        <p:nvSpPr>
          <p:cNvPr name="TextBox 15" id="15"/>
          <p:cNvSpPr txBox="true"/>
          <p:nvPr/>
        </p:nvSpPr>
        <p:spPr>
          <a:xfrm rot="0">
            <a:off x="9125969" y="2494445"/>
            <a:ext cx="731072" cy="1506169"/>
          </a:xfrm>
          <a:prstGeom prst="rect">
            <a:avLst/>
          </a:prstGeom>
        </p:spPr>
        <p:txBody>
          <a:bodyPr anchor="t" rtlCol="false" tIns="0" lIns="0" bIns="0" rIns="0">
            <a:spAutoFit/>
          </a:bodyPr>
          <a:lstStyle/>
          <a:p>
            <a:pPr algn="just">
              <a:lnSpc>
                <a:spcPts val="864"/>
              </a:lnSpc>
            </a:pPr>
            <a:r>
              <a:rPr lang="en-US" sz="1728" spc="1">
                <a:solidFill>
                  <a:srgbClr val="DC2626"/>
                </a:solidFill>
                <a:latin typeface="Aptos"/>
                <a:ea typeface="Aptos"/>
                <a:cs typeface="Aptos"/>
                <a:sym typeface="Aptos"/>
              </a:rPr>
              <a:t>$3.62</a:t>
            </a:r>
          </a:p>
          <a:p>
            <a:pPr algn="just">
              <a:lnSpc>
                <a:spcPts val="864"/>
              </a:lnSpc>
            </a:pPr>
          </a:p>
          <a:p>
            <a:pPr algn="just">
              <a:lnSpc>
                <a:spcPts val="864"/>
              </a:lnSpc>
            </a:pPr>
          </a:p>
          <a:p>
            <a:pPr algn="just">
              <a:lnSpc>
                <a:spcPts val="864"/>
              </a:lnSpc>
            </a:pPr>
          </a:p>
          <a:p>
            <a:pPr algn="just">
              <a:lnSpc>
                <a:spcPts val="864"/>
              </a:lnSpc>
            </a:pPr>
            <a:r>
              <a:rPr lang="en-US" sz="1728" spc="1">
                <a:solidFill>
                  <a:srgbClr val="DC2626"/>
                </a:solidFill>
                <a:latin typeface="Aptos"/>
                <a:ea typeface="Aptos"/>
                <a:cs typeface="Aptos"/>
                <a:sym typeface="Aptos"/>
              </a:rPr>
              <a:t>1.86%</a:t>
            </a:r>
          </a:p>
          <a:p>
            <a:pPr algn="just">
              <a:lnSpc>
                <a:spcPts val="864"/>
              </a:lnSpc>
            </a:pPr>
          </a:p>
          <a:p>
            <a:pPr algn="just">
              <a:lnSpc>
                <a:spcPts val="864"/>
              </a:lnSpc>
            </a:pPr>
          </a:p>
          <a:p>
            <a:pPr algn="just">
              <a:lnSpc>
                <a:spcPts val="864"/>
              </a:lnSpc>
            </a:pPr>
          </a:p>
          <a:p>
            <a:pPr algn="just">
              <a:lnSpc>
                <a:spcPts val="864"/>
              </a:lnSpc>
            </a:pPr>
          </a:p>
          <a:p>
            <a:pPr algn="just">
              <a:lnSpc>
                <a:spcPts val="864"/>
              </a:lnSpc>
            </a:pPr>
            <a:r>
              <a:rPr lang="en-US" sz="1728" spc="1">
                <a:solidFill>
                  <a:srgbClr val="DC2626"/>
                </a:solidFill>
                <a:latin typeface="Aptos"/>
                <a:ea typeface="Aptos"/>
                <a:cs typeface="Aptos"/>
                <a:sym typeface="Aptos"/>
              </a:rPr>
              <a:t>57.1%</a:t>
            </a:r>
          </a:p>
          <a:p>
            <a:pPr algn="just" rtl="true">
              <a:lnSpc>
                <a:spcPts val="864"/>
              </a:lnSpc>
            </a:pPr>
          </a:p>
          <a:p>
            <a:pPr algn="just" rtl="true">
              <a:lnSpc>
                <a:spcPts val="864"/>
              </a:lnSpc>
            </a:pPr>
          </a:p>
          <a:p>
            <a:pPr algn="just" rtl="true">
              <a:lnSpc>
                <a:spcPts val="864"/>
              </a:lnSpc>
            </a:pPr>
          </a:p>
          <a:p>
            <a:pPr algn="just">
              <a:lnSpc>
                <a:spcPts val="864"/>
              </a:lnSpc>
            </a:pPr>
            <a:r>
              <a:rPr lang="en-US" sz="1728" spc="1">
                <a:solidFill>
                  <a:srgbClr val="DC2626"/>
                </a:solidFill>
                <a:latin typeface="Aptos"/>
                <a:ea typeface="Aptos"/>
                <a:cs typeface="Aptos"/>
                <a:sym typeface="Aptos"/>
              </a:rPr>
              <a:t>50.47%</a:t>
            </a:r>
          </a:p>
        </p:txBody>
      </p:sp>
      <p:sp>
        <p:nvSpPr>
          <p:cNvPr name="TextBox 16" id="16"/>
          <p:cNvSpPr txBox="true"/>
          <p:nvPr/>
        </p:nvSpPr>
        <p:spPr>
          <a:xfrm rot="0">
            <a:off x="10097767" y="2856471"/>
            <a:ext cx="488042" cy="157172"/>
          </a:xfrm>
          <a:prstGeom prst="rect">
            <a:avLst/>
          </a:prstGeom>
        </p:spPr>
        <p:txBody>
          <a:bodyPr anchor="t" rtlCol="false" tIns="0" lIns="0" bIns="0" rIns="0">
            <a:spAutoFit/>
          </a:bodyPr>
          <a:lstStyle/>
          <a:p>
            <a:pPr algn="l">
              <a:lnSpc>
                <a:spcPts val="1263"/>
              </a:lnSpc>
            </a:pPr>
            <a:r>
              <a:rPr lang="en-US" sz="902">
                <a:solidFill>
                  <a:srgbClr val="475569"/>
                </a:solidFill>
                <a:latin typeface="Aptos"/>
                <a:ea typeface="Aptos"/>
                <a:cs typeface="Aptos"/>
                <a:sym typeface="Aptos"/>
              </a:rPr>
              <a:t>3M MAPE</a:t>
            </a:r>
          </a:p>
        </p:txBody>
      </p:sp>
      <p:sp>
        <p:nvSpPr>
          <p:cNvPr name="TextBox 17" id="17"/>
          <p:cNvSpPr txBox="true"/>
          <p:nvPr/>
        </p:nvSpPr>
        <p:spPr>
          <a:xfrm rot="0">
            <a:off x="9232311" y="4684681"/>
            <a:ext cx="1730912" cy="727128"/>
          </a:xfrm>
          <a:prstGeom prst="rect">
            <a:avLst/>
          </a:prstGeom>
        </p:spPr>
        <p:txBody>
          <a:bodyPr anchor="t" rtlCol="false" tIns="0" lIns="0" bIns="0" rIns="0">
            <a:spAutoFit/>
          </a:bodyPr>
          <a:lstStyle/>
          <a:p>
            <a:pPr algn="just">
              <a:lnSpc>
                <a:spcPts val="971"/>
              </a:lnSpc>
            </a:pPr>
            <a:r>
              <a:rPr lang="en-US" sz="815">
                <a:solidFill>
                  <a:srgbClr val="0F172A"/>
                </a:solidFill>
                <a:latin typeface="Aptos"/>
                <a:ea typeface="Aptos"/>
                <a:cs typeface="Aptos"/>
                <a:sym typeface="Aptos"/>
              </a:rPr>
              <a:t>Final b</a:t>
            </a:r>
            <a:r>
              <a:rPr lang="en-US" sz="815">
                <a:solidFill>
                  <a:srgbClr val="0F172A"/>
                </a:solidFill>
                <a:latin typeface="Aptos"/>
                <a:ea typeface="Aptos"/>
                <a:cs typeface="Aptos"/>
                <a:sym typeface="Aptos"/>
              </a:rPr>
              <a:t>ase learners: RF, XGBoost, LightGBM, BiLSTM-Attention; SVR was discarded due to constant predictions.</a:t>
            </a:r>
          </a:p>
          <a:p>
            <a:pPr algn="just">
              <a:lnSpc>
                <a:spcPts val="971"/>
              </a:lnSpc>
            </a:pPr>
            <a:r>
              <a:rPr lang="en-US" sz="815">
                <a:solidFill>
                  <a:srgbClr val="0F172A"/>
                </a:solidFill>
                <a:latin typeface="Aptos"/>
                <a:ea typeface="Aptos"/>
                <a:cs typeface="Aptos"/>
                <a:sym typeface="Aptos"/>
              </a:rPr>
              <a:t>Conclu</a:t>
            </a:r>
            <a:r>
              <a:rPr lang="en-US" sz="815">
                <a:solidFill>
                  <a:srgbClr val="0F172A"/>
                </a:solidFill>
                <a:latin typeface="Aptos"/>
                <a:ea typeface="Aptos"/>
                <a:cs typeface="Aptos"/>
                <a:sym typeface="Aptos"/>
              </a:rPr>
              <a:t>sion: ensembles do not automatically</a:t>
            </a:r>
          </a:p>
          <a:p>
            <a:pPr algn="just">
              <a:lnSpc>
                <a:spcPts val="1535"/>
              </a:lnSpc>
            </a:pPr>
            <a:r>
              <a:rPr lang="en-US" sz="815">
                <a:solidFill>
                  <a:srgbClr val="0F172A"/>
                </a:solidFill>
                <a:latin typeface="Aptos"/>
                <a:ea typeface="Aptos"/>
                <a:cs typeface="Aptos"/>
                <a:sym typeface="Aptos"/>
              </a:rPr>
              <a:t>outp</a:t>
            </a:r>
            <a:r>
              <a:rPr lang="en-US" sz="815">
                <a:solidFill>
                  <a:srgbClr val="0F172A"/>
                </a:solidFill>
                <a:latin typeface="Aptos"/>
                <a:ea typeface="Aptos"/>
                <a:cs typeface="Aptos"/>
                <a:sym typeface="Aptos"/>
              </a:rPr>
              <a:t>erform single models.</a:t>
            </a:r>
          </a:p>
        </p:txBody>
      </p:sp>
      <p:sp>
        <p:nvSpPr>
          <p:cNvPr name="TextBox 18" id="18"/>
          <p:cNvSpPr txBox="true"/>
          <p:nvPr/>
        </p:nvSpPr>
        <p:spPr>
          <a:xfrm rot="0">
            <a:off x="533400" y="6334506"/>
            <a:ext cx="2390213"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notebook output, rolling 1-step plots and metrics</a:t>
            </a:r>
          </a:p>
        </p:txBody>
      </p:sp>
      <p:sp>
        <p:nvSpPr>
          <p:cNvPr name="TextBox 19" id="19"/>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21</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98484" y="1417634"/>
            <a:ext cx="6042022" cy="4479922"/>
          </a:xfrm>
          <a:custGeom>
            <a:avLst/>
            <a:gdLst/>
            <a:ahLst/>
            <a:cxnLst/>
            <a:rect r="r" b="b" t="t" l="l"/>
            <a:pathLst>
              <a:path h="4479922" w="6042022">
                <a:moveTo>
                  <a:pt x="0" y="0"/>
                </a:moveTo>
                <a:lnTo>
                  <a:pt x="6042022" y="0"/>
                </a:lnTo>
                <a:lnTo>
                  <a:pt x="6042022" y="4479922"/>
                </a:lnTo>
                <a:lnTo>
                  <a:pt x="0" y="44799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6884984" y="1589084"/>
            <a:ext cx="4232272" cy="3565522"/>
          </a:xfrm>
          <a:custGeom>
            <a:avLst/>
            <a:gdLst/>
            <a:ahLst/>
            <a:cxnLst/>
            <a:rect r="r" b="b" t="t" l="l"/>
            <a:pathLst>
              <a:path h="3565522" w="4232272">
                <a:moveTo>
                  <a:pt x="0" y="0"/>
                </a:moveTo>
                <a:lnTo>
                  <a:pt x="4232272" y="0"/>
                </a:lnTo>
                <a:lnTo>
                  <a:pt x="4232272" y="3565522"/>
                </a:lnTo>
                <a:lnTo>
                  <a:pt x="0" y="356552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834800" y="1630680"/>
            <a:ext cx="5451729" cy="3998595"/>
            <a:chOff x="0" y="0"/>
            <a:chExt cx="7268972" cy="5331460"/>
          </a:xfrm>
        </p:grpSpPr>
        <p:sp>
          <p:nvSpPr>
            <p:cNvPr name="Freeform 7" id="7"/>
            <p:cNvSpPr/>
            <p:nvPr/>
          </p:nvSpPr>
          <p:spPr>
            <a:xfrm flipH="false" flipV="false" rot="0">
              <a:off x="0" y="0"/>
              <a:ext cx="7268972" cy="5331460"/>
            </a:xfrm>
            <a:custGeom>
              <a:avLst/>
              <a:gdLst/>
              <a:ahLst/>
              <a:cxnLst/>
              <a:rect r="r" b="b" t="t" l="l"/>
              <a:pathLst>
                <a:path h="5331460" w="7268972">
                  <a:moveTo>
                    <a:pt x="0" y="0"/>
                  </a:moveTo>
                  <a:lnTo>
                    <a:pt x="7268972" y="0"/>
                  </a:lnTo>
                  <a:lnTo>
                    <a:pt x="7268972" y="5331460"/>
                  </a:lnTo>
                  <a:lnTo>
                    <a:pt x="0" y="5331460"/>
                  </a:lnTo>
                  <a:lnTo>
                    <a:pt x="0" y="0"/>
                  </a:lnTo>
                  <a:close/>
                </a:path>
              </a:pathLst>
            </a:custGeom>
            <a:blipFill>
              <a:blip r:embed="rId10"/>
              <a:stretch>
                <a:fillRect l="0" t="0" r="0" b="0"/>
              </a:stretch>
            </a:blipFill>
          </p:spPr>
        </p:sp>
      </p:grpSp>
      <p:sp>
        <p:nvSpPr>
          <p:cNvPr name="TextBox 8" id="8"/>
          <p:cNvSpPr txBox="true"/>
          <p:nvPr/>
        </p:nvSpPr>
        <p:spPr>
          <a:xfrm rot="0">
            <a:off x="838200" y="425596"/>
            <a:ext cx="1225553" cy="156801"/>
          </a:xfrm>
          <a:prstGeom prst="rect">
            <a:avLst/>
          </a:prstGeom>
        </p:spPr>
        <p:txBody>
          <a:bodyPr anchor="t" rtlCol="false" tIns="0" lIns="0" bIns="0" rIns="0">
            <a:spAutoFit/>
          </a:bodyPr>
          <a:lstStyle/>
          <a:p>
            <a:pPr algn="l">
              <a:lnSpc>
                <a:spcPts val="1260"/>
              </a:lnSpc>
            </a:pPr>
            <a:r>
              <a:rPr lang="en-US" sz="900" spc="0">
                <a:solidFill>
                  <a:srgbClr val="0E7490"/>
                </a:solidFill>
                <a:latin typeface="Aptos"/>
                <a:ea typeface="Aptos"/>
                <a:cs typeface="Aptos"/>
                <a:sym typeface="Aptos"/>
              </a:rPr>
              <a:t>XAI -SHAP WATERFALL</a:t>
            </a:r>
          </a:p>
        </p:txBody>
      </p:sp>
      <p:sp>
        <p:nvSpPr>
          <p:cNvPr name="TextBox 9" id="9"/>
          <p:cNvSpPr txBox="true"/>
          <p:nvPr/>
        </p:nvSpPr>
        <p:spPr>
          <a:xfrm rot="0">
            <a:off x="5074034" y="912847"/>
            <a:ext cx="2328920" cy="414966"/>
          </a:xfrm>
          <a:prstGeom prst="rect">
            <a:avLst/>
          </a:prstGeom>
        </p:spPr>
        <p:txBody>
          <a:bodyPr anchor="t" rtlCol="false" tIns="0" lIns="0" bIns="0" rIns="0">
            <a:spAutoFit/>
          </a:bodyPr>
          <a:lstStyle/>
          <a:p>
            <a:pPr algn="l">
              <a:lnSpc>
                <a:spcPts val="3359"/>
              </a:lnSpc>
            </a:pPr>
            <a:r>
              <a:rPr lang="en-US" sz="2400">
                <a:solidFill>
                  <a:srgbClr val="0F172A"/>
                </a:solidFill>
                <a:latin typeface="Aptos"/>
                <a:ea typeface="Aptos"/>
                <a:cs typeface="Aptos"/>
                <a:sym typeface="Aptos"/>
              </a:rPr>
              <a:t>XAI SHAP BiLSTM</a:t>
            </a:r>
          </a:p>
        </p:txBody>
      </p:sp>
      <p:sp>
        <p:nvSpPr>
          <p:cNvPr name="TextBox 10" id="10"/>
          <p:cNvSpPr txBox="true"/>
          <p:nvPr/>
        </p:nvSpPr>
        <p:spPr>
          <a:xfrm rot="0">
            <a:off x="7239886" y="1902466"/>
            <a:ext cx="1268413" cy="306644"/>
          </a:xfrm>
          <a:prstGeom prst="rect">
            <a:avLst/>
          </a:prstGeom>
        </p:spPr>
        <p:txBody>
          <a:bodyPr anchor="t" rtlCol="false" tIns="0" lIns="0" bIns="0" rIns="0">
            <a:spAutoFit/>
          </a:bodyPr>
          <a:lstStyle/>
          <a:p>
            <a:pPr algn="l">
              <a:lnSpc>
                <a:spcPts val="2523"/>
              </a:lnSpc>
            </a:pPr>
            <a:r>
              <a:rPr lang="en-US" sz="1802">
                <a:solidFill>
                  <a:srgbClr val="0F172A"/>
                </a:solidFill>
                <a:latin typeface="Aptos"/>
                <a:ea typeface="Aptos"/>
                <a:cs typeface="Aptos"/>
                <a:sym typeface="Aptos"/>
              </a:rPr>
              <a:t>M</a:t>
            </a:r>
            <a:r>
              <a:rPr lang="en-US" sz="1802">
                <a:solidFill>
                  <a:srgbClr val="0F172A"/>
                </a:solidFill>
                <a:latin typeface="Aptos"/>
                <a:ea typeface="Aptos"/>
                <a:cs typeface="Aptos"/>
                <a:sym typeface="Aptos"/>
              </a:rPr>
              <a:t>ain reading</a:t>
            </a:r>
          </a:p>
        </p:txBody>
      </p:sp>
      <p:sp>
        <p:nvSpPr>
          <p:cNvPr name="TextBox 11" id="11"/>
          <p:cNvSpPr txBox="true"/>
          <p:nvPr/>
        </p:nvSpPr>
        <p:spPr>
          <a:xfrm rot="0">
            <a:off x="7449569" y="2505408"/>
            <a:ext cx="3200381" cy="1838069"/>
          </a:xfrm>
          <a:prstGeom prst="rect">
            <a:avLst/>
          </a:prstGeom>
        </p:spPr>
        <p:txBody>
          <a:bodyPr anchor="t" rtlCol="false" tIns="0" lIns="0" bIns="0" rIns="0">
            <a:spAutoFit/>
          </a:bodyPr>
          <a:lstStyle/>
          <a:p>
            <a:pPr algn="l">
              <a:lnSpc>
                <a:spcPts val="1211"/>
              </a:lnSpc>
            </a:pPr>
            <a:r>
              <a:rPr lang="en-US" sz="1007">
                <a:solidFill>
                  <a:srgbClr val="0F172A"/>
                </a:solidFill>
                <a:latin typeface="Aptos"/>
                <a:ea typeface="Aptos"/>
                <a:cs typeface="Aptos"/>
                <a:sym typeface="Aptos"/>
              </a:rPr>
              <a:t>The b</a:t>
            </a:r>
            <a:r>
              <a:rPr lang="en-US" sz="1007">
                <a:solidFill>
                  <a:srgbClr val="0F172A"/>
                </a:solidFill>
                <a:latin typeface="Aptos"/>
                <a:ea typeface="Aptos"/>
                <a:cs typeface="Aptos"/>
                <a:sym typeface="Aptos"/>
              </a:rPr>
              <a:t>iggest positive driving features are: rolling_std_close_7 (+3.62) and SMA_50 (+2.56).</a:t>
            </a:r>
          </a:p>
          <a:p>
            <a:pPr algn="l">
              <a:lnSpc>
                <a:spcPts val="1211"/>
              </a:lnSpc>
            </a:pPr>
          </a:p>
          <a:p>
            <a:pPr algn="l">
              <a:lnSpc>
                <a:spcPts val="1211"/>
              </a:lnSpc>
            </a:pPr>
            <a:r>
              <a:rPr lang="en-US" sz="1007">
                <a:solidFill>
                  <a:srgbClr val="0F172A"/>
                </a:solidFill>
                <a:latin typeface="Aptos"/>
                <a:ea typeface="Aptos"/>
                <a:cs typeface="Aptos"/>
                <a:sym typeface="Aptos"/>
              </a:rPr>
              <a:t>The b</a:t>
            </a:r>
            <a:r>
              <a:rPr lang="en-US" sz="1007">
                <a:solidFill>
                  <a:srgbClr val="0F172A"/>
                </a:solidFill>
                <a:latin typeface="Aptos"/>
                <a:ea typeface="Aptos"/>
                <a:cs typeface="Aptos"/>
                <a:sym typeface="Aptos"/>
              </a:rPr>
              <a:t>iggest suppressing features are: rolling_mean_close_7 (-2.29), ATR_14 (-1.99), lag_close_1 (-1.73).</a:t>
            </a:r>
          </a:p>
          <a:p>
            <a:pPr algn="l">
              <a:lnSpc>
                <a:spcPts val="1211"/>
              </a:lnSpc>
            </a:pPr>
          </a:p>
          <a:p>
            <a:pPr algn="l">
              <a:lnSpc>
                <a:spcPts val="1211"/>
              </a:lnSpc>
            </a:pPr>
            <a:r>
              <a:rPr lang="en-US" sz="1007">
                <a:solidFill>
                  <a:srgbClr val="0F172A"/>
                </a:solidFill>
                <a:latin typeface="Aptos"/>
                <a:ea typeface="Aptos"/>
                <a:cs typeface="Aptos"/>
                <a:sym typeface="Aptos"/>
              </a:rPr>
              <a:t>The f</a:t>
            </a:r>
            <a:r>
              <a:rPr lang="en-US" sz="1007">
                <a:solidFill>
                  <a:srgbClr val="0F172A"/>
                </a:solidFill>
                <a:latin typeface="Aptos"/>
                <a:ea typeface="Aptos"/>
                <a:cs typeface="Aptos"/>
                <a:sym typeface="Aptos"/>
              </a:rPr>
              <a:t>inal predicted value of f(x) is approximately 0.27 from the baseline E[f(X)] = -0.013.</a:t>
            </a:r>
          </a:p>
          <a:p>
            <a:pPr algn="l">
              <a:lnSpc>
                <a:spcPts val="1211"/>
              </a:lnSpc>
            </a:pPr>
          </a:p>
          <a:p>
            <a:pPr algn="l">
              <a:lnSpc>
                <a:spcPts val="1211"/>
              </a:lnSpc>
            </a:pPr>
            <a:r>
              <a:rPr lang="en-US" sz="1007" spc="1">
                <a:solidFill>
                  <a:srgbClr val="0F172A"/>
                </a:solidFill>
                <a:latin typeface="Aptos"/>
                <a:ea typeface="Aptos"/>
                <a:cs typeface="Aptos"/>
                <a:sym typeface="Aptos"/>
              </a:rPr>
              <a:t>Interpretation: Volatility and moving averages are more dominant than volume features in the last observation.</a:t>
            </a:r>
          </a:p>
        </p:txBody>
      </p:sp>
      <p:sp>
        <p:nvSpPr>
          <p:cNvPr name="TextBox 12" id="12"/>
          <p:cNvSpPr txBox="true"/>
          <p:nvPr/>
        </p:nvSpPr>
        <p:spPr>
          <a:xfrm rot="0">
            <a:off x="533400" y="6334506"/>
            <a:ext cx="2487873"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supplied SHAP BiLSTM image; notebook feature set</a:t>
            </a:r>
          </a:p>
        </p:txBody>
      </p:sp>
      <p:sp>
        <p:nvSpPr>
          <p:cNvPr name="TextBox 13" id="13"/>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22</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2284" y="1417634"/>
            <a:ext cx="6613522" cy="4670422"/>
          </a:xfrm>
          <a:custGeom>
            <a:avLst/>
            <a:gdLst/>
            <a:ahLst/>
            <a:cxnLst/>
            <a:rect r="r" b="b" t="t" l="l"/>
            <a:pathLst>
              <a:path h="4670422" w="6613522">
                <a:moveTo>
                  <a:pt x="0" y="0"/>
                </a:moveTo>
                <a:lnTo>
                  <a:pt x="6613522" y="0"/>
                </a:lnTo>
                <a:lnTo>
                  <a:pt x="6613522" y="4670422"/>
                </a:lnTo>
                <a:lnTo>
                  <a:pt x="0" y="46704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380284" y="1722434"/>
            <a:ext cx="3470272" cy="3108322"/>
          </a:xfrm>
          <a:custGeom>
            <a:avLst/>
            <a:gdLst/>
            <a:ahLst/>
            <a:cxnLst/>
            <a:rect r="r" b="b" t="t" l="l"/>
            <a:pathLst>
              <a:path h="3108322" w="3470272">
                <a:moveTo>
                  <a:pt x="0" y="0"/>
                </a:moveTo>
                <a:lnTo>
                  <a:pt x="3470272" y="0"/>
                </a:lnTo>
                <a:lnTo>
                  <a:pt x="3470272" y="3108322"/>
                </a:lnTo>
                <a:lnTo>
                  <a:pt x="0" y="310832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742950" y="1570101"/>
            <a:ext cx="6149464" cy="4449699"/>
            <a:chOff x="0" y="0"/>
            <a:chExt cx="8199285" cy="5932932"/>
          </a:xfrm>
        </p:grpSpPr>
        <p:sp>
          <p:nvSpPr>
            <p:cNvPr name="Freeform 7" id="7"/>
            <p:cNvSpPr/>
            <p:nvPr/>
          </p:nvSpPr>
          <p:spPr>
            <a:xfrm flipH="false" flipV="false" rot="0">
              <a:off x="0" y="0"/>
              <a:ext cx="8199247" cy="5932932"/>
            </a:xfrm>
            <a:custGeom>
              <a:avLst/>
              <a:gdLst/>
              <a:ahLst/>
              <a:cxnLst/>
              <a:rect r="r" b="b" t="t" l="l"/>
              <a:pathLst>
                <a:path h="5932932" w="8199247">
                  <a:moveTo>
                    <a:pt x="0" y="0"/>
                  </a:moveTo>
                  <a:lnTo>
                    <a:pt x="8199247" y="0"/>
                  </a:lnTo>
                  <a:lnTo>
                    <a:pt x="8199247" y="5932932"/>
                  </a:lnTo>
                  <a:lnTo>
                    <a:pt x="0" y="5932932"/>
                  </a:lnTo>
                  <a:lnTo>
                    <a:pt x="0" y="0"/>
                  </a:lnTo>
                  <a:close/>
                </a:path>
              </a:pathLst>
            </a:custGeom>
            <a:blipFill>
              <a:blip r:embed="rId10"/>
              <a:stretch>
                <a:fillRect l="0" t="0" r="0" b="0"/>
              </a:stretch>
            </a:blipFill>
          </p:spPr>
        </p:sp>
      </p:grpSp>
      <p:sp>
        <p:nvSpPr>
          <p:cNvPr name="TextBox 8" id="8"/>
          <p:cNvSpPr txBox="true"/>
          <p:nvPr/>
        </p:nvSpPr>
        <p:spPr>
          <a:xfrm rot="0">
            <a:off x="838200" y="425596"/>
            <a:ext cx="1216571" cy="156801"/>
          </a:xfrm>
          <a:prstGeom prst="rect">
            <a:avLst/>
          </a:prstGeom>
        </p:spPr>
        <p:txBody>
          <a:bodyPr anchor="t" rtlCol="false" tIns="0" lIns="0" bIns="0" rIns="0">
            <a:spAutoFit/>
          </a:bodyPr>
          <a:lstStyle/>
          <a:p>
            <a:pPr algn="l">
              <a:lnSpc>
                <a:spcPts val="1260"/>
              </a:lnSpc>
            </a:pPr>
            <a:r>
              <a:rPr lang="en-US" sz="900" spc="0">
                <a:solidFill>
                  <a:srgbClr val="0E7490"/>
                </a:solidFill>
                <a:latin typeface="Aptos"/>
                <a:ea typeface="Aptos"/>
                <a:cs typeface="Aptos"/>
                <a:sym typeface="Aptos"/>
              </a:rPr>
              <a:t>XAI -SHAP BEESWARM</a:t>
            </a:r>
          </a:p>
        </p:txBody>
      </p:sp>
      <p:sp>
        <p:nvSpPr>
          <p:cNvPr name="TextBox 9" id="9"/>
          <p:cNvSpPr txBox="true"/>
          <p:nvPr/>
        </p:nvSpPr>
        <p:spPr>
          <a:xfrm rot="0">
            <a:off x="589178" y="717518"/>
            <a:ext cx="9970122" cy="723900"/>
          </a:xfrm>
          <a:prstGeom prst="rect">
            <a:avLst/>
          </a:prstGeom>
        </p:spPr>
        <p:txBody>
          <a:bodyPr anchor="t" rtlCol="false" tIns="0" lIns="0" bIns="0" rIns="0">
            <a:spAutoFit/>
          </a:bodyPr>
          <a:lstStyle/>
          <a:p>
            <a:pPr algn="l">
              <a:lnSpc>
                <a:spcPts val="2879"/>
              </a:lnSpc>
            </a:pPr>
            <a:r>
              <a:rPr lang="en-US" sz="2400">
                <a:solidFill>
                  <a:srgbClr val="0F172A"/>
                </a:solidFill>
                <a:latin typeface="Aptos"/>
                <a:ea typeface="Aptos"/>
                <a:cs typeface="Aptos"/>
                <a:sym typeface="Aptos"/>
              </a:rPr>
              <a:t>Ov</a:t>
            </a:r>
            <a:r>
              <a:rPr lang="en-US" sz="2400">
                <a:solidFill>
                  <a:srgbClr val="0F172A"/>
                </a:solidFill>
                <a:latin typeface="Aptos"/>
                <a:ea typeface="Aptos"/>
                <a:cs typeface="Aptos"/>
                <a:sym typeface="Aptos"/>
              </a:rPr>
              <a:t>er the past 3 months, the biggest feature impacts still come from volatility, price bands, and close lag.</a:t>
            </a:r>
          </a:p>
        </p:txBody>
      </p:sp>
      <p:sp>
        <p:nvSpPr>
          <p:cNvPr name="TextBox 10" id="10"/>
          <p:cNvSpPr txBox="true"/>
          <p:nvPr/>
        </p:nvSpPr>
        <p:spPr>
          <a:xfrm rot="0">
            <a:off x="7887586" y="2084537"/>
            <a:ext cx="2551490" cy="1686865"/>
          </a:xfrm>
          <a:prstGeom prst="rect">
            <a:avLst/>
          </a:prstGeom>
        </p:spPr>
        <p:txBody>
          <a:bodyPr anchor="t" rtlCol="false" tIns="0" lIns="0" bIns="0" rIns="0">
            <a:spAutoFit/>
          </a:bodyPr>
          <a:lstStyle/>
          <a:p>
            <a:pPr algn="l">
              <a:lnSpc>
                <a:spcPts val="1262"/>
              </a:lnSpc>
            </a:pPr>
            <a:r>
              <a:rPr lang="en-US" sz="1058">
                <a:solidFill>
                  <a:srgbClr val="0F172A"/>
                </a:solidFill>
                <a:latin typeface="Aptos"/>
                <a:ea typeface="Aptos"/>
                <a:cs typeface="Aptos"/>
                <a:sym typeface="Aptos"/>
              </a:rPr>
              <a:t>rolling_std_close_7 has the widest positive SHAP distribution.</a:t>
            </a:r>
          </a:p>
          <a:p>
            <a:pPr algn="l">
              <a:lnSpc>
                <a:spcPts val="1262"/>
              </a:lnSpc>
            </a:pPr>
          </a:p>
          <a:p>
            <a:pPr algn="l">
              <a:lnSpc>
                <a:spcPts val="1262"/>
              </a:lnSpc>
            </a:pPr>
            <a:r>
              <a:rPr lang="en-US" sz="1058">
                <a:solidFill>
                  <a:srgbClr val="0F172A"/>
                </a:solidFill>
                <a:latin typeface="Aptos"/>
                <a:ea typeface="Aptos"/>
                <a:cs typeface="Aptos"/>
                <a:sym typeface="Aptos"/>
              </a:rPr>
              <a:t>BBL_20_2 and rolling_mean_close_7 often have negative impacts.</a:t>
            </a:r>
          </a:p>
          <a:p>
            <a:pPr algn="l">
              <a:lnSpc>
                <a:spcPts val="1262"/>
              </a:lnSpc>
            </a:pPr>
          </a:p>
          <a:p>
            <a:pPr algn="l">
              <a:lnSpc>
                <a:spcPts val="1262"/>
              </a:lnSpc>
            </a:pPr>
            <a:r>
              <a:rPr lang="en-US" sz="1058">
                <a:solidFill>
                  <a:srgbClr val="0F172A"/>
                </a:solidFill>
                <a:latin typeface="Aptos"/>
                <a:ea typeface="Aptos"/>
                <a:cs typeface="Aptos"/>
                <a:sym typeface="Aptos"/>
              </a:rPr>
              <a:t>SMA_50, lag_close_3, and lag_close_7</a:t>
            </a:r>
          </a:p>
          <a:p>
            <a:pPr algn="l">
              <a:lnSpc>
                <a:spcPts val="1262"/>
              </a:lnSpc>
            </a:pPr>
            <a:r>
              <a:rPr lang="en-US" sz="1058">
                <a:solidFill>
                  <a:srgbClr val="0F172A"/>
                </a:solidFill>
                <a:latin typeface="Aptos"/>
                <a:ea typeface="Aptos"/>
                <a:cs typeface="Aptos"/>
                <a:sym typeface="Aptos"/>
              </a:rPr>
              <a:t>more often drive positive output.</a:t>
            </a:r>
          </a:p>
          <a:p>
            <a:pPr algn="l">
              <a:lnSpc>
                <a:spcPts val="1262"/>
              </a:lnSpc>
            </a:pPr>
          </a:p>
          <a:p>
            <a:pPr algn="l">
              <a:lnSpc>
                <a:spcPts val="1259"/>
              </a:lnSpc>
            </a:pPr>
            <a:r>
              <a:rPr lang="en-US" sz="1056">
                <a:solidFill>
                  <a:srgbClr val="0F172A"/>
                </a:solidFill>
                <a:latin typeface="Aptos"/>
                <a:ea typeface="Aptos"/>
                <a:cs typeface="Aptos"/>
                <a:sym typeface="Aptos"/>
              </a:rPr>
              <a:t>The</a:t>
            </a:r>
            <a:r>
              <a:rPr lang="en-US" sz="1056">
                <a:solidFill>
                  <a:srgbClr val="0F172A"/>
                </a:solidFill>
                <a:latin typeface="Aptos"/>
                <a:ea typeface="Aptos"/>
                <a:cs typeface="Aptos"/>
                <a:sym typeface="Aptos"/>
              </a:rPr>
              <a:t> volume and Return_Today_features appear small in this XAI window.</a:t>
            </a:r>
          </a:p>
        </p:txBody>
      </p:sp>
      <p:sp>
        <p:nvSpPr>
          <p:cNvPr name="TextBox 11" id="11"/>
          <p:cNvSpPr txBox="true"/>
          <p:nvPr/>
        </p:nvSpPr>
        <p:spPr>
          <a:xfrm rot="0">
            <a:off x="533400" y="6334506"/>
            <a:ext cx="2458164" cy="123673"/>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supplied SHAP BiLSTM image; notebook feature set</a:t>
            </a:r>
          </a:p>
        </p:txBody>
      </p:sp>
      <p:sp>
        <p:nvSpPr>
          <p:cNvPr name="TextBox 12" id="12"/>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23</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533400" y="495300"/>
            <a:ext cx="209550" cy="38100"/>
          </a:xfrm>
          <a:custGeom>
            <a:avLst/>
            <a:gdLst/>
            <a:ahLst/>
            <a:cxnLst/>
            <a:rect r="r" b="b" t="t" l="l"/>
            <a:pathLst>
              <a:path h="38100" w="209550">
                <a:moveTo>
                  <a:pt x="0" y="0"/>
                </a:moveTo>
                <a:lnTo>
                  <a:pt x="209550" y="0"/>
                </a:lnTo>
                <a:lnTo>
                  <a:pt x="209550" y="38100"/>
                </a:lnTo>
                <a:lnTo>
                  <a:pt x="0" y="38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4197" y="1650997"/>
            <a:ext cx="5194297" cy="1346197"/>
          </a:xfrm>
          <a:custGeom>
            <a:avLst/>
            <a:gdLst/>
            <a:ahLst/>
            <a:cxnLst/>
            <a:rect r="r" b="b" t="t" l="l"/>
            <a:pathLst>
              <a:path h="1346197" w="5194297">
                <a:moveTo>
                  <a:pt x="0" y="0"/>
                </a:moveTo>
                <a:lnTo>
                  <a:pt x="5194297" y="0"/>
                </a:lnTo>
                <a:lnTo>
                  <a:pt x="5194297" y="1346197"/>
                </a:lnTo>
                <a:lnTo>
                  <a:pt x="0" y="13461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84197" y="3451222"/>
            <a:ext cx="5194297" cy="727072"/>
          </a:xfrm>
          <a:custGeom>
            <a:avLst/>
            <a:gdLst/>
            <a:ahLst/>
            <a:cxnLst/>
            <a:rect r="r" b="b" t="t" l="l"/>
            <a:pathLst>
              <a:path h="727072" w="5194297">
                <a:moveTo>
                  <a:pt x="0" y="0"/>
                </a:moveTo>
                <a:lnTo>
                  <a:pt x="5194297" y="0"/>
                </a:lnTo>
                <a:lnTo>
                  <a:pt x="5194297" y="727072"/>
                </a:lnTo>
                <a:lnTo>
                  <a:pt x="0" y="7270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04850" y="4695825"/>
            <a:ext cx="4953000" cy="9525"/>
          </a:xfrm>
          <a:custGeom>
            <a:avLst/>
            <a:gdLst/>
            <a:ahLst/>
            <a:cxnLst/>
            <a:rect r="r" b="b" t="t" l="l"/>
            <a:pathLst>
              <a:path h="9525" w="4953000">
                <a:moveTo>
                  <a:pt x="0" y="0"/>
                </a:moveTo>
                <a:lnTo>
                  <a:pt x="4953000" y="0"/>
                </a:lnTo>
                <a:lnTo>
                  <a:pt x="4953000" y="9525"/>
                </a:lnTo>
                <a:lnTo>
                  <a:pt x="0" y="95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514350" y="6238875"/>
            <a:ext cx="11163300" cy="9525"/>
          </a:xfrm>
          <a:custGeom>
            <a:avLst/>
            <a:gdLst/>
            <a:ahLst/>
            <a:cxnLst/>
            <a:rect r="r" b="b" t="t" l="l"/>
            <a:pathLst>
              <a:path h="9525" w="11163300">
                <a:moveTo>
                  <a:pt x="0" y="0"/>
                </a:moveTo>
                <a:lnTo>
                  <a:pt x="11163300" y="0"/>
                </a:lnTo>
                <a:lnTo>
                  <a:pt x="11163300" y="9525"/>
                </a:lnTo>
                <a:lnTo>
                  <a:pt x="0" y="952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2034" y="1722434"/>
            <a:ext cx="4232272" cy="2822572"/>
          </a:xfrm>
          <a:custGeom>
            <a:avLst/>
            <a:gdLst/>
            <a:ahLst/>
            <a:cxnLst/>
            <a:rect r="r" b="b" t="t" l="l"/>
            <a:pathLst>
              <a:path h="2822572" w="4232272">
                <a:moveTo>
                  <a:pt x="0" y="0"/>
                </a:moveTo>
                <a:lnTo>
                  <a:pt x="4232272" y="0"/>
                </a:lnTo>
                <a:lnTo>
                  <a:pt x="4232272" y="2822572"/>
                </a:lnTo>
                <a:lnTo>
                  <a:pt x="0" y="28225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838200" y="425596"/>
            <a:ext cx="716558" cy="148590"/>
          </a:xfrm>
          <a:prstGeom prst="rect">
            <a:avLst/>
          </a:prstGeom>
        </p:spPr>
        <p:txBody>
          <a:bodyPr anchor="t" rtlCol="false" tIns="0" lIns="0" bIns="0" rIns="0">
            <a:spAutoFit/>
          </a:bodyPr>
          <a:lstStyle/>
          <a:p>
            <a:pPr algn="l">
              <a:lnSpc>
                <a:spcPts val="1260"/>
              </a:lnSpc>
            </a:pPr>
            <a:r>
              <a:rPr lang="en-US" sz="900">
                <a:solidFill>
                  <a:srgbClr val="0E7490"/>
                </a:solidFill>
                <a:latin typeface="Aptos"/>
                <a:ea typeface="Aptos"/>
                <a:cs typeface="Aptos"/>
                <a:sym typeface="Aptos"/>
              </a:rPr>
              <a:t>CONCLU</a:t>
            </a:r>
            <a:r>
              <a:rPr lang="en-US" sz="900">
                <a:solidFill>
                  <a:srgbClr val="0E7490"/>
                </a:solidFill>
                <a:latin typeface="Aptos"/>
                <a:ea typeface="Aptos"/>
                <a:cs typeface="Aptos"/>
                <a:sym typeface="Aptos"/>
              </a:rPr>
              <a:t>SION</a:t>
            </a:r>
          </a:p>
        </p:txBody>
      </p:sp>
      <p:sp>
        <p:nvSpPr>
          <p:cNvPr name="TextBox 9" id="9"/>
          <p:cNvSpPr txBox="true"/>
          <p:nvPr/>
        </p:nvSpPr>
        <p:spPr>
          <a:xfrm rot="0">
            <a:off x="533400" y="693639"/>
            <a:ext cx="9796329" cy="824865"/>
          </a:xfrm>
          <a:prstGeom prst="rect">
            <a:avLst/>
          </a:prstGeom>
        </p:spPr>
        <p:txBody>
          <a:bodyPr anchor="t" rtlCol="false" tIns="0" lIns="0" bIns="0" rIns="0">
            <a:spAutoFit/>
          </a:bodyPr>
          <a:lstStyle/>
          <a:p>
            <a:pPr algn="l">
              <a:lnSpc>
                <a:spcPts val="3359"/>
              </a:lnSpc>
            </a:pPr>
            <a:r>
              <a:rPr lang="en-US" sz="2400">
                <a:solidFill>
                  <a:srgbClr val="0F172A"/>
                </a:solidFill>
                <a:latin typeface="Aptos"/>
                <a:ea typeface="Aptos"/>
                <a:cs typeface="Aptos"/>
                <a:sym typeface="Aptos"/>
              </a:rPr>
              <a:t>The p</a:t>
            </a:r>
            <a:r>
              <a:rPr lang="en-US" sz="2400">
                <a:solidFill>
                  <a:srgbClr val="0F172A"/>
                </a:solidFill>
                <a:latin typeface="Aptos"/>
                <a:ea typeface="Aptos"/>
                <a:cs typeface="Aptos"/>
                <a:sym typeface="Aptos"/>
              </a:rPr>
              <a:t>ipeline successfully builds a complete NVDA prediction baseline, but the results should be read conservatively.</a:t>
            </a:r>
          </a:p>
        </p:txBody>
      </p:sp>
      <p:sp>
        <p:nvSpPr>
          <p:cNvPr name="TextBox 10" id="10"/>
          <p:cNvSpPr txBox="true"/>
          <p:nvPr/>
        </p:nvSpPr>
        <p:spPr>
          <a:xfrm rot="0">
            <a:off x="752551" y="4268191"/>
            <a:ext cx="181099" cy="160477"/>
          </a:xfrm>
          <a:prstGeom prst="rect">
            <a:avLst/>
          </a:prstGeom>
        </p:spPr>
        <p:txBody>
          <a:bodyPr anchor="t" rtlCol="false" tIns="0" lIns="0" bIns="0" rIns="0">
            <a:spAutoFit/>
          </a:bodyPr>
          <a:lstStyle/>
          <a:p>
            <a:pPr algn="l">
              <a:lnSpc>
                <a:spcPts val="1293"/>
              </a:lnSpc>
            </a:pPr>
            <a:r>
              <a:rPr lang="en-US" sz="923">
                <a:solidFill>
                  <a:srgbClr val="0F172A"/>
                </a:solidFill>
                <a:latin typeface="Aptos"/>
                <a:ea typeface="Aptos"/>
                <a:cs typeface="Aptos"/>
                <a:sym typeface="Aptos"/>
              </a:rPr>
              <a:t>XAI</a:t>
            </a:r>
          </a:p>
        </p:txBody>
      </p:sp>
      <p:sp>
        <p:nvSpPr>
          <p:cNvPr name="TextBox 11" id="11"/>
          <p:cNvSpPr txBox="true"/>
          <p:nvPr/>
        </p:nvSpPr>
        <p:spPr>
          <a:xfrm rot="0">
            <a:off x="752551" y="1919707"/>
            <a:ext cx="426641" cy="157505"/>
          </a:xfrm>
          <a:prstGeom prst="rect">
            <a:avLst/>
          </a:prstGeom>
        </p:spPr>
        <p:txBody>
          <a:bodyPr anchor="t" rtlCol="false" tIns="0" lIns="0" bIns="0" rIns="0">
            <a:spAutoFit/>
          </a:bodyPr>
          <a:lstStyle/>
          <a:p>
            <a:pPr algn="l">
              <a:lnSpc>
                <a:spcPts val="1293"/>
              </a:lnSpc>
            </a:pPr>
            <a:r>
              <a:rPr lang="en-US" sz="923">
                <a:solidFill>
                  <a:srgbClr val="0F172A"/>
                </a:solidFill>
                <a:latin typeface="Aptos"/>
                <a:ea typeface="Aptos"/>
                <a:cs typeface="Aptos"/>
                <a:sym typeface="Aptos"/>
              </a:rPr>
              <a:t>Fi</a:t>
            </a:r>
            <a:r>
              <a:rPr lang="en-US" sz="923">
                <a:solidFill>
                  <a:srgbClr val="0F172A"/>
                </a:solidFill>
                <a:latin typeface="Aptos"/>
                <a:ea typeface="Aptos"/>
                <a:cs typeface="Aptos"/>
                <a:sym typeface="Aptos"/>
              </a:rPr>
              <a:t>ndings</a:t>
            </a:r>
          </a:p>
        </p:txBody>
      </p:sp>
      <p:sp>
        <p:nvSpPr>
          <p:cNvPr name="TextBox 12" id="12"/>
          <p:cNvSpPr txBox="true"/>
          <p:nvPr/>
        </p:nvSpPr>
        <p:spPr>
          <a:xfrm rot="0">
            <a:off x="752551" y="2496036"/>
            <a:ext cx="824706" cy="157505"/>
          </a:xfrm>
          <a:prstGeom prst="rect">
            <a:avLst/>
          </a:prstGeom>
        </p:spPr>
        <p:txBody>
          <a:bodyPr anchor="t" rtlCol="false" tIns="0" lIns="0" bIns="0" rIns="0">
            <a:spAutoFit/>
          </a:bodyPr>
          <a:lstStyle/>
          <a:p>
            <a:pPr algn="l">
              <a:lnSpc>
                <a:spcPts val="1293"/>
              </a:lnSpc>
            </a:pPr>
            <a:r>
              <a:rPr lang="en-US" sz="923">
                <a:solidFill>
                  <a:srgbClr val="0F172A"/>
                </a:solidFill>
                <a:latin typeface="Aptos"/>
                <a:ea typeface="Aptos"/>
                <a:cs typeface="Aptos"/>
                <a:sym typeface="Aptos"/>
              </a:rPr>
              <a:t>DA's best m</a:t>
            </a:r>
            <a:r>
              <a:rPr lang="en-US" sz="923">
                <a:solidFill>
                  <a:srgbClr val="0F172A"/>
                </a:solidFill>
                <a:latin typeface="Aptos"/>
                <a:ea typeface="Aptos"/>
                <a:cs typeface="Aptos"/>
                <a:sym typeface="Aptos"/>
              </a:rPr>
              <a:t>odel</a:t>
            </a:r>
          </a:p>
        </p:txBody>
      </p:sp>
      <p:sp>
        <p:nvSpPr>
          <p:cNvPr name="TextBox 13" id="13"/>
          <p:cNvSpPr txBox="true"/>
          <p:nvPr/>
        </p:nvSpPr>
        <p:spPr>
          <a:xfrm rot="0">
            <a:off x="752551" y="3677383"/>
            <a:ext cx="916505" cy="160477"/>
          </a:xfrm>
          <a:prstGeom prst="rect">
            <a:avLst/>
          </a:prstGeom>
        </p:spPr>
        <p:txBody>
          <a:bodyPr anchor="t" rtlCol="false" tIns="0" lIns="0" bIns="0" rIns="0">
            <a:spAutoFit/>
          </a:bodyPr>
          <a:lstStyle/>
          <a:p>
            <a:pPr algn="l">
              <a:lnSpc>
                <a:spcPts val="1293"/>
              </a:lnSpc>
            </a:pPr>
            <a:r>
              <a:rPr lang="en-US" sz="923" spc="0">
                <a:solidFill>
                  <a:srgbClr val="0F172A"/>
                </a:solidFill>
                <a:latin typeface="Aptos"/>
                <a:ea typeface="Aptos"/>
                <a:cs typeface="Aptos"/>
                <a:sym typeface="Aptos"/>
              </a:rPr>
              <a:t>Research finding</a:t>
            </a:r>
          </a:p>
        </p:txBody>
      </p:sp>
      <p:sp>
        <p:nvSpPr>
          <p:cNvPr name="TextBox 14" id="14"/>
          <p:cNvSpPr txBox="true"/>
          <p:nvPr/>
        </p:nvSpPr>
        <p:spPr>
          <a:xfrm rot="0">
            <a:off x="752551" y="3086710"/>
            <a:ext cx="1015305" cy="157505"/>
          </a:xfrm>
          <a:prstGeom prst="rect">
            <a:avLst/>
          </a:prstGeom>
        </p:spPr>
        <p:txBody>
          <a:bodyPr anchor="t" rtlCol="false" tIns="0" lIns="0" bIns="0" rIns="0">
            <a:spAutoFit/>
          </a:bodyPr>
          <a:lstStyle/>
          <a:p>
            <a:pPr algn="l">
              <a:lnSpc>
                <a:spcPts val="1293"/>
              </a:lnSpc>
            </a:pPr>
            <a:r>
              <a:rPr lang="en-US" sz="923">
                <a:solidFill>
                  <a:srgbClr val="0F172A"/>
                </a:solidFill>
                <a:latin typeface="Aptos"/>
                <a:ea typeface="Aptos"/>
                <a:cs typeface="Aptos"/>
                <a:sym typeface="Aptos"/>
              </a:rPr>
              <a:t>Str</a:t>
            </a:r>
            <a:r>
              <a:rPr lang="en-US" sz="923">
                <a:solidFill>
                  <a:srgbClr val="0F172A"/>
                </a:solidFill>
                <a:latin typeface="Aptos"/>
                <a:ea typeface="Aptos"/>
                <a:cs typeface="Aptos"/>
                <a:sym typeface="Aptos"/>
              </a:rPr>
              <a:t>ong rolling model</a:t>
            </a:r>
          </a:p>
        </p:txBody>
      </p:sp>
      <p:sp>
        <p:nvSpPr>
          <p:cNvPr name="TextBox 15" id="15"/>
          <p:cNvSpPr txBox="true"/>
          <p:nvPr/>
        </p:nvSpPr>
        <p:spPr>
          <a:xfrm rot="0">
            <a:off x="2229869" y="1919707"/>
            <a:ext cx="473075" cy="157505"/>
          </a:xfrm>
          <a:prstGeom prst="rect">
            <a:avLst/>
          </a:prstGeom>
        </p:spPr>
        <p:txBody>
          <a:bodyPr anchor="t" rtlCol="false" tIns="0" lIns="0" bIns="0" rIns="0">
            <a:spAutoFit/>
          </a:bodyPr>
          <a:lstStyle/>
          <a:p>
            <a:pPr algn="l">
              <a:lnSpc>
                <a:spcPts val="1293"/>
              </a:lnSpc>
            </a:pPr>
            <a:r>
              <a:rPr lang="en-US" sz="923" spc="2">
                <a:solidFill>
                  <a:srgbClr val="0F172A"/>
                </a:solidFill>
                <a:latin typeface="Aptos"/>
                <a:ea typeface="Aptos"/>
                <a:cs typeface="Aptos"/>
                <a:sym typeface="Aptos"/>
              </a:rPr>
              <a:t>Content</a:t>
            </a:r>
            <a:r>
              <a:rPr lang="en-US" sz="923" spc="2">
                <a:solidFill>
                  <a:srgbClr val="0F172A"/>
                </a:solidFill>
                <a:latin typeface="Aptos"/>
                <a:ea typeface="Aptos"/>
                <a:cs typeface="Aptos"/>
                <a:sym typeface="Aptos"/>
              </a:rPr>
              <a:t>s</a:t>
            </a:r>
          </a:p>
        </p:txBody>
      </p:sp>
      <p:sp>
        <p:nvSpPr>
          <p:cNvPr name="TextBox 16" id="16"/>
          <p:cNvSpPr txBox="true"/>
          <p:nvPr/>
        </p:nvSpPr>
        <p:spPr>
          <a:xfrm rot="0">
            <a:off x="2721769" y="3016072"/>
            <a:ext cx="24365" cy="160839"/>
          </a:xfrm>
          <a:prstGeom prst="rect">
            <a:avLst/>
          </a:prstGeom>
        </p:spPr>
        <p:txBody>
          <a:bodyPr anchor="t" rtlCol="false" tIns="0" lIns="0" bIns="0" rIns="0">
            <a:spAutoFit/>
          </a:bodyPr>
          <a:lstStyle/>
          <a:p>
            <a:pPr algn="l">
              <a:lnSpc>
                <a:spcPts val="1296"/>
              </a:lnSpc>
            </a:pPr>
            <a:r>
              <a:rPr lang="en-US" sz="926">
                <a:solidFill>
                  <a:srgbClr val="0F172A"/>
                </a:solidFill>
                <a:latin typeface="Aptos"/>
                <a:ea typeface="Aptos"/>
                <a:cs typeface="Aptos"/>
                <a:sym typeface="Aptos"/>
              </a:rPr>
              <a:t> </a:t>
            </a:r>
          </a:p>
        </p:txBody>
      </p:sp>
      <p:sp>
        <p:nvSpPr>
          <p:cNvPr name="TextBox 17" id="17"/>
          <p:cNvSpPr txBox="true"/>
          <p:nvPr/>
        </p:nvSpPr>
        <p:spPr>
          <a:xfrm rot="0">
            <a:off x="2229869" y="3607032"/>
            <a:ext cx="2933243" cy="319430"/>
          </a:xfrm>
          <a:prstGeom prst="rect">
            <a:avLst/>
          </a:prstGeom>
        </p:spPr>
        <p:txBody>
          <a:bodyPr anchor="t" rtlCol="false" tIns="0" lIns="0" bIns="0" rIns="0">
            <a:spAutoFit/>
          </a:bodyPr>
          <a:lstStyle/>
          <a:p>
            <a:pPr algn="l">
              <a:lnSpc>
                <a:spcPts val="1293"/>
              </a:lnSpc>
            </a:pPr>
            <a:r>
              <a:rPr lang="en-US" sz="923">
                <a:solidFill>
                  <a:srgbClr val="0F172A"/>
                </a:solidFill>
                <a:latin typeface="Aptos"/>
                <a:ea typeface="Aptos"/>
                <a:cs typeface="Aptos"/>
                <a:sym typeface="Aptos"/>
              </a:rPr>
              <a:t>In </a:t>
            </a:r>
            <a:r>
              <a:rPr lang="en-US" sz="923">
                <a:solidFill>
                  <a:srgbClr val="0F172A"/>
                </a:solidFill>
                <a:latin typeface="Aptos"/>
                <a:ea typeface="Aptos"/>
                <a:cs typeface="Aptos"/>
                <a:sym typeface="Aptos"/>
              </a:rPr>
              <a:t>line with CEEJ: single models can outperform ensembles</a:t>
            </a:r>
          </a:p>
        </p:txBody>
      </p:sp>
      <p:sp>
        <p:nvSpPr>
          <p:cNvPr name="TextBox 18" id="18"/>
          <p:cNvSpPr txBox="true"/>
          <p:nvPr/>
        </p:nvSpPr>
        <p:spPr>
          <a:xfrm rot="0">
            <a:off x="2229869" y="2496036"/>
            <a:ext cx="3211513" cy="157505"/>
          </a:xfrm>
          <a:prstGeom prst="rect">
            <a:avLst/>
          </a:prstGeom>
        </p:spPr>
        <p:txBody>
          <a:bodyPr anchor="t" rtlCol="false" tIns="0" lIns="0" bIns="0" rIns="0">
            <a:spAutoFit/>
          </a:bodyPr>
          <a:lstStyle/>
          <a:p>
            <a:pPr algn="l">
              <a:lnSpc>
                <a:spcPts val="1293"/>
              </a:lnSpc>
            </a:pPr>
            <a:r>
              <a:rPr lang="en-US" sz="923">
                <a:solidFill>
                  <a:srgbClr val="0F172A"/>
                </a:solidFill>
                <a:latin typeface="Aptos"/>
                <a:ea typeface="Aptos"/>
                <a:cs typeface="Aptos"/>
                <a:sym typeface="Aptos"/>
              </a:rPr>
              <a:t>BiLSTM-Attention: DA return 54.85%; rolling 3 months DA 58.7%</a:t>
            </a:r>
          </a:p>
        </p:txBody>
      </p:sp>
      <p:sp>
        <p:nvSpPr>
          <p:cNvPr name="TextBox 19" id="19"/>
          <p:cNvSpPr txBox="true"/>
          <p:nvPr/>
        </p:nvSpPr>
        <p:spPr>
          <a:xfrm rot="0">
            <a:off x="2229869" y="4207231"/>
            <a:ext cx="3228537" cy="276812"/>
          </a:xfrm>
          <a:prstGeom prst="rect">
            <a:avLst/>
          </a:prstGeom>
        </p:spPr>
        <p:txBody>
          <a:bodyPr anchor="t" rtlCol="false" tIns="0" lIns="0" bIns="0" rIns="0">
            <a:spAutoFit/>
          </a:bodyPr>
          <a:lstStyle/>
          <a:p>
            <a:pPr algn="l">
              <a:lnSpc>
                <a:spcPts val="1104"/>
              </a:lnSpc>
            </a:pPr>
            <a:r>
              <a:rPr lang="en-US" sz="923">
                <a:solidFill>
                  <a:srgbClr val="0F172A"/>
                </a:solidFill>
                <a:latin typeface="Aptos"/>
                <a:ea typeface="Aptos"/>
                <a:cs typeface="Aptos"/>
                <a:sym typeface="Aptos"/>
              </a:rPr>
              <a:t>SHAP BiLSTM highlights volatility and price levels as dominant features</a:t>
            </a:r>
          </a:p>
        </p:txBody>
      </p:sp>
      <p:sp>
        <p:nvSpPr>
          <p:cNvPr name="TextBox 20" id="20"/>
          <p:cNvSpPr txBox="true"/>
          <p:nvPr/>
        </p:nvSpPr>
        <p:spPr>
          <a:xfrm rot="0">
            <a:off x="2183835" y="3075005"/>
            <a:ext cx="3474015" cy="481294"/>
          </a:xfrm>
          <a:prstGeom prst="rect">
            <a:avLst/>
          </a:prstGeom>
        </p:spPr>
        <p:txBody>
          <a:bodyPr anchor="t" rtlCol="false" tIns="0" lIns="0" bIns="0" rIns="0">
            <a:spAutoFit/>
          </a:bodyPr>
          <a:lstStyle/>
          <a:p>
            <a:pPr algn="l">
              <a:lnSpc>
                <a:spcPts val="1296"/>
              </a:lnSpc>
            </a:pPr>
            <a:r>
              <a:rPr lang="en-US" sz="926">
                <a:solidFill>
                  <a:srgbClr val="0F172A"/>
                </a:solidFill>
                <a:latin typeface="Aptos"/>
                <a:ea typeface="Aptos"/>
                <a:cs typeface="Aptos"/>
                <a:sym typeface="Aptos"/>
              </a:rPr>
              <a:t>LightGBM and Stacking: 3-month MAPE 1.86%; SVR strong on 3-month DA</a:t>
            </a:r>
          </a:p>
          <a:p>
            <a:pPr algn="l">
              <a:lnSpc>
                <a:spcPts val="1296"/>
              </a:lnSpc>
            </a:pPr>
          </a:p>
        </p:txBody>
      </p:sp>
      <p:sp>
        <p:nvSpPr>
          <p:cNvPr name="TextBox 21" id="21"/>
          <p:cNvSpPr txBox="true"/>
          <p:nvPr/>
        </p:nvSpPr>
        <p:spPr>
          <a:xfrm rot="0">
            <a:off x="6496812" y="2036359"/>
            <a:ext cx="994370" cy="306705"/>
          </a:xfrm>
          <a:prstGeom prst="rect">
            <a:avLst/>
          </a:prstGeom>
        </p:spPr>
        <p:txBody>
          <a:bodyPr anchor="t" rtlCol="false" tIns="0" lIns="0" bIns="0" rIns="0">
            <a:spAutoFit/>
          </a:bodyPr>
          <a:lstStyle/>
          <a:p>
            <a:pPr algn="l">
              <a:lnSpc>
                <a:spcPts val="2520"/>
              </a:lnSpc>
            </a:pPr>
            <a:r>
              <a:rPr lang="en-US" sz="1800">
                <a:solidFill>
                  <a:srgbClr val="0F172A"/>
                </a:solidFill>
                <a:latin typeface="Aptos"/>
                <a:ea typeface="Aptos"/>
                <a:cs typeface="Aptos"/>
                <a:sym typeface="Aptos"/>
              </a:rPr>
              <a:t>Limit</a:t>
            </a:r>
            <a:r>
              <a:rPr lang="en-US" sz="1800">
                <a:solidFill>
                  <a:srgbClr val="0F172A"/>
                </a:solidFill>
                <a:latin typeface="Aptos"/>
                <a:ea typeface="Aptos"/>
                <a:cs typeface="Aptos"/>
                <a:sym typeface="Aptos"/>
              </a:rPr>
              <a:t>ation</a:t>
            </a:r>
          </a:p>
        </p:txBody>
      </p:sp>
      <p:sp>
        <p:nvSpPr>
          <p:cNvPr name="TextBox 22" id="22"/>
          <p:cNvSpPr txBox="true"/>
          <p:nvPr/>
        </p:nvSpPr>
        <p:spPr>
          <a:xfrm rot="0">
            <a:off x="6706486" y="2644016"/>
            <a:ext cx="2665611" cy="163373"/>
          </a:xfrm>
          <a:prstGeom prst="rect">
            <a:avLst/>
          </a:prstGeom>
        </p:spPr>
        <p:txBody>
          <a:bodyPr anchor="t" rtlCol="false" tIns="0" lIns="0" bIns="0" rIns="0">
            <a:spAutoFit/>
          </a:bodyPr>
          <a:lstStyle/>
          <a:p>
            <a:pPr algn="l">
              <a:lnSpc>
                <a:spcPts val="1495"/>
              </a:lnSpc>
            </a:pPr>
            <a:r>
              <a:rPr lang="en-US" sz="1068">
                <a:solidFill>
                  <a:srgbClr val="0F172A"/>
                </a:solidFill>
                <a:latin typeface="Aptos"/>
                <a:ea typeface="Aptos"/>
                <a:cs typeface="Aptos"/>
                <a:sym typeface="Aptos"/>
              </a:rPr>
              <a:t>The </a:t>
            </a:r>
            <a:r>
              <a:rPr lang="en-US" sz="1068">
                <a:solidFill>
                  <a:srgbClr val="0F172A"/>
                </a:solidFill>
                <a:latin typeface="Aptos"/>
                <a:ea typeface="Aptos"/>
                <a:cs typeface="Aptos"/>
                <a:sym typeface="Aptos"/>
              </a:rPr>
              <a:t>R2 test is still negative in all main models.</a:t>
            </a:r>
          </a:p>
        </p:txBody>
      </p:sp>
      <p:sp>
        <p:nvSpPr>
          <p:cNvPr name="TextBox 23" id="23"/>
          <p:cNvSpPr txBox="true"/>
          <p:nvPr/>
        </p:nvSpPr>
        <p:spPr>
          <a:xfrm rot="0">
            <a:off x="6706486" y="3088538"/>
            <a:ext cx="2516386" cy="163373"/>
          </a:xfrm>
          <a:prstGeom prst="rect">
            <a:avLst/>
          </a:prstGeom>
        </p:spPr>
        <p:txBody>
          <a:bodyPr anchor="t" rtlCol="false" tIns="0" lIns="0" bIns="0" rIns="0">
            <a:spAutoFit/>
          </a:bodyPr>
          <a:lstStyle/>
          <a:p>
            <a:pPr algn="l">
              <a:lnSpc>
                <a:spcPts val="1495"/>
              </a:lnSpc>
            </a:pPr>
            <a:r>
              <a:rPr lang="en-US" sz="1068">
                <a:solidFill>
                  <a:srgbClr val="0F172A"/>
                </a:solidFill>
                <a:latin typeface="Aptos"/>
                <a:ea typeface="Aptos"/>
                <a:cs typeface="Aptos"/>
                <a:sym typeface="Aptos"/>
              </a:rPr>
              <a:t>Directional accuracy only gives a thin edge.</a:t>
            </a:r>
          </a:p>
        </p:txBody>
      </p:sp>
      <p:sp>
        <p:nvSpPr>
          <p:cNvPr name="TextBox 24" id="24"/>
          <p:cNvSpPr txBox="true"/>
          <p:nvPr/>
        </p:nvSpPr>
        <p:spPr>
          <a:xfrm rot="0">
            <a:off x="6706486" y="3442000"/>
            <a:ext cx="3298784" cy="822960"/>
          </a:xfrm>
          <a:prstGeom prst="rect">
            <a:avLst/>
          </a:prstGeom>
        </p:spPr>
        <p:txBody>
          <a:bodyPr anchor="t" rtlCol="false" tIns="0" lIns="0" bIns="0" rIns="0">
            <a:spAutoFit/>
          </a:bodyPr>
          <a:lstStyle/>
          <a:p>
            <a:pPr algn="l">
              <a:lnSpc>
                <a:spcPts val="2250"/>
              </a:lnSpc>
            </a:pPr>
            <a:r>
              <a:rPr lang="en-US" sz="900">
                <a:solidFill>
                  <a:srgbClr val="0F172A"/>
                </a:solidFill>
                <a:latin typeface="Aptos"/>
                <a:ea typeface="Aptos"/>
                <a:cs typeface="Aptos"/>
                <a:sym typeface="Aptos"/>
              </a:rPr>
              <a:t>Th</a:t>
            </a:r>
            <a:r>
              <a:rPr lang="en-US" sz="900">
                <a:solidFill>
                  <a:srgbClr val="0F172A"/>
                </a:solidFill>
                <a:latin typeface="Aptos"/>
                <a:ea typeface="Aptos"/>
                <a:cs typeface="Aptos"/>
                <a:sym typeface="Aptos"/>
              </a:rPr>
              <a:t>ere is no backtest trading with transaction costs and slippage.</a:t>
            </a:r>
          </a:p>
          <a:p>
            <a:pPr algn="l">
              <a:lnSpc>
                <a:spcPts val="2250"/>
              </a:lnSpc>
            </a:pPr>
            <a:r>
              <a:rPr lang="en-US" sz="900">
                <a:solidFill>
                  <a:srgbClr val="0F172A"/>
                </a:solidFill>
                <a:latin typeface="Aptos"/>
                <a:ea typeface="Aptos"/>
                <a:cs typeface="Aptos"/>
                <a:sym typeface="Aptos"/>
              </a:rPr>
              <a:t>A</a:t>
            </a:r>
            <a:r>
              <a:rPr lang="en-US" sz="900">
                <a:solidFill>
                  <a:srgbClr val="0F172A"/>
                </a:solidFill>
                <a:latin typeface="Aptos"/>
                <a:ea typeface="Aptos"/>
                <a:cs typeface="Aptos"/>
                <a:sym typeface="Aptos"/>
              </a:rPr>
              <a:t> walk-forward recalibration is needed for more realistic deployment.</a:t>
            </a:r>
          </a:p>
        </p:txBody>
      </p:sp>
      <p:sp>
        <p:nvSpPr>
          <p:cNvPr name="TextBox 25" id="25"/>
          <p:cNvSpPr txBox="true"/>
          <p:nvPr/>
        </p:nvSpPr>
        <p:spPr>
          <a:xfrm rot="0">
            <a:off x="781202" y="5256828"/>
            <a:ext cx="9654178" cy="496352"/>
          </a:xfrm>
          <a:prstGeom prst="rect">
            <a:avLst/>
          </a:prstGeom>
        </p:spPr>
        <p:txBody>
          <a:bodyPr anchor="t" rtlCol="false" tIns="0" lIns="0" bIns="0" rIns="0">
            <a:spAutoFit/>
          </a:bodyPr>
          <a:lstStyle/>
          <a:p>
            <a:pPr algn="l">
              <a:lnSpc>
                <a:spcPts val="1978"/>
              </a:lnSpc>
            </a:pPr>
            <a:r>
              <a:rPr lang="en-US" sz="1655">
                <a:solidFill>
                  <a:srgbClr val="0F172A"/>
                </a:solidFill>
                <a:latin typeface="Aptos"/>
                <a:ea typeface="Aptos"/>
                <a:cs typeface="Aptos"/>
                <a:sym typeface="Aptos"/>
              </a:rPr>
              <a:t>Final r</a:t>
            </a:r>
            <a:r>
              <a:rPr lang="en-US" sz="1655">
                <a:solidFill>
                  <a:srgbClr val="0F172A"/>
                </a:solidFill>
                <a:latin typeface="Aptos"/>
                <a:ea typeface="Aptos"/>
                <a:cs typeface="Aptos"/>
                <a:sym typeface="Aptos"/>
              </a:rPr>
              <a:t>ecommendation: use BiLSTM/SVR/LightGBM as advanced candidates, then validate with walk-forward and trading simulation.</a:t>
            </a:r>
          </a:p>
        </p:txBody>
      </p:sp>
      <p:sp>
        <p:nvSpPr>
          <p:cNvPr name="TextBox 26" id="26"/>
          <p:cNvSpPr txBox="true"/>
          <p:nvPr/>
        </p:nvSpPr>
        <p:spPr>
          <a:xfrm rot="0">
            <a:off x="533400" y="6334506"/>
            <a:ext cx="1949148" cy="125235"/>
          </a:xfrm>
          <a:prstGeom prst="rect">
            <a:avLst/>
          </a:prstGeom>
        </p:spPr>
        <p:txBody>
          <a:bodyPr anchor="t" rtlCol="false" tIns="0" lIns="0" bIns="0" rIns="0">
            <a:spAutoFit/>
          </a:bodyPr>
          <a:lstStyle/>
          <a:p>
            <a:pPr algn="l">
              <a:lnSpc>
                <a:spcPts val="1058"/>
              </a:lnSpc>
            </a:pPr>
            <a:r>
              <a:rPr lang="en-US" sz="755">
                <a:solidFill>
                  <a:srgbClr val="475569"/>
                </a:solidFill>
                <a:latin typeface="Aptos"/>
                <a:ea typeface="Aptos"/>
                <a:cs typeface="Aptos"/>
                <a:sym typeface="Aptos"/>
              </a:rPr>
              <a:t>Source: MachineLearningFinalBanget (1).ipynb</a:t>
            </a:r>
          </a:p>
        </p:txBody>
      </p:sp>
      <p:sp>
        <p:nvSpPr>
          <p:cNvPr name="TextBox 27" id="27"/>
          <p:cNvSpPr txBox="true"/>
          <p:nvPr/>
        </p:nvSpPr>
        <p:spPr>
          <a:xfrm rot="0">
            <a:off x="11576304" y="6334506"/>
            <a:ext cx="105146" cy="125235"/>
          </a:xfrm>
          <a:prstGeom prst="rect">
            <a:avLst/>
          </a:prstGeom>
        </p:spPr>
        <p:txBody>
          <a:bodyPr anchor="t" rtlCol="false" tIns="0" lIns="0" bIns="0" rIns="0">
            <a:spAutoFit/>
          </a:bodyPr>
          <a:lstStyle/>
          <a:p>
            <a:pPr algn="l">
              <a:lnSpc>
                <a:spcPts val="1058"/>
              </a:lnSpc>
            </a:pPr>
            <a:r>
              <a:rPr lang="en-US" sz="755" spc="4">
                <a:solidFill>
                  <a:srgbClr val="475569"/>
                </a:solidFill>
                <a:latin typeface="Aptos"/>
                <a:ea typeface="Aptos"/>
                <a:cs typeface="Aptos"/>
                <a:sym typeface="Aptos"/>
              </a:rP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DAHLDJiuarU</dc:identifier>
  <dcterms:modified xsi:type="dcterms:W3CDTF">2011-08-01T06:04:30Z</dcterms:modified>
  <cp:revision>1</cp:revision>
  <dc:title>Machine Learning PPT</dc:title>
</cp:coreProperties>
</file>